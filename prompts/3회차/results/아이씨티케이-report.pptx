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5669280"/>
          </a:xfrm>
          <a:prstGeom prst="rect">
            <a:avLst/>
          </a:prstGeom>
          <a:solidFill>
            <a:srgbClr val="00B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0"/>
            <a:ext cx="14630400" cy="2560320"/>
          </a:xfrm>
          <a:prstGeom prst="rect">
            <a:avLst/>
          </a:prstGeom>
          <a:solidFill>
            <a:srgbClr val="2C292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657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코스닥 456010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88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정보조사 레포트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188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아이씨티케이 주식회사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188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 최초 VIA PUF™ 기반 보안칩 양산 · 양자보안(PQC·HRoT) 전문 반도체 설계기업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5486400" cy="36576"/>
          </a:xfrm>
          <a:prstGeom prst="rect">
            <a:avLst/>
          </a:prstGeom>
          <a:solidFill>
            <a:srgbClr val="404155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3891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40415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389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 IP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43891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40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4389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 Chips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43891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40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4389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PQC Services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조사기준일: 2026-06-17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1280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출처: DART 전자공시, 아이씨티케이 홈페이지(www.ictk.com)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858000"/>
            <a:ext cx="1280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아이씨티케이 주식회사 (ICTK Co., Ltd.)  |  서울 강남구 강남대로84길 16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2C29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개요 및 재무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070080" y="13716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0" y="1371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DART 전자공시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기본정보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3716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4300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기업명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아이씨티케이 주식회사 (ICTK Co., Ltd.)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 설계 (업종코드 261, 코스닥 456010)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대표이사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이정원 (설립: 2017.10.18 / 결산월: 12월)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직원수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62명 (연구직 36명, 사무직 26명) | 출처: DART 전자공시, 2024년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핵심기술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VIA PUF™ (세계 최초 양산), PQC(양자내성암호), HRoT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주요사업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Security IP · 보안칩 · 보안모듈 · VPN 솔루션 · PQC Services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서울 강남구 강남대로84길 16 제이스타워 | www.ictk.com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8006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800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재무 분석 (억원)</a:t>
            </a:r>
            <a:endParaRPr lang="en-US" sz="12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193792"/>
          <a:ext cx="13716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2011680"/>
                <a:gridCol w="2011680"/>
                <a:gridCol w="47548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2022년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2023년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매출액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25.7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61.9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66.8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YoY +8% 성장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영업이익(손실)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-33.3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-23.6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-66.9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판관비 96.9억 과중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당기순이익(손실)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-107.7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-90.3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-58.2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손실 축소 추세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자산총계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98.4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104.1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457.9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 코스닥 IPO 자금 유입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부채비율 / 자기자본비율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416.9% / -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10.7% / 90.4%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6.5% / 93.9%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재무구조 대폭 개선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57200" y="7818120"/>
            <a:ext cx="1371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출처: DART 전자공시 2024년 사업보고서 (연결재무제표 기준, 억원 단위)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2C29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포지션 및 경쟁 환경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070080" y="13716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0" y="1371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WebSearch 기반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포지션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6583680" cy="1737360"/>
          </a:xfrm>
          <a:prstGeom prst="roundRect">
            <a:avLst>
              <a:gd name="adj" fmla="val 5263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63040"/>
            <a:ext cx="6583680" cy="411480"/>
          </a:xfrm>
          <a:prstGeom prst="roundRect">
            <a:avLst>
              <a:gd name="adj" fmla="val 22222"/>
            </a:avLst>
          </a:prstGeom>
          <a:solidFill>
            <a:srgbClr val="1A6E3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91640"/>
            <a:ext cx="6583680" cy="182880"/>
          </a:xfrm>
          <a:prstGeom prst="rect">
            <a:avLst/>
          </a:prstGeom>
          <a:solidFill>
            <a:srgbClr val="1A6E3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5087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세계 최초 VIA PUF™ 양산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19659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양자 내성 PUF 기반 보안칩을 세계 최초로 양산한 원천기술 보유 기업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6583680" cy="1737360"/>
          </a:xfrm>
          <a:prstGeom prst="roundRect">
            <a:avLst>
              <a:gd name="adj" fmla="val 5263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37560"/>
            <a:ext cx="6583680" cy="411480"/>
          </a:xfrm>
          <a:prstGeom prst="roundRect">
            <a:avLst>
              <a:gd name="adj" fmla="val 22222"/>
            </a:avLst>
          </a:prstGeom>
          <a:solidFill>
            <a:srgbClr val="1A5E7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566160"/>
            <a:ext cx="6583680" cy="182880"/>
          </a:xfrm>
          <a:prstGeom prst="rect">
            <a:avLst/>
          </a:prstGeom>
          <a:solidFill>
            <a:srgbClr val="1A5E7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3832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풀스택 양자보안 포트폴리오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8404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IP → 보안칩 → 보안모듈 → VPN 솔루션 → PQC Services 전 계층 커버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212080"/>
            <a:ext cx="6583680" cy="1737360"/>
          </a:xfrm>
          <a:prstGeom prst="roundRect">
            <a:avLst>
              <a:gd name="adj" fmla="val 5263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5212080"/>
            <a:ext cx="6583680" cy="411480"/>
          </a:xfrm>
          <a:prstGeom prst="roundRect">
            <a:avLst>
              <a:gd name="adj" fmla="val 22222"/>
            </a:avLst>
          </a:prstGeom>
          <a:solidFill>
            <a:srgbClr val="C0530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5440680"/>
            <a:ext cx="6583680" cy="182880"/>
          </a:xfrm>
          <a:prstGeom prst="rect">
            <a:avLst/>
          </a:prstGeom>
          <a:solidFill>
            <a:srgbClr val="C0530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2578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AI·IoT·자동차·국방 4대 시장 타깃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57150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HRoT 기반 Chain of Trust로 고신뢰 산업 분야 보안 솔루션 공급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06640" y="1005840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1A5E7E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10058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 비교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554480"/>
                <a:gridCol w="15544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아이씨티케이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Infineon(독)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NXP(네)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핵심기술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VIA PUF™ 원천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SLx 보안칩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SE050 계열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양산능력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팹리스(외주)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팹 보유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팹 보유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PQC 지원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풀지원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일부 지원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일부 지원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IoT/차량보안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전문 집중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 포트폴리오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 포트폴리오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규모(매출)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소규모(66.8억)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글로벌 대기업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글로벌 대기업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국내 특화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국방·공공 집중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글로벌 범용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글로벌 범용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7406640" y="4617720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98080" y="46634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ICTK 차별점: 글로벌 경쟁사 대비 PUF 원천기술·PQC 풀스택을 보유한 국내 유일 전문기업. 국방·공공 시장 레퍼런스를 기반으로 글로벌 진출 추진 중.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406640" y="5577840"/>
            <a:ext cx="6766560" cy="1554480"/>
          </a:xfrm>
          <a:prstGeom prst="roundRect">
            <a:avLst>
              <a:gd name="adj" fmla="val 4706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98080" y="56235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하드웨어 보안 시장 현황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498080" y="6035040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글로벌 PUF 시장: 연평균 20%+ 성장 전망 (IoT·AI 수요 주도)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498080" y="6364224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NIST PQC 표준 확정(2024) → PQC 솔루션 수요 가속화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498080" y="6693408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한국 정부 양자암호 로드맵: 2030년 핵심 인프라 전면 적용 목표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57200" y="7818120"/>
            <a:ext cx="1371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시장 정보: www.ictk.com 홈페이지 및 공개 자료 기반 (추정 포함)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2C29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평가 (SWOT)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629400" cy="34290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6629400" cy="457200"/>
          </a:xfrm>
          <a:prstGeom prst="roundRect">
            <a:avLst>
              <a:gd name="adj" fmla="val 20000"/>
            </a:avLst>
          </a:prstGeom>
          <a:solidFill>
            <a:srgbClr val="1A6E3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6629400" cy="201168"/>
          </a:xfrm>
          <a:prstGeom prst="rect">
            <a:avLst/>
          </a:prstGeom>
          <a:solidFill>
            <a:srgbClr val="1A6E3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05840"/>
            <a:ext cx="6355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 강점 (Strength)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57276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세계 최초 VIA PUF™ 보안칩 양산 원천기술 보유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231136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Security IP→칩→모듈→솔루션 풀스택 포트폴리오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2889504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낮은 부채비율(6.5%) / 자기자본비율 93.9%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3547872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전 MS Korea 대표이사 등 글로벌 인사 네트워크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43800" y="1005840"/>
            <a:ext cx="6629400" cy="34290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6629400" cy="457200"/>
          </a:xfrm>
          <a:prstGeom prst="roundRect">
            <a:avLst>
              <a:gd name="adj" fmla="val 20000"/>
            </a:avLst>
          </a:prstGeom>
          <a:solidFill>
            <a:srgbClr val="8B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7543800" y="1261872"/>
            <a:ext cx="6629400" cy="20116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1005840"/>
            <a:ext cx="6355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  약점 (Weakness)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08392" y="157276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3개년 영업적자 지속 (흑자 전환 미달성)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08392" y="2231136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판관비율 145% — 매출 대비 과중한 비용 구조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08392" y="2889504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전환사채 전환으로 주식 희석 압박 지속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08392" y="3547872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매출 규모 소규모(66.8억) — 대형 고객 부재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6629400" cy="34290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572000"/>
            <a:ext cx="6629400" cy="457200"/>
          </a:xfrm>
          <a:prstGeom prst="roundRect">
            <a:avLst>
              <a:gd name="adj" fmla="val 20000"/>
            </a:avLst>
          </a:prstGeom>
          <a:solidFill>
            <a:srgbClr val="1A5E7E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828032"/>
            <a:ext cx="6629400" cy="201168"/>
          </a:xfrm>
          <a:prstGeom prst="rect">
            <a:avLst/>
          </a:prstGeom>
          <a:solidFill>
            <a:srgbClr val="1A5E7E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572000"/>
            <a:ext cx="6355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  기회 (Opportunity)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" y="513892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NIST PQC 표준 확정 → 양자내성암호 수요 폭증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" y="5797296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AI·IoT·자동차·국방 보안 반도체 시장 급성장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" y="6455664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한국 정부 양자암호 인프라 로드맵(2030) 수혜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" y="7114032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글로벌 반도체 공급망 탈중국화 → 국내 팹리스 기회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43800" y="4572000"/>
            <a:ext cx="6629400" cy="34290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4572000"/>
            <a:ext cx="6629400" cy="457200"/>
          </a:xfrm>
          <a:prstGeom prst="roundRect">
            <a:avLst>
              <a:gd name="adj" fmla="val 20000"/>
            </a:avLst>
          </a:prstGeom>
          <a:solidFill>
            <a:srgbClr val="C0530A"/>
          </a:solidFill>
          <a:ln/>
        </p:spPr>
      </p:sp>
      <p:sp>
        <p:nvSpPr>
          <p:cNvPr id="31" name="Shape 29"/>
          <p:cNvSpPr/>
          <p:nvPr/>
        </p:nvSpPr>
        <p:spPr>
          <a:xfrm>
            <a:off x="7543800" y="4828032"/>
            <a:ext cx="6629400" cy="201168"/>
          </a:xfrm>
          <a:prstGeom prst="rect">
            <a:avLst/>
          </a:prstGeom>
          <a:solidFill>
            <a:srgbClr val="C0530A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4572000"/>
            <a:ext cx="6355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  위협 (Threat)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08392" y="513892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Infineon·NXP 등 글로벌 대기업의 보안칩 역량 강화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08392" y="5797296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R&amp;D 투자 과중 — 자금 소진 및 추가 자금 조달 리스크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08392" y="6455664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기술 표준 변화 속도 대응 부담 (KPQC·NIST 변경)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08392" y="7114032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전환사채·신규 상장 후 주가 변동성 확대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8065008"/>
            <a:ext cx="13716000" cy="0"/>
          </a:xfrm>
          <a:prstGeom prst="roundRect">
            <a:avLst/>
          </a:prstGeom>
          <a:noFill/>
          <a:ln w="12700">
            <a:solidFill>
              <a:srgbClr val="DDDD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8028432"/>
            <a:ext cx="13716000" cy="0"/>
          </a:xfrm>
          <a:prstGeom prst="roundRect">
            <a:avLst>
              <a:gd name="adj" fmla="val Infinity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7891272"/>
            <a:ext cx="13716000" cy="24688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7863840"/>
            <a:ext cx="1344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 총평: PUF 원천기술 기반 양자보안 전문기업으로 선제적 기술 포지셔닝 확보 — 매출 성장세(+8% YoY) 지속이나 판관비 통제·대형 고객 확보를 통한 흑자 전환이 단기 핵심 과제임.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2026-06-17T09:48:15Z</dcterms:created>
  <dcterms:modified xsi:type="dcterms:W3CDTF">2026-06-17T09:48:15Z</dcterms:modified>
</cp:coreProperties>
</file>