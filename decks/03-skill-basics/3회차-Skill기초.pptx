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16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3회차 시작. 2회차(커넥터·루틴·Computer use) 상기 → 오늘은 반복 프롬프트/작업을 SKILL.md로 승격해 재사용하는 Skill을 배움. 데스크톱 앱 Code 탭(GUI), 터미널 아님. 유료 계정 필요. 회차 비교표는 슬라이드 11로 이동. 출처: https://code.claude.com/docs/en/skills ,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공식 메시지 '같은 지시·체크리스트·다단계 절차를 반복 붙여넣을 때, CLAUDE.md 한 섹션이 절차로 커졌을 때 스킬로'. 오늘은 외부 도구 없이 지침만, 산출물 SKILL.md 1개. 출처: https://code.claude.com/docs/en/skills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개념. 공식 'Skills extend what Claude can do. Create a SKILL.md file with instructions, and Claude adds it to its toolkit.' 3대 이점(Specialize/Reduce repetition/Compose)=overview Key benefits. 레시피 비유. 출처: https://code.claude.com/docs/en/skills , https://platform.claude.com/docs/en/agents-and-tools/agent-skills/overview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'YAML 프런트매터'를 '파일 맨 위 설정 칸'으로 풀어씀. 필수 필드 name·description 둘뿐(Claude Code는 description만 권장). 본문 간결(세션 내내 컨텍스트 잔존→토큰 비용, 500줄 이하 권장). name 제약(소문자·숫자·하이픈·64자·예약어 금지)은 구두 보충. 출처: https://code.claude.com/docs/en/skills , https://platform.claude.com/docs/en/agents-and-tools/agent-skills/best-practices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3C94-62F6-3C72-E2C7-AD9AB4DB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73F9D-C1A2-886F-EAB2-883DA6DFE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79134-65B6-49CC-B4A3-0FEE8194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'YAML 프런트매터'를 '파일 맨 위 설정 칸'으로 풀어씀. 필수 필드 name·description 둘뿐(Claude Code는 description만 권장). 본문 간결(세션 내내 컨텍스트 잔존→토큰 비용, 500줄 이하 권장). name 제약(소문자·숫자·하이픈·64자·예약어 금지)은 구두 보충. 출처: https://code.claude.com/docs/en/skills , https://platform.claude.com/docs/en/agents-and-tools/agent-skills/best-practices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19CCA-C92C-12F3-024C-6BA17CB5A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86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트리거 원리: 시작 시 name·description만 시스템 프롬프트에, 요청 매칭 시 본문 로드(progressive disclosure L1 이름표~100토큰→L2 본문→L3 첨부). description 3인칭 필수(공식 best-practices). 출처: https://platform.claude.com/docs/en/agents-and-tools/agent-skills/best-practices , https://platform.claude.com/docs/en/agents-and-tools/agent-skills/overview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'Where skills live'(개인 ~/.claude/skills/, 프로젝트 .claude/skills/). 호출 이름=폴더 이름. 충돌 우선순위 enterprise&gt;personal&gt;project는 구두 보충. 프로젝트 스킬 allowed-tools는 workspace trust 후 적용 → ICTK 검토 권고. 출처: https://code.claude.com/docs/en/skills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메시지='만들지 말고 바로 쓰기'. CLI 플래그는 본문 제거, '한 줄 효용 + /명령어'로 통일. 정확 구문(구두): /code-review [low|medium|high|xhigh|max|ultra] [--fix] [--comment] [target] — ultra는 effort 레벨 값, /ultrareview는 alias(여전히 유효, deprecated로 말하지 말 것). Code 탭 미지원 4종은 ⚙️ Settings 대체. 출처: https://code.claude.com/docs/en/commands , https://code.claude.com/docs/en/skills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'Create your first skill' summarize-changes 튜토리얼(요청→생성→diff 승인→자동/직접 호출). 데스크톱은 프롬프트로 '스킬 폴더와 SKILL.md를 만들어줘' 요청 후 diff Accept(터미널 mkdir 표현 금지). 트러블슈팅: 안 불려오면 키워드/재표현/직접 호출, 너무 자주면 description 구체화·disable-model-invocation:true('자동 호출 끄기'). 출처: https://code.claude.com/docs/en/skills , 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2종. 카드①=[직접 실습](지침만), 카드②=[데모](웹검색·PPT 등 도구 연동 포함 → '지침만' 범주 밖). 산출물=SKILL.md 1개(카드①). 선택: 법률상담 스킬(Korean Law MCP) 데모. 출처: https://code.claude.com/docs/en/skills , https://platform.claude.com/docs/en/agents-and-tools/agent-skills/overview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'Security considerations': 신뢰 출처만(직접 제작/Anthropic), 외부는 전 파일 감사, '소프트웨어 설치처럼'. 민감정보 비기재(SKILL.md가 git 커밋·팀 공유 대상). diff Accept/Reject + 위험 작업 disable-model-invocation:true. 출처: https://platform.claude.com/docs/en/agents-and-tools/agent-skills/overview , https://code.claude.com/docs/en/skills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타이틀의 회차 비교표를 흡수. 2주 과제: 2회차 루틴 후보를 Skill로 구현·3회 이상 실사용·개선점 기록(4회차 재료). 학습 연속성: 2회차(연결·자동반복)→3회차(지침만 Skill)→4회차(Skill 심화+웹브라우저 MCP+MCP 개발). 출처: https://code.claude.com/docs/en/skills , https://code.claude.com/docs/en/commands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3회차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isryugj/korean-law-mc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3회차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298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기초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298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"나만의 자동화 레시피"로 — 매번 다시 적던 프롬프트를 한 번 만들어 재사용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Chat·Cowork·Code 중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 복습 → 3회차 Skill → 2주 과제 → 4회차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약속: 같은 지시를 매번 다시 적지 않습니다. SKILL.md 한 개로 "나만의 자동화 레시피"를 만들어 재사용합니다.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같은 프롬프트를 다시 적지 마세요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6479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지시·체크리스트·여러 단계 절차를 채팅에 반복해서 붙여넣고 있다면, 바로 그때가 Skill로 만들 시점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절차를 SKILL.md 파일 하나에 자연어로 적어두면, Claude가 자기 "도구함"에 추가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1304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이후엔 한 번 만든 자동화를 자동으로(요청이 맞으면)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"/{</a:t>
            </a:r>
            <a:r>
              <a:rPr lang="ko-KR" alt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스킬이름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}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"으로 바로 재사용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6583680" cy="29809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지시 방식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매번 같은 프롬프트 재입력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번 만들어 재사용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보관 형태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 머릿속·메모장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SKILL.md 파일로 저장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그때그때 타이핑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트리거 또는 /스킬이름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521208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기대치: 외부 도구 없이 자연어 지침만으로 동작하는 Skill을 만듦 — 산출물은 SKILL.md 1개(문서 초안 생성용)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Skill이란? — 나만의 자동화 레시피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SKILL.md로 Claude의 능력을 넓히기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= SKILL.md에 지침을 적어 Claude의 능력을 넓히는 것 — 만들면 Claude의 "도구함"에 추가됩니다.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76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전문가화 (Specialize)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Claude에 "우리 회사 방식·체크리스트"를 입혀 그 일에 능숙한 전문가로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602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6E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제거 (Reduce repetition)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만들면 관련 상황에서 알아서 재사용 — 매번 설명할 필요 없음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91456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4791456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9011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조합 (Compose)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29437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Skill을 이어 붙여 복잡한 업무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흐름을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스킬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+</a:t>
            </a:r>
            <a:r>
              <a:rPr lang="ko-KR" alt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에이젼트로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고도화</a:t>
            </a:r>
            <a:endParaRPr lang="en-US" sz="1600" dirty="0"/>
          </a:p>
        </p:txBody>
      </p:sp>
      <p:pic>
        <p:nvPicPr>
          <p:cNvPr id="19" name="Image 0" descr="C:\Users\hiond\plugins\courseware\output\ictk-automation-bootcamp\decks\03-skill-basics\images\s3_skill_reci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5360" y="2194560"/>
            <a:ext cx="5577840" cy="3657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7200" y="617220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40080" y="6172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쉬운 비유: Skill은 요리 레시피 — 한 번 적어두면 매번 같은 결과를 빠르게 재현합니다.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구조 — 1회차 5요소의 확장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설정 칸(언제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쓸지</a:t>
            </a: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): Formatter</a:t>
            </a:r>
            <a:r>
              <a:rPr lang="ko-KR" alt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라고 부름</a:t>
            </a: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본문(어떻게 할지)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아래로 읽는 구조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667512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설정 칸 시작 (---)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name(스킬 이름) · description(무엇을·언제)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675120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설정 칸 끝 (---)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667512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본문(자연어 지침)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1회차 5요소(역할·맥락·입력·작업방법·출력·제약)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= 5요소의 확장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057400"/>
          <a:ext cx="6583680" cy="25968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본문 섹션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적는 내용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목표·역할·맥락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위해, 어떤 역할로, 어떤 상황에서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입력·작업방법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받을 정보 / 따라야 할 단계·체크리스트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출력·제약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형식 / 하지 말아야 할 것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41988478-81F1-3A45-0D77-A446004B01F3}"/>
              </a:ext>
            </a:extLst>
          </p:cNvPr>
          <p:cNvGrpSpPr/>
          <p:nvPr/>
        </p:nvGrpSpPr>
        <p:grpSpPr>
          <a:xfrm>
            <a:off x="457200" y="5006335"/>
            <a:ext cx="13716000" cy="777240"/>
            <a:chOff x="457200" y="5156357"/>
            <a:chExt cx="13716000" cy="777240"/>
          </a:xfrm>
        </p:grpSpPr>
        <p:sp>
          <p:nvSpPr>
            <p:cNvPr id="14" name="Shape 11"/>
            <p:cNvSpPr/>
            <p:nvPr/>
          </p:nvSpPr>
          <p:spPr>
            <a:xfrm>
              <a:off x="457200" y="5156357"/>
              <a:ext cx="13716000" cy="777240"/>
            </a:xfrm>
            <a:prstGeom prst="roundRect">
              <a:avLst>
                <a:gd name="adj" fmla="val 9412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40080" y="5156357"/>
              <a:ext cx="133502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꼭 필요한 건 — </a:t>
              </a:r>
              <a:r>
                <a:rPr lang="en-US" sz="1600" b="1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설명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한 줄(description: 무엇+언제). 본문은 짧게(권장 500줄 </a:t>
              </a:r>
              <a:r>
                <a:rPr lang="en-US" sz="1600" b="1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이하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), name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은 옵션</a:t>
              </a:r>
              <a:endPara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한 번 불려오면 대화 내내 남아 길수록 매번 비용이 듭니다.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9EE374B4-5AC6-97DF-C699-4BD5CA09A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76953"/>
              </p:ext>
            </p:extLst>
          </p:nvPr>
        </p:nvGraphicFramePr>
        <p:xfrm>
          <a:off x="507207" y="6287356"/>
          <a:ext cx="13716000" cy="1341120"/>
        </p:xfrm>
        <a:graphic>
          <a:graphicData uri="http://schemas.openxmlformats.org/drawingml/2006/table">
            <a:tbl>
              <a:tblPr/>
              <a:tblGrid>
                <a:gridCol w="367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0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disable-model-invocation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true 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시 자동 호출 차단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 ‘/’ 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명령으로만 호출됨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 Default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는 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false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user-invocable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false 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시 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‘/’ 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명령으로 호출 차단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 Default</a:t>
                      </a: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는 </a:t>
                      </a:r>
                      <a:r>
                        <a:rPr lang="en-US" altLang="ko-KR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allowed-tools / disallowed-tools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가능한 툴 또는 사용 불가능한 툴 리스트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0">
            <a:extLst>
              <a:ext uri="{FF2B5EF4-FFF2-40B4-BE49-F238E27FC236}">
                <a16:creationId xmlns:a16="http://schemas.microsoft.com/office/drawing/2014/main" id="{0C85267D-D742-4E2A-63F9-A70DA1DAD04B}"/>
              </a:ext>
            </a:extLst>
          </p:cNvPr>
          <p:cNvSpPr/>
          <p:nvPr/>
        </p:nvSpPr>
        <p:spPr>
          <a:xfrm>
            <a:off x="457200" y="5873971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주요 </a:t>
            </a:r>
            <a:r>
              <a:rPr lang="en-US" altLang="ko-KR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Formatter 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4A19-87BA-98B6-C2B4-BA7A4C7C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EFB4A56-D9AD-8C6B-1608-B6C3910C7D15}"/>
              </a:ext>
            </a:extLst>
          </p:cNvPr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구조 — Tools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BCF956-0341-B0D2-E94E-2BFB4A0251AE}"/>
              </a:ext>
            </a:extLst>
          </p:cNvPr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강화를 위해 </a:t>
            </a:r>
            <a:r>
              <a:rPr lang="en-US" altLang="ko-KR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allowed-tools, disallowed-tools</a:t>
            </a:r>
            <a:r>
              <a:rPr lang="ko-KR" alt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추가로 지정할 수 있음</a:t>
            </a:r>
            <a:endParaRPr lang="en-US"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DF4F673-346E-AC34-8F59-87CD283F0E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600" name="card600"/>
          <p:cNvSpPr/>
          <p:nvPr/>
        </p:nvSpPr>
        <p:spPr>
          <a:xfrm>
            <a:off x="457200" y="16256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01" name="card601"/>
          <p:cNvSpPr/>
          <p:nvPr/>
        </p:nvSpPr>
        <p:spPr>
          <a:xfrm>
            <a:off x="635000" y="17780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📁 파일 작업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파일 읽기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파일 신규 생성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diff 방식 수정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NotebookEdit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노트북 편집</a:t>
            </a:r>
          </a:p>
        </p:txBody>
      </p:sp>
      <p:sp>
        <p:nvSpPr>
          <p:cNvPr id="602" name="card602"/>
          <p:cNvSpPr/>
          <p:nvPr/>
        </p:nvSpPr>
        <p:spPr>
          <a:xfrm>
            <a:off x="5118100" y="16256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03" name="card603"/>
          <p:cNvSpPr/>
          <p:nvPr/>
        </p:nvSpPr>
        <p:spPr>
          <a:xfrm>
            <a:off x="5295900" y="17780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검색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파일 패턴 검색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Grep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내용 정규식 검색</a:t>
            </a:r>
          </a:p>
        </p:txBody>
      </p:sp>
      <p:sp>
        <p:nvSpPr>
          <p:cNvPr id="604" name="card604"/>
          <p:cNvSpPr/>
          <p:nvPr/>
        </p:nvSpPr>
        <p:spPr>
          <a:xfrm>
            <a:off x="9779000" y="16256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05" name="card605"/>
          <p:cNvSpPr/>
          <p:nvPr/>
        </p:nvSpPr>
        <p:spPr>
          <a:xfrm>
            <a:off x="9956800" y="17780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실행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Bash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쉘 명령 실행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Bash(python3 *)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명령 세부 제한 가능</a:t>
            </a:r>
          </a:p>
        </p:txBody>
      </p:sp>
      <p:sp>
        <p:nvSpPr>
          <p:cNvPr id="606" name="card606"/>
          <p:cNvSpPr/>
          <p:nvPr/>
        </p:nvSpPr>
        <p:spPr>
          <a:xfrm>
            <a:off x="457200" y="45847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07" name="card607"/>
          <p:cNvSpPr/>
          <p:nvPr/>
        </p:nvSpPr>
        <p:spPr>
          <a:xfrm>
            <a:off x="635000" y="47371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웹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WebSearch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웹 검색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WebFetch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URL 콘텐츠 가져오기</a:t>
            </a:r>
          </a:p>
        </p:txBody>
      </p:sp>
      <p:sp>
        <p:nvSpPr>
          <p:cNvPr id="608" name="card608"/>
          <p:cNvSpPr/>
          <p:nvPr/>
        </p:nvSpPr>
        <p:spPr>
          <a:xfrm>
            <a:off x="5118100" y="45847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09" name="card609"/>
          <p:cNvSpPr/>
          <p:nvPr/>
        </p:nvSpPr>
        <p:spPr>
          <a:xfrm>
            <a:off x="5295900" y="47371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🔗 오케스트레이션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서브에이전트 실행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다른 스킬 호출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AskUserQuestion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사용자에게 질문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TaskCreate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태스크 생성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TaskUpdate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상태 업데이트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ToolSearch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도구 검색 / 로드</a:t>
            </a:r>
          </a:p>
        </p:txBody>
      </p:sp>
      <p:sp>
        <p:nvSpPr>
          <p:cNvPr id="610" name="card610"/>
          <p:cNvSpPr/>
          <p:nvPr/>
        </p:nvSpPr>
        <p:spPr>
          <a:xfrm>
            <a:off x="9779000" y="4584700"/>
            <a:ext cx="4381500" cy="2679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11" name="card611"/>
          <p:cNvSpPr/>
          <p:nvPr/>
        </p:nvSpPr>
        <p:spPr>
          <a:xfrm>
            <a:off x="9956800" y="4737100"/>
            <a:ext cx="4025900" cy="23749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🧩 MCP 도구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mcp__&lt;server&gt;__&lt;action&gt;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형식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mcp__github__create_pr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예시</a:t>
            </a:r>
          </a:p>
        </p:txBody>
      </p:sp>
      <p:sp>
        <p:nvSpPr>
          <p:cNvPr id="612" name="card612"/>
          <p:cNvSpPr/>
          <p:nvPr/>
        </p:nvSpPr>
        <p:spPr>
          <a:xfrm>
            <a:off x="457200" y="7442200"/>
            <a:ext cx="13716000" cy="457200"/>
          </a:xfrm>
          <a:prstGeom prst="roundRect">
            <a:avLst>
              <a:gd name="adj" fmla="val 4500"/>
            </a:avLst>
          </a:prstGeom>
          <a:solidFill>
            <a:srgbClr val="F4FAF9"/>
          </a:solidFill>
          <a:ln w="9525">
            <a:solidFill>
              <a:srgbClr val="D9EDEB"/>
            </a:solidFill>
          </a:ln>
        </p:spPr>
        <p:txBody>
          <a:bodyPr lIns="0" tIns="0" rIns="0" bIns="0" rtlCol="0" anchor="t">
            <a:normAutofit/>
          </a:bodyPr>
          <a:lstStyle/>
          <a:p>
            <a:endParaRPr lang="ko-KR"/>
          </a:p>
        </p:txBody>
      </p:sp>
      <p:sp>
        <p:nvSpPr>
          <p:cNvPr id="613" name="card613"/>
          <p:cNvSpPr/>
          <p:nvPr/>
        </p:nvSpPr>
        <p:spPr>
          <a:xfrm>
            <a:off x="457200" y="7442200"/>
            <a:ext cx="13716000" cy="457200"/>
          </a:xfrm>
          <a:prstGeom prst="rect">
            <a:avLst/>
          </a:prstGeom>
          <a:noFill/>
          <a:ln>
            <a:noFill/>
          </a:ln>
        </p:spPr>
        <p:txBody>
          <a:bodyPr lIns="45720" tIns="45720" rIns="4572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도구명은 공백·쉼표 구분 모두 가능</a:t>
            </a:r>
            <a:r>
              <a:rPr lang="ko-KR" altLang="en-US" sz="1400" b="0" dirty="0">
                <a:solidFill>
                  <a:srgbClr val="6B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allowed-tools 미지정 시 → 모든 도구 허용     ·     출처: code.claude.com/docs · agent-sdk</a:t>
            </a:r>
          </a:p>
        </p:txBody>
      </p:sp>
    </p:spTree>
    <p:extLst>
      <p:ext uri="{BB962C8B-B14F-4D97-AF65-F5344CB8AC3E}">
        <p14:creationId xmlns:p14="http://schemas.microsoft.com/office/powerpoint/2010/main" val="3847612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description이 핵심 — 자동으로 불려오는 원리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평소엔 이름·description만, 맞을 때만 본문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트리거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시작 시 이름·description만 인지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내 요청과 비교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94176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69417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맞으면 SKILL.md 본문 불러와 실행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178308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84648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description 원칙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3774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 + 언제를 모두, 사용자가 자연스럽게 말할 키워드로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3인칭으로: "엑셀 파일을 처리하고 보고서를 만듦"(O) / "제가 도와드릴게요"(X)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"문서 관련 도움을 줌" 같은 모호한 표현 금지</a:t>
            </a:r>
            <a:endParaRPr lang="en-US" sz="1600" dirty="0"/>
          </a:p>
        </p:txBody>
      </p:sp>
      <p:pic>
        <p:nvPicPr>
          <p:cNvPr id="15" name="Image 0" descr="C:\Users\hiond\plugins\courseware\output\ictk-automation-bootcamp\decks\03-skill-basics\images\s5_progressive_disclos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92640" y="1783080"/>
            <a:ext cx="4480560" cy="3108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5257800"/>
            <a:ext cx="1371600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5257800"/>
            <a:ext cx="1335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요점: 평소엔 이름표(약 100토큰 = AI가 읽는 글자 분량)만, 쓸 때만 본문을 읽음 → 스킬을 많이 만들어도 평소 부담이 거의 없습니다.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둘까? — 유저 vs 프로젝트 스코프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위치가 곧 사용 범위(스코프)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371600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스코프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 위치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범위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적합한 경우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유저(개인)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~/.claude/skills/이름/SKILL.md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(내 PC의 개인 폴더)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모든 폴더에서 사용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 혼자 두루 쓰는 개인 도구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.claude/skills/이름/SKILL.md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(이 작업 폴더 안)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폴더에서만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공유·특정 프로젝트 전용 절차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5196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이름은 폴더 이름에서 옴 — .claude/skills/summarize-changes/ → /summarize-changes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반영: 만들거나 고치면 보통 재시작 없이 현재 세션에 즉시 적용(SKILL.md 텍스트 기준)</a:t>
            </a:r>
            <a:endParaRPr lang="en-US" sz="16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E4C103B-0047-20AD-2694-9776DAB39912}"/>
              </a:ext>
            </a:extLst>
          </p:cNvPr>
          <p:cNvGrpSpPr/>
          <p:nvPr/>
        </p:nvGrpSpPr>
        <p:grpSpPr>
          <a:xfrm>
            <a:off x="457200" y="5440680"/>
            <a:ext cx="13716000" cy="777240"/>
            <a:chOff x="457200" y="5440680"/>
            <a:chExt cx="13716000" cy="777240"/>
          </a:xfrm>
        </p:grpSpPr>
        <p:sp>
          <p:nvSpPr>
            <p:cNvPr id="5" name="Shape 4"/>
            <p:cNvSpPr/>
            <p:nvPr/>
          </p:nvSpPr>
          <p:spPr>
            <a:xfrm>
              <a:off x="457200" y="5440680"/>
              <a:ext cx="13716000" cy="777240"/>
            </a:xfrm>
            <a:prstGeom prst="roundRect">
              <a:avLst>
                <a:gd name="adj" fmla="val 9412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640080" y="5440680"/>
              <a:ext cx="133502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🔒 </a:t>
              </a:r>
              <a:r>
                <a:rPr lang="en-US" sz="1600" b="1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포인트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타인이 만든 스킬은 사용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전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에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스킬 내용을 검토하는 것이 "데이터 격리·사람 최종 승인" 기본기와 연결됩니다.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만들지 말고 바로 쓰기 — Claude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(Built-in) 스킬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박스에 "/"만 입력 (설치 불필요)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8735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8735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68735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/goal · 목표 끝까지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30914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조건을 선언하면 그 조건이 충족될 때까지 Claude가 턴을 넘어 계속 작업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(예: "테스트가 통과할 때까지")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68735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93208" y="168735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93208" y="168735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/code-review · 코드 품질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30914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변경한 코드의 버그·정리할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곳을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</a:t>
            </a:r>
            <a:endParaRPr lang="en-US" sz="1600" dirty="0">
              <a:solidFill>
                <a:srgbClr val="50506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사항이 있는 경우에만 수행되므로 수행 전에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‘git commit’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</a:t>
            </a:r>
            <a:endParaRPr lang="en-US" altLang="ko-KR" sz="1600" dirty="0">
              <a:solidFill>
                <a:srgbClr val="50506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/code-review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수행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687350"/>
            <a:ext cx="4434840" cy="2606040"/>
          </a:xfrm>
          <a:prstGeom prst="roundRect">
            <a:avLst>
              <a:gd name="adj" fmla="val 280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729216" y="168735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29216" y="168735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/security-review · 보안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309142"/>
            <a:ext cx="40325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변경분을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취약점</a:t>
            </a:r>
            <a:b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(인젝션·인증·데이터 노출)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</a:t>
            </a: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1600" dirty="0">
              <a:solidFill>
                <a:srgbClr val="50506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사항이 있는 경우에만 수행되므로 수행 전에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‘git commit’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</a:t>
            </a:r>
            <a:endParaRPr lang="en-US" altLang="ko-KR" sz="1600" dirty="0">
              <a:solidFill>
                <a:srgbClr val="50506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/security-review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수행</a:t>
            </a:r>
            <a:endParaRPr lang="en-US" alt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4700585"/>
            <a:ext cx="1371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밖에 /review(PR 리뷰), /loop(반복 실행) 등도 기본 제공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 Code 탭 주의: /permissions·/config·/agents·/doctor는 Code 탭 미지원 → ⚙️ Settings로 대체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00F178-3554-FB0C-C7B1-7FBB1C139BBA}"/>
              </a:ext>
            </a:extLst>
          </p:cNvPr>
          <p:cNvGrpSpPr/>
          <p:nvPr/>
        </p:nvGrpSpPr>
        <p:grpSpPr>
          <a:xfrm>
            <a:off x="448056" y="5849300"/>
            <a:ext cx="13716000" cy="777240"/>
            <a:chOff x="457200" y="5440680"/>
            <a:chExt cx="13716000" cy="777240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61FAF26D-DF1A-40B4-C084-429EA34D8395}"/>
                </a:ext>
              </a:extLst>
            </p:cNvPr>
            <p:cNvSpPr/>
            <p:nvPr/>
          </p:nvSpPr>
          <p:spPr>
            <a:xfrm>
              <a:off x="457200" y="5440680"/>
              <a:ext cx="13716000" cy="777240"/>
            </a:xfrm>
            <a:prstGeom prst="roundRect">
              <a:avLst>
                <a:gd name="adj" fmla="val 9412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683C9724-9A3D-E260-36E1-0091BE1089D9}"/>
                </a:ext>
              </a:extLst>
            </p:cNvPr>
            <p:cNvSpPr/>
            <p:nvPr/>
          </p:nvSpPr>
          <p:spPr>
            <a:xfrm>
              <a:off x="640080" y="5440680"/>
              <a:ext cx="133502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05000"/>
                </a:lnSpc>
              </a:pP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전체 </a:t>
              </a:r>
              <a:r>
                <a:rPr lang="en-US" altLang="ko-KR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Claude </a:t>
              </a:r>
              <a:r>
                <a:rPr lang="ko-KR" alt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빌트인 스킬</a:t>
              </a:r>
              <a:r>
                <a:rPr lang="en-US" altLang="ko-KR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</a:t>
              </a:r>
              <a:r>
                <a:rPr lang="ko-KR" altLang="en-US" sz="1600" dirty="0"/>
                <a:t>https://github.com/unicorn-campus/ictk/blob/main/references/claude-code-builtin-skills.md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 앱에서 Skill 만들기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탭에 부탁하면 Claude가 파일을 만들어 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흐름 (3단계)</a:t>
            </a:r>
            <a:endParaRPr lang="en-US" sz="17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EDAA288-3D81-EC14-E6D4-41DFD29A0892}"/>
              </a:ext>
            </a:extLst>
          </p:cNvPr>
          <p:cNvGrpSpPr/>
          <p:nvPr/>
        </p:nvGrpSpPr>
        <p:grpSpPr>
          <a:xfrm>
            <a:off x="457200" y="1965961"/>
            <a:ext cx="5943600" cy="1520190"/>
            <a:chOff x="457200" y="1965961"/>
            <a:chExt cx="5943600" cy="1520190"/>
          </a:xfrm>
        </p:grpSpPr>
        <p:sp>
          <p:nvSpPr>
            <p:cNvPr id="6" name="Shape 4"/>
            <p:cNvSpPr/>
            <p:nvPr/>
          </p:nvSpPr>
          <p:spPr>
            <a:xfrm>
              <a:off x="457200" y="1965961"/>
              <a:ext cx="5943600" cy="152019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2057399"/>
              <a:ext cx="5943600" cy="133588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① 요청: ＂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아래 프롬프트를 참조하여 프로젝트 스콥으로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summarize-changes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스킬을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만들어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주세요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</a:t>
              </a:r>
              <a:b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&lt;prompt&gt;</a:t>
              </a: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{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프롬프트 내용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}</a:t>
              </a:r>
              <a:endPara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&lt;/prompt&gt;</a:t>
              </a:r>
              <a:endParaRPr lang="en-US" sz="16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C730C83-E649-286D-6488-19E9C2894CF0}"/>
              </a:ext>
            </a:extLst>
          </p:cNvPr>
          <p:cNvGrpSpPr/>
          <p:nvPr/>
        </p:nvGrpSpPr>
        <p:grpSpPr>
          <a:xfrm>
            <a:off x="457200" y="3639025"/>
            <a:ext cx="5943600" cy="822960"/>
            <a:chOff x="457200" y="3639025"/>
            <a:chExt cx="5943600" cy="822960"/>
          </a:xfrm>
        </p:grpSpPr>
        <p:sp>
          <p:nvSpPr>
            <p:cNvPr id="8" name="Shape 6"/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solidFill>
              <a:srgbClr val="059669"/>
            </a:solidFill>
            <a:ln/>
          </p:spPr>
          <p:txBody>
            <a:bodyPr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② 승인: 폴더·SKILL.md </a:t>
              </a:r>
              <a:r>
                <a:rPr lang="en-US" sz="1600" dirty="0" err="1">
                  <a:solidFill>
                    <a:schemeClr val="bg1"/>
                  </a:solidFill>
                </a:rPr>
                <a:t>생성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제안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→ Accept/Reject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AB678A-18E3-8F2D-BC0F-B0410427D622}"/>
              </a:ext>
            </a:extLst>
          </p:cNvPr>
          <p:cNvGrpSpPr/>
          <p:nvPr/>
        </p:nvGrpSpPr>
        <p:grpSpPr>
          <a:xfrm>
            <a:off x="457200" y="5492123"/>
            <a:ext cx="5943600" cy="822960"/>
            <a:chOff x="457200" y="5492123"/>
            <a:chExt cx="5943600" cy="822960"/>
          </a:xfrm>
        </p:grpSpPr>
        <p:sp>
          <p:nvSpPr>
            <p:cNvPr id="10" name="Shape 8"/>
            <p:cNvSpPr/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④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테스트: "내가 뭘 바꿨지?"로 자동 호출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또는 /summarize-changes 로 직접 실행</a:t>
              </a:r>
              <a:endParaRPr lang="en-US" sz="16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6751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최소 예시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75120" y="2057400"/>
            <a:ext cx="7498080" cy="3143250"/>
          </a:xfrm>
          <a:prstGeom prst="roundRect">
            <a:avLst>
              <a:gd name="adj" fmla="val 19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39712" y="2167128"/>
            <a:ext cx="7168896" cy="2719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summarize-changes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Summarizes recent file changes.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when the user asks what changed.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변경사항 요약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작업방법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최근 변경 파일을 확인</a:t>
            </a:r>
            <a:endParaRPr lang="en-US" sz="1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변경 요지를 항목으로 정리</a:t>
            </a:r>
            <a:endParaRPr lang="en-US" sz="16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05E0FF7-3648-149D-3C86-49A134F2B542}"/>
              </a:ext>
            </a:extLst>
          </p:cNvPr>
          <p:cNvGrpSpPr/>
          <p:nvPr/>
        </p:nvGrpSpPr>
        <p:grpSpPr>
          <a:xfrm>
            <a:off x="457200" y="6586544"/>
            <a:ext cx="13716000" cy="777240"/>
            <a:chOff x="457200" y="5257800"/>
            <a:chExt cx="13716000" cy="777240"/>
          </a:xfrm>
        </p:grpSpPr>
        <p:sp>
          <p:nvSpPr>
            <p:cNvPr id="15" name="Shape 13"/>
            <p:cNvSpPr/>
            <p:nvPr/>
          </p:nvSpPr>
          <p:spPr>
            <a:xfrm>
              <a:off x="457200" y="5257800"/>
              <a:ext cx="13716000" cy="777240"/>
            </a:xfrm>
            <a:prstGeom prst="roundRect">
              <a:avLst>
                <a:gd name="adj" fmla="val 9412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" y="5257800"/>
              <a:ext cx="133502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핵심: Claude는 Skill 형식을 이미 알고 있어 별도 도구 없이 만들어 줍니다. 안 불려오면 description에 키워드 보강, 너무 자주 불려오면 description을 더 구체적으로(또는 자동 호출 </a:t>
              </a:r>
              <a:r>
                <a:rPr lang="en-US" sz="1600" b="1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끄기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600" b="1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설정</a:t>
              </a: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disable-model-invocation).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40CE6E9-58C7-9994-472F-CD22F8F9A2D3}"/>
              </a:ext>
            </a:extLst>
          </p:cNvPr>
          <p:cNvGrpSpPr/>
          <p:nvPr/>
        </p:nvGrpSpPr>
        <p:grpSpPr>
          <a:xfrm>
            <a:off x="457200" y="4572961"/>
            <a:ext cx="5943600" cy="822960"/>
            <a:chOff x="457200" y="4572961"/>
            <a:chExt cx="5943600" cy="822960"/>
          </a:xfrm>
        </p:grpSpPr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A6F59FD2-4CD6-56F0-8D89-2B69FB4A1C4D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557DCF73-68EB-46AD-DBA9-25D340717D9C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ect">
              <a:avLst/>
            </a:prstGeom>
            <a:solidFill>
              <a:srgbClr val="D97706"/>
            </a:solidFill>
            <a:ln/>
          </p:spPr>
          <p:txBody>
            <a:bodyPr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③ </a:t>
              </a:r>
              <a:r>
                <a:rPr lang="ko-KR" altLang="en-US" sz="1600" dirty="0">
                  <a:solidFill>
                    <a:schemeClr val="bg1"/>
                  </a:solidFill>
                </a:rPr>
                <a:t>체크</a:t>
              </a:r>
              <a:r>
                <a:rPr lang="en-US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>
                  <a:solidFill>
                    <a:schemeClr val="bg1"/>
                  </a:solidFill>
                </a:rPr>
                <a:t>스킬 디렉토리 구조</a:t>
              </a:r>
              <a:r>
                <a:rPr lang="en-US" altLang="ko-KR" sz="1600" dirty="0">
                  <a:solidFill>
                    <a:schemeClr val="bg1"/>
                  </a:solidFill>
                </a:rPr>
                <a:t>, </a:t>
              </a:r>
              <a:r>
                <a:rPr lang="ko-KR" altLang="en-US" sz="1600" dirty="0">
                  <a:solidFill>
                    <a:schemeClr val="bg1"/>
                  </a:solidFill>
                </a:rPr>
                <a:t>스킬 </a:t>
              </a:r>
              <a:r>
                <a:rPr lang="en-US" altLang="ko-KR" sz="1600" dirty="0">
                  <a:solidFill>
                    <a:schemeClr val="bg1"/>
                  </a:solidFill>
                </a:rPr>
                <a:t>Formatter, </a:t>
              </a:r>
              <a:r>
                <a:rPr lang="ko-KR" altLang="en-US" sz="1600" dirty="0">
                  <a:solidFill>
                    <a:schemeClr val="bg1"/>
                  </a:solidFill>
                </a:rPr>
                <a:t>스킬 내용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Shape 11">
            <a:extLst>
              <a:ext uri="{FF2B5EF4-FFF2-40B4-BE49-F238E27FC236}">
                <a16:creationId xmlns:a16="http://schemas.microsoft.com/office/drawing/2014/main" id="{A7C6DA22-388F-3199-CC66-8C898810FC60}"/>
              </a:ext>
            </a:extLst>
          </p:cNvPr>
          <p:cNvSpPr/>
          <p:nvPr/>
        </p:nvSpPr>
        <p:spPr>
          <a:xfrm>
            <a:off x="6675120" y="5492123"/>
            <a:ext cx="7498080" cy="780089"/>
          </a:xfrm>
          <a:prstGeom prst="roundRect">
            <a:avLst>
              <a:gd name="adj" fmla="val 19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1579B5EA-89FA-60F5-53FF-86D0A40C0C2F}"/>
              </a:ext>
            </a:extLst>
          </p:cNvPr>
          <p:cNvSpPr/>
          <p:nvPr/>
        </p:nvSpPr>
        <p:spPr>
          <a:xfrm>
            <a:off x="6821424" y="5643562"/>
            <a:ext cx="7168896" cy="44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600" dirty="0"/>
              <a:t>스킬 디렉토리</a:t>
            </a:r>
            <a:r>
              <a:rPr lang="en-US" altLang="ko-KR" sz="1600" dirty="0"/>
              <a:t>: skills/summarize-changes/SKILL.md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2종 — 문서 스킬 / 정보조사 스킬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손으로 해보기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79"/>
            <a:ext cx="6766560" cy="4081939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법률 상담 스킬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697479"/>
            <a:ext cx="6400800" cy="2696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Korean-law MCP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설치 또는 </a:t>
            </a:r>
            <a:r>
              <a:rPr lang="en-US" altLang="ko-KR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PlayMCP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통해 설치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solidFill>
                  <a:srgbClr val="0563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https://github.com/chrisryugj/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korean-law-mcp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/>
              <a:t>법령과 판례의 출처를 명확히 표기하도록 함</a:t>
            </a:r>
            <a:endParaRPr lang="en-US" altLang="ko-KR" sz="16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/>
              <a:t>비 법률 전문가가 이해할 수 있게 쉽게 작성하도록 함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프롬프트로 작성하여 테스트 및 개선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프롬프트를 제시하여 스킬 작성 요청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2011679"/>
            <a:ext cx="6766560" cy="4081939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06640" y="201168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06640" y="2011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정보조사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스킬 —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조사→레포트→슬라이드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697479"/>
            <a:ext cx="6400800" cy="2696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웹과 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MCP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검색 → 레포트 작성 → 웹페이지 가시화 → PPT 슬라이드까지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b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여러 단계 절차를 하나의 레시피로 묶는 체험 (웹/DART 검색·PPT 생성 등 도구 연동 </a:t>
            </a:r>
            <a:r>
              <a:rPr lang="en-US" sz="1600" b="1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</a:t>
            </a:r>
            <a:r>
              <a:rPr lang="en-US" sz="16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</a:t>
            </a:r>
            <a:r>
              <a:rPr lang="en-US" altLang="ko-KR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독립설치 또는 </a:t>
            </a:r>
            <a:r>
              <a:rPr lang="en-US" altLang="ko-KR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PlayMCP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통해 설치</a:t>
            </a:r>
            <a:b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https://mcp.directory/servers/korean-stock-market-dart-krx</a:t>
            </a:r>
            <a:endParaRPr lang="en-US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레포트의 </a:t>
            </a:r>
            <a:r>
              <a:rPr lang="ko-KR" alt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아젠다를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제시 받고 진행함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프롬프트로 작성하여 테스트 및 개선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프롬프트를 제시하여 스킬 작성 요청</a:t>
            </a:r>
            <a:endParaRPr lang="en-US" alt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B956212-1F7F-031E-A9D6-DE8B5B17327A}"/>
              </a:ext>
            </a:extLst>
          </p:cNvPr>
          <p:cNvGrpSpPr/>
          <p:nvPr/>
        </p:nvGrpSpPr>
        <p:grpSpPr>
          <a:xfrm>
            <a:off x="457200" y="6416531"/>
            <a:ext cx="6766560" cy="505770"/>
            <a:chOff x="457200" y="5492123"/>
            <a:chExt cx="5943600" cy="822960"/>
          </a:xfrm>
        </p:grpSpPr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31003E4D-3F10-3CD0-1A11-259BD3D9D847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BB3FDFC5-8ACD-0D28-CE77-952AE5C95121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프롬프트 예시</a:t>
              </a:r>
              <a:endParaRPr lang="en-US" sz="16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51BBB4B-2809-C11A-5DFE-7164DEAF06EF}"/>
              </a:ext>
            </a:extLst>
          </p:cNvPr>
          <p:cNvGrpSpPr/>
          <p:nvPr/>
        </p:nvGrpSpPr>
        <p:grpSpPr>
          <a:xfrm>
            <a:off x="7406640" y="6404625"/>
            <a:ext cx="6766560" cy="505770"/>
            <a:chOff x="457200" y="5492123"/>
            <a:chExt cx="5943600" cy="822960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E2A40E22-5EF2-13B1-56D6-D16DFA98A0A9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4E41D19A-CDD9-7882-997B-EBA0387F34C5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프롬프트 예시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안전 수칙 — 스킬도 "소프트웨어처럼"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편리해도 흔들리지 않는 3원칙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신뢰 출처만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8368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스킬은 새 능력을 부여 → </a:t>
            </a:r>
            <a:b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</a:b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소프트웨어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설치처럼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주의해서 </a:t>
            </a: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취급</a:t>
            </a:r>
            <a:endParaRPr lang="en-US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내가 만들었거나 Anthropic 제공한 것만. 외부 스킬은 SKILL.md·스크립트를 전부 감사 후 사용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93208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93208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Text 9"/>
          <p:cNvSpPr/>
          <p:nvPr/>
        </p:nvSpPr>
        <p:spPr>
          <a:xfrm>
            <a:off x="5093208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민감정보 그대로 적지 않기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94376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비밀번호·고객정보·ICTK 핵심 보안 자산 등을 SKILL.md에 그대로 적지 말 것</a:t>
            </a:r>
            <a:endParaRPr lang="en-US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파일은 공유·커밋될 수 있음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729216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729216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13"/>
          <p:cNvSpPr/>
          <p:nvPr/>
        </p:nvSpPr>
        <p:spPr>
          <a:xfrm>
            <a:off x="9729216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사람 최종 승인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930384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편집·실행은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작업 내용 보고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Accept/Reject</a:t>
            </a:r>
            <a:endParaRPr lang="en-US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배포·제출처럼 되돌리기 어려운 </a:t>
            </a: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작업은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</a:b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자동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호출 끄기 설정으로 막고 </a:t>
            </a: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사람이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</a:br>
            <a:r>
              <a:rPr lang="en-US" dirty="0" err="1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dirty="0">
                <a:solidFill>
                  <a:srgbClr val="505060"/>
                </a:solidFill>
                <a:ea typeface="Pretendard" pitchFamily="34" charset="-122"/>
                <a:cs typeface="Pretendard" pitchFamily="34" charset="-120"/>
              </a:rPr>
              <a:t> 호출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인젝션(외부 문서·스킬 속 숨은 지시문이 Claude를 속이는 공격)을 경계 — 신뢰되지 않은 스킬 연결 금지.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회차 흐름 · 2주 과제 · 4회차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30246"/>
            <a:ext cx="6766560" cy="214884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2157413"/>
            <a:ext cx="6309360" cy="16644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= 나만의 자동화 레시피: 반복 작업을 SKILL.md(설정 칸+본문)로 </a:t>
            </a:r>
            <a:b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승격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필수는 name·description(무엇+언제, 3인칭)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저장: 유저(내 모든 폴더) vs 프로젝트(그 폴더만) · 내장 스킬(/goal·/code-review·/security-review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)은 바로 사용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커넥터·루틴·Computer use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도구 연결 + 자동 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기초(SKILL.md)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작업을 재사용 가능하게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심화 + 웹브라우저 MCP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연동 확장 + MCP 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2회차에서 설계한 반복 작업을 Skill로: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만들기(루틴 후보를 SKILL.md로) → ② 실사용(실제 업무 3회 이상) → ③ 개선(안 불려옴/오작동 등 개선점 기록 = 4회차 재료)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예고 — Skill 심화 +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웹브라우저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MCP(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Playwright·Claude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in Chrome)로 웹을 다루고 MCP를 직접 개발.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만든 지침만의 Skill에 외부 연동을 더해 확장합니다.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C650E6D-620F-B78B-938C-6F92D20EFECD}"/>
              </a:ext>
            </a:extLst>
          </p:cNvPr>
          <p:cNvSpPr/>
          <p:nvPr/>
        </p:nvSpPr>
        <p:spPr>
          <a:xfrm>
            <a:off x="45720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C39F04-E985-4FB4-B8B7-D57E8D2669A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3c0599d-ebe4-423e-ba80-976c163299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2832</Words>
  <Application>Microsoft Office PowerPoint</Application>
  <PresentationFormat>사용자 지정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Consolas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3회차 — Skill 기초</dc:title>
  <dc:subject>Claude Code 업무 자동화 부트캠프 3회차</dc:subject>
  <dc:creator>Unicorn / 이해경</dc:creator>
  <cp:lastModifiedBy>해경 이</cp:lastModifiedBy>
  <cp:revision>46</cp:revision>
  <dcterms:created xsi:type="dcterms:W3CDTF">2026-06-16T10:08:18Z</dcterms:created>
  <dcterms:modified xsi:type="dcterms:W3CDTF">2026-06-17T08:45:39Z</dcterms:modified>
</cp:coreProperties>
</file>