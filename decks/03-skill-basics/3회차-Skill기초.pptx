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8" r:id="rId6"/>
    <p:sldId id="260" r:id="rId7"/>
    <p:sldId id="261" r:id="rId8"/>
    <p:sldId id="262" r:id="rId9"/>
    <p:sldId id="263" r:id="rId10"/>
    <p:sldId id="264" r:id="rId11"/>
    <p:sldId id="265" r:id="rId12"/>
    <p:sldId id="266" r:id="rId13"/>
  </p:sldIdLst>
  <p:sldSz cx="14630400" cy="8229600"/>
  <p:notesSz cx="8229600" cy="146304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590" autoAdjust="0"/>
  </p:normalViewPr>
  <p:slideViewPr>
    <p:cSldViewPr snapToGrid="0" snapToObjects="1">
      <p:cViewPr varScale="1">
        <p:scale>
          <a:sx n="75" d="100"/>
          <a:sy n="75" d="100"/>
        </p:scale>
        <p:origin x="40" y="2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8116299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3회차 시작. 2회차(커넥터·루틴·Computer use) 상기 → 오늘은 반복 프롬프트/작업을 SKILL.md로 승격해 재사용하는 Skill을 배움. 데스크톱 앱 Code 탭(GUI), 터미널 아님. 유료 계정 필요. 회차 비교표는 슬라이드 11로 이동. 출처: https://code.claude.com/docs/en/skills , https://code.claude.com/docs/en/desktop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골든서클. 공식 메시지 '같은 지시·체크리스트·다단계 절차를 반복 붙여넣을 때, CLAUDE.md 한 섹션이 절차로 커졌을 때 스킬로'. 오늘은 외부 도구 없이 지침만, 산출물 SKILL.md 1개. 출처: https://code.claude.com/docs/en/skills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핵심 개념. 공식 'Skills extend what Claude can do. Create a SKILL.md file with instructions, and Claude adds it to its toolkit.' 3대 이점(Specialize/Reduce repetition/Compose)=overview Key benefits. 레시피 비유. 출처: https://code.claude.com/docs/en/skills , https://platform.claude.com/docs/en/agents-and-tools/agent-skills/overview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'YAML 프런트매터'를 '파일 맨 위 설정 칸'으로 풀어씀. 필수 필드 name·description 둘뿐(Claude Code는 description만 권장). 본문 간결(세션 내내 컨텍스트 잔존→토큰 비용, 500줄 이하 권장). name 제약(소문자·숫자·하이픈·64자·예약어 금지)은 구두 보충. 출처: https://code.claude.com/docs/en/skills , https://platform.claude.com/docs/en/agents-and-tools/agent-skills/best-practices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F63C94-62F6-3C72-E2C7-AD9AB4DB9A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FD73F9D-C1A2-886F-EAB2-883DA6DFE9D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C279134-65B6-49CC-B4A3-0FEE8194A05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'YAML 프런트매터'를 '파일 맨 위 설정 칸'으로 풀어씀. 필수 필드 name·description 둘뿐(Claude Code는 description만 권장). 본문 간결(세션 내내 컨텍스트 잔존→토큰 비용, 500줄 이하 권장). name 제약(소문자·숫자·하이픈·64자·예약어 금지)은 구두 보충. 출처: https://code.claude.com/docs/en/skills , https://platform.claude.com/docs/en/agents-and-tools/agent-skills/best-practices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C519CCA-C92C-12F3-024C-6BA17CB5AA4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798673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자동 트리거 원리: 시작 시 name·description만 시스템 프롬프트에, 요청 매칭 시 본문 로드(progressive disclosure L1 이름표~100토큰→L2 본문→L3 첨부). description 3인칭 필수(공식 best-practices). 출처: https://platform.claude.com/docs/en/agents-and-tools/agent-skills/best-practices , https://platform.claude.com/docs/en/agents-and-tools/agent-skills/overview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공식 'Where skills live'(개인 ~/.claude/skills/, 프로젝트 .claude/skills/). 호출 이름=폴더 이름. 충돌 우선순위 enterprise&gt;personal&gt;project는 구두 보충. 프로젝트 스킬 allowed-tools는 workspace trust 후 적용 → ICTK 검토 권고. 출처: https://code.claude.com/docs/en/skills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메시지='만들지 말고 바로 쓰기'. CLI 플래그는 본문 제거, '한 줄 효용 + /명령어'로 통일. 정확 구문(구두): /code-review [low|medium|high|xhigh|max|ultra] [--fix] [--comment] [target] — ultra는 effort 레벨 값, /ultrareview는 alias(여전히 유효, deprecated로 말하지 말 것). Code 탭 미지원 4종은 ⚙️ Settings 대체. 출처: https://code.claude.com/docs/en/commands , https://code.claude.com/docs/en/skills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공식 'Create your first skill' summarize-changes 튜토리얼(요청→생성→diff 승인→자동/직접 호출). 데스크톱은 프롬프트로 '스킬 폴더와 SKILL.md를 만들어줘' 요청 후 diff Accept(터미널 mkdir 표현 금지). 트러블슈팅: 안 불려오면 키워드/재표현/직접 호출, 너무 자주면 description 구체화·disable-model-invocation:true('자동 호출 끄기'). 출처: https://code.claude.com/docs/en/skills , https://code.claude.com/docs/en/desktop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실습 2종. 카드①=[직접 실습](지침만), 카드②=[데모](웹검색·PPT 등 도구 연동 포함 → '지침만' 범주 밖). 산출물=SKILL.md 1개(카드①). 선택: 법률상담 스킬(Korean Law MCP) 데모. 출처: https://code.claude.com/docs/en/skills , https://platform.claude.com/docs/en/agents-and-tools/agent-skills/overview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공식 'Security considerations': 신뢰 출처만(직접 제작/Anthropic), 외부는 전 파일 감사, '소프트웨어 설치처럼'. 민감정보 비기재(SKILL.md가 git 커밋·팀 공유 대상). diff Accept/Reject + 위험 작업 disable-model-invocation:true. 출처: https://platform.claude.com/docs/en/agents-and-tools/agent-skills/overview , https://code.claude.com/docs/en/skills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타이틀의 회차 비교표를 흡수. 2주 과제: 2회차 루틴 후보를 Skill로 구현·3회 이상 실사용·개선점 기록(4회차 재료). 학습 연속성: 2회차(연결·자동반복)→3회차(지침만 Skill)→4회차(Skill 심화+웹브라우저 MCP+MCP 개발). 출처: https://code.claude.com/docs/en/skills , https://code.claude.com/docs/en/commands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STER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7818120"/>
            <a:ext cx="1371600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457200" y="786384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6B6B7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ⓒ Unicorn — Claude Code 업무 자동화 부트캠프 3회차 · 무단전재 및 배포 금지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3624560" y="786384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600">
                <a:solidFill>
                  <a:srgbClr val="6B6B7B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3624560" y="786384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600">
                <a:solidFill>
                  <a:srgbClr val="6B6B7B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chrisryugj/korean-law-mcp" TargetMode="Externa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github.com/unicorn-campus/ictk/blob/main/prompts/3%ED%9A%8C%EC%B0%A8/02-%EA%B8%B0%EC%97%85%EC%A0%95%EB%B3%B4%EC%A1%B0%EC%82%AC.md" TargetMode="External"/><Relationship Id="rId4" Type="http://schemas.openxmlformats.org/officeDocument/2006/relationships/hyperlink" Target="https://github.com/unicorn-campus/ictk/blob/main/prompts/3%ED%9A%8C%EC%B0%A8/01-%EB%B2%95%EB%A5%A0%EC%83%81%EB%8B%B4.md" TargetMode="Externa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2788920"/>
          </a:xfrm>
          <a:prstGeom prst="rect">
            <a:avLst/>
          </a:prstGeom>
          <a:solidFill>
            <a:srgbClr val="2C292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256032" cy="2788920"/>
          </a:xfrm>
          <a:prstGeom prst="rect">
            <a:avLst/>
          </a:prstGeom>
          <a:solidFill>
            <a:srgbClr val="05966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/>
          <p:nvPr/>
        </p:nvSpPr>
        <p:spPr>
          <a:xfrm>
            <a:off x="868680" y="502920"/>
            <a:ext cx="12344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7FE7C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Claude Code 업무 자동화 부트캠프 · 3회차 / 11회차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868680" y="960120"/>
            <a:ext cx="129844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Skill 기초</a:t>
            </a:r>
            <a:endParaRPr lang="en-US" sz="4200" dirty="0"/>
          </a:p>
        </p:txBody>
      </p:sp>
      <p:sp>
        <p:nvSpPr>
          <p:cNvPr id="6" name="Text 4"/>
          <p:cNvSpPr/>
          <p:nvPr/>
        </p:nvSpPr>
        <p:spPr>
          <a:xfrm>
            <a:off x="868680" y="1993392"/>
            <a:ext cx="12984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D8D8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반복 작업을 "나만의 자동화 레시피"로 — 매번 다시 적던 프롬프트를 한 번 만들어 재사용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3154680"/>
            <a:ext cx="4434840" cy="1600200"/>
          </a:xfrm>
          <a:prstGeom prst="roundRect">
            <a:avLst>
              <a:gd name="adj" fmla="val 4571"/>
            </a:avLst>
          </a:prstGeom>
          <a:solidFill>
            <a:srgbClr val="F5F5F7"/>
          </a:solidFill>
          <a:ln w="12700">
            <a:solidFill>
              <a:srgbClr val="DDDDE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Shape 6"/>
          <p:cNvSpPr/>
          <p:nvPr/>
        </p:nvSpPr>
        <p:spPr>
          <a:xfrm>
            <a:off x="457200" y="3154680"/>
            <a:ext cx="4434840" cy="457200"/>
          </a:xfrm>
          <a:prstGeom prst="roundRect">
            <a:avLst>
              <a:gd name="adj" fmla="val 16000"/>
            </a:avLst>
          </a:prstGeom>
          <a:solidFill>
            <a:srgbClr val="3776A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9" name="Text 7"/>
          <p:cNvSpPr/>
          <p:nvPr/>
        </p:nvSpPr>
        <p:spPr>
          <a:xfrm>
            <a:off x="457200" y="3154680"/>
            <a:ext cx="4434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대상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40080" y="3703320"/>
            <a:ext cx="4069080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600" dirty="0" err="1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임직원</a:t>
            </a:r>
            <a:r>
              <a:rPr lang="en-US" sz="1600" dirty="0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(비개발자 포함 입문자)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5093208" y="3154680"/>
            <a:ext cx="4434840" cy="1600200"/>
          </a:xfrm>
          <a:prstGeom prst="roundRect">
            <a:avLst>
              <a:gd name="adj" fmla="val 4571"/>
            </a:avLst>
          </a:prstGeom>
          <a:solidFill>
            <a:srgbClr val="F5F5F7"/>
          </a:solidFill>
          <a:ln w="12700">
            <a:solidFill>
              <a:srgbClr val="DDDDE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Shape 10"/>
          <p:cNvSpPr/>
          <p:nvPr/>
        </p:nvSpPr>
        <p:spPr>
          <a:xfrm>
            <a:off x="5093208" y="3154680"/>
            <a:ext cx="4434840" cy="457200"/>
          </a:xfrm>
          <a:prstGeom prst="roundRect">
            <a:avLst>
              <a:gd name="adj" fmla="val 16000"/>
            </a:avLst>
          </a:prstGeom>
          <a:solidFill>
            <a:srgbClr val="1A5E7E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1"/>
          <p:cNvSpPr/>
          <p:nvPr/>
        </p:nvSpPr>
        <p:spPr>
          <a:xfrm>
            <a:off x="5093208" y="3154680"/>
            <a:ext cx="4434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도구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276088" y="3703320"/>
            <a:ext cx="4069080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600" dirty="0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Claude Code 데스크톱 앱 — Chat·Cowork·Code 중 "Code" 탭 (GUI)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9729216" y="3154680"/>
            <a:ext cx="4434840" cy="1600200"/>
          </a:xfrm>
          <a:prstGeom prst="roundRect">
            <a:avLst>
              <a:gd name="adj" fmla="val 4571"/>
            </a:avLst>
          </a:prstGeom>
          <a:solidFill>
            <a:srgbClr val="F5F5F7"/>
          </a:solidFill>
          <a:ln w="12700">
            <a:solidFill>
              <a:srgbClr val="DDDDE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Shape 14"/>
          <p:cNvSpPr/>
          <p:nvPr/>
        </p:nvSpPr>
        <p:spPr>
          <a:xfrm>
            <a:off x="9729216" y="3154680"/>
            <a:ext cx="4434840" cy="457200"/>
          </a:xfrm>
          <a:prstGeom prst="roundRect">
            <a:avLst>
              <a:gd name="adj" fmla="val 16000"/>
            </a:avLst>
          </a:prstGeom>
          <a:solidFill>
            <a:srgbClr val="1A6E3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5"/>
          <p:cNvSpPr/>
          <p:nvPr/>
        </p:nvSpPr>
        <p:spPr>
          <a:xfrm>
            <a:off x="9729216" y="3154680"/>
            <a:ext cx="4434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흐름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9912096" y="3703320"/>
            <a:ext cx="4069080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600" dirty="0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2회차 복습 → 3회차 Skill → 2주 과제 → 4회차 예고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457200" y="5074920"/>
            <a:ext cx="13716000" cy="685800"/>
          </a:xfrm>
          <a:prstGeom prst="roundRect">
            <a:avLst>
              <a:gd name="adj" fmla="val 10667"/>
            </a:avLst>
          </a:prstGeom>
          <a:solidFill>
            <a:srgbClr val="CCFBF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0" name="Text 18"/>
          <p:cNvSpPr/>
          <p:nvPr/>
        </p:nvSpPr>
        <p:spPr>
          <a:xfrm>
            <a:off x="640080" y="5074920"/>
            <a:ext cx="13350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8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오늘의 약속: 같은 지시를 매번 다시 적지 않습니다. SKILL.md 한 개로 "나만의 자동화 레시피"를 만들어 재사용합니다.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3624560" y="786384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600">
                <a:solidFill>
                  <a:srgbClr val="6B6B7B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lang="en-US" b="0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457200" y="411480"/>
            <a:ext cx="13716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WHY — 같은 프롬프트를 다시 적지 마세요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069848"/>
            <a:ext cx="1371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0D948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골든서클: WHY → HOW → WHAT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457200" y="1554480"/>
            <a:ext cx="6858000" cy="3383280"/>
          </a:xfrm>
          <a:prstGeom prst="roundRect">
            <a:avLst>
              <a:gd name="adj" fmla="val 2162"/>
            </a:avLst>
          </a:prstGeom>
          <a:solidFill>
            <a:srgbClr val="ECFDF5"/>
          </a:solidFill>
          <a:ln w="12700">
            <a:solidFill>
              <a:srgbClr val="05966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685800" y="1783080"/>
            <a:ext cx="1188720" cy="457200"/>
          </a:xfrm>
          <a:prstGeom prst="roundRect">
            <a:avLst>
              <a:gd name="adj" fmla="val 12000"/>
            </a:avLst>
          </a:prstGeom>
          <a:solidFill>
            <a:srgbClr val="DC262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/>
          <p:nvPr/>
        </p:nvSpPr>
        <p:spPr>
          <a:xfrm>
            <a:off x="685800" y="1783080"/>
            <a:ext cx="1188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WHY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2011680" y="1764792"/>
            <a:ext cx="5120640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600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같은 지시·체크리스트·여러 단계 절차를 채팅에 반복해서 붙여넣고 있다면, 바로 그때가 Skill로 만들 시점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685800" y="2807208"/>
            <a:ext cx="1188720" cy="457200"/>
          </a:xfrm>
          <a:prstGeom prst="roundRect">
            <a:avLst>
              <a:gd name="adj" fmla="val 12000"/>
            </a:avLst>
          </a:prstGeom>
          <a:solidFill>
            <a:srgbClr val="D9770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/>
          <p:cNvSpPr/>
          <p:nvPr/>
        </p:nvSpPr>
        <p:spPr>
          <a:xfrm>
            <a:off x="685800" y="2807208"/>
            <a:ext cx="1188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HOW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2011680" y="2788920"/>
            <a:ext cx="5120640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600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 절차를 SKILL.md 파일 하나에 자연어로 적어두면, Claude가 자기 "도구함"에 추가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685800" y="3831336"/>
            <a:ext cx="1188720" cy="457200"/>
          </a:xfrm>
          <a:prstGeom prst="roundRect">
            <a:avLst>
              <a:gd name="adj" fmla="val 12000"/>
            </a:avLst>
          </a:prstGeom>
          <a:solidFill>
            <a:srgbClr val="05966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1"/>
          <p:cNvSpPr/>
          <p:nvPr/>
        </p:nvSpPr>
        <p:spPr>
          <a:xfrm>
            <a:off x="685800" y="3831336"/>
            <a:ext cx="1188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WHAT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2011680" y="3813048"/>
            <a:ext cx="5120640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600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이후엔 한 번 만든 자동화를 자동으로(요청이 맞으면) </a:t>
            </a:r>
            <a:r>
              <a:rPr lang="en-US" sz="1600" dirty="0" err="1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또는</a:t>
            </a:r>
            <a:r>
              <a:rPr lang="en-US" sz="1600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</a:p>
          <a:p>
            <a:pPr marL="0" indent="0" algn="l">
              <a:lnSpc>
                <a:spcPct val="108000"/>
              </a:lnSpc>
              <a:buNone/>
            </a:pPr>
            <a:r>
              <a:rPr lang="en-US" sz="1600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"/{</a:t>
            </a:r>
            <a:r>
              <a:rPr lang="ko-KR" altLang="en-US" sz="1600" dirty="0" err="1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스킬이름</a:t>
            </a:r>
            <a:r>
              <a:rPr lang="en-US" altLang="ko-KR" sz="1600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}</a:t>
            </a:r>
            <a:r>
              <a:rPr lang="en-US" sz="1600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"으로 바로 재사용</a:t>
            </a:r>
            <a:endParaRPr lang="en-US" sz="16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589520" y="1554480"/>
          <a:ext cx="6583680" cy="2980944"/>
        </p:xfrm>
        <a:graphic>
          <a:graphicData uri="http://schemas.openxmlformats.org/drawingml/2006/table">
            <a:tbl>
              <a:tblPr/>
              <a:tblGrid>
                <a:gridCol w="1554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6517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2C292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구분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2C292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1~2회차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2C292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3회차(오늘)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412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50506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지시 방식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50506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매번 같은 프롬프트 재입력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50506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한 번 만들어 재사용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412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50506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보관 형태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50506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사람 머릿속·메모장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50506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SKILL.md 파일로 저장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412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50506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호출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50506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그때그때 타이핑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50506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자동 트리거 또는 /스킬이름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6" name="Shape 13"/>
          <p:cNvSpPr/>
          <p:nvPr/>
        </p:nvSpPr>
        <p:spPr>
          <a:xfrm>
            <a:off x="457200" y="5212080"/>
            <a:ext cx="13716000" cy="640080"/>
          </a:xfrm>
          <a:prstGeom prst="roundRect">
            <a:avLst>
              <a:gd name="adj" fmla="val 11429"/>
            </a:avLst>
          </a:prstGeom>
          <a:solidFill>
            <a:srgbClr val="CCFBF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4"/>
          <p:cNvSpPr/>
          <p:nvPr/>
        </p:nvSpPr>
        <p:spPr>
          <a:xfrm>
            <a:off x="640080" y="5212080"/>
            <a:ext cx="13350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7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오늘의 기대치: 외부 도구 없이 자연어 지침만으로 동작하는 Skill을 만듦 — 산출물은 SKILL.md 1개(문서 초안 생성용)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3624560" y="786384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600">
                <a:solidFill>
                  <a:srgbClr val="6B6B7B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lang="en-US" b="0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457200" y="411480"/>
            <a:ext cx="13716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Skill이란? — 나만의 자동화 레시피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069848"/>
            <a:ext cx="1371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0D948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SKILL.md로 Claude의 능력을 넓히기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457200" y="1508760"/>
            <a:ext cx="13716000" cy="548640"/>
          </a:xfrm>
          <a:prstGeom prst="roundRect">
            <a:avLst>
              <a:gd name="adj" fmla="val 13333"/>
            </a:avLst>
          </a:prstGeom>
          <a:solidFill>
            <a:srgbClr val="CCFBF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640080" y="1508760"/>
            <a:ext cx="13350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7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Skill = SKILL.md에 지침을 적어 Claude의 능력을 넓히는 것 — 만들면 Claude의 "도구함"에 추가됩니다.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457200" y="2194560"/>
            <a:ext cx="7863840" cy="1207008"/>
          </a:xfrm>
          <a:prstGeom prst="roundRect">
            <a:avLst>
              <a:gd name="adj" fmla="val 6061"/>
            </a:avLst>
          </a:prstGeom>
          <a:solidFill>
            <a:srgbClr val="F5F5F7"/>
          </a:solidFill>
          <a:ln w="12700">
            <a:solidFill>
              <a:srgbClr val="DDDDE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Shape 6"/>
          <p:cNvSpPr/>
          <p:nvPr/>
        </p:nvSpPr>
        <p:spPr>
          <a:xfrm>
            <a:off x="457200" y="2194560"/>
            <a:ext cx="146304" cy="1207008"/>
          </a:xfrm>
          <a:prstGeom prst="roundRect">
            <a:avLst>
              <a:gd name="adj" fmla="val 25000"/>
            </a:avLst>
          </a:prstGeom>
          <a:solidFill>
            <a:srgbClr val="3776A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9" name="Text 7"/>
          <p:cNvSpPr/>
          <p:nvPr/>
        </p:nvSpPr>
        <p:spPr>
          <a:xfrm>
            <a:off x="777240" y="2304288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3776A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전문가화 (Specialize)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777240" y="269748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600" dirty="0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범용 Claude에 "우리 회사 방식·체크리스트"를 입혀 그 일에 능숙한 전문가로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57200" y="3493008"/>
            <a:ext cx="7863840" cy="1207008"/>
          </a:xfrm>
          <a:prstGeom prst="roundRect">
            <a:avLst>
              <a:gd name="adj" fmla="val 6061"/>
            </a:avLst>
          </a:prstGeom>
          <a:solidFill>
            <a:srgbClr val="F5F5F7"/>
          </a:solidFill>
          <a:ln w="12700">
            <a:solidFill>
              <a:srgbClr val="DDDDE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Shape 10"/>
          <p:cNvSpPr/>
          <p:nvPr/>
        </p:nvSpPr>
        <p:spPr>
          <a:xfrm>
            <a:off x="457200" y="3493008"/>
            <a:ext cx="146304" cy="1207008"/>
          </a:xfrm>
          <a:prstGeom prst="roundRect">
            <a:avLst>
              <a:gd name="adj" fmla="val 25000"/>
            </a:avLst>
          </a:prstGeom>
          <a:solidFill>
            <a:srgbClr val="1A6E3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1"/>
          <p:cNvSpPr/>
          <p:nvPr/>
        </p:nvSpPr>
        <p:spPr>
          <a:xfrm>
            <a:off x="777240" y="3602736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A6E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반복 제거 (Reduce repetition)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777240" y="3995928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600" dirty="0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 번 만들면 관련 상황에서 알아서 재사용 — 매번 설명할 필요 없음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457200" y="4791456"/>
            <a:ext cx="7863840" cy="1207008"/>
          </a:xfrm>
          <a:prstGeom prst="roundRect">
            <a:avLst>
              <a:gd name="adj" fmla="val 6061"/>
            </a:avLst>
          </a:prstGeom>
          <a:solidFill>
            <a:srgbClr val="F5F5F7"/>
          </a:solidFill>
          <a:ln w="12700">
            <a:solidFill>
              <a:srgbClr val="DDDDE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Shape 14"/>
          <p:cNvSpPr/>
          <p:nvPr/>
        </p:nvSpPr>
        <p:spPr>
          <a:xfrm>
            <a:off x="457200" y="4791456"/>
            <a:ext cx="146304" cy="1207008"/>
          </a:xfrm>
          <a:prstGeom prst="roundRect">
            <a:avLst>
              <a:gd name="adj" fmla="val 25000"/>
            </a:avLst>
          </a:prstGeom>
          <a:solidFill>
            <a:srgbClr val="1A5E7E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5"/>
          <p:cNvSpPr/>
          <p:nvPr/>
        </p:nvSpPr>
        <p:spPr>
          <a:xfrm>
            <a:off x="777240" y="4901184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A5E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조합 (Compose)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777240" y="5294376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600" dirty="0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여러 Skill을 이어 붙여 복잡한 업무 </a:t>
            </a:r>
            <a:r>
              <a:rPr lang="en-US" sz="1600" dirty="0" err="1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흐름을</a:t>
            </a:r>
            <a:r>
              <a:rPr lang="en-US" sz="1600" dirty="0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r>
              <a:rPr lang="en-US" sz="1600" dirty="0" err="1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구성</a:t>
            </a:r>
            <a:r>
              <a:rPr lang="en-US" sz="1600" dirty="0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  <a:sym typeface="Wingdings" panose="05000000000000000000" pitchFamily="2" charset="2"/>
              </a:rPr>
              <a:t></a:t>
            </a:r>
            <a:r>
              <a:rPr lang="ko-KR" altLang="en-US" sz="1600" dirty="0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  <a:sym typeface="Wingdings" panose="05000000000000000000" pitchFamily="2" charset="2"/>
              </a:rPr>
              <a:t>스킬</a:t>
            </a:r>
            <a:r>
              <a:rPr lang="en-US" altLang="ko-KR" sz="1600" dirty="0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  <a:sym typeface="Wingdings" panose="05000000000000000000" pitchFamily="2" charset="2"/>
              </a:rPr>
              <a:t>+</a:t>
            </a:r>
            <a:r>
              <a:rPr lang="ko-KR" altLang="en-US" sz="1600" dirty="0" err="1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  <a:sym typeface="Wingdings" panose="05000000000000000000" pitchFamily="2" charset="2"/>
              </a:rPr>
              <a:t>에이젼트로</a:t>
            </a:r>
            <a:r>
              <a:rPr lang="ko-KR" altLang="en-US" sz="1600" dirty="0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  <a:sym typeface="Wingdings" panose="05000000000000000000" pitchFamily="2" charset="2"/>
              </a:rPr>
              <a:t> 고도화</a:t>
            </a:r>
            <a:endParaRPr lang="en-US" sz="1600" dirty="0"/>
          </a:p>
        </p:txBody>
      </p:sp>
      <p:pic>
        <p:nvPicPr>
          <p:cNvPr id="19" name="Image 0" descr="C:\Users\hiond\plugins\courseware\output\ictk-automation-bootcamp\decks\03-skill-basics\images\s3_skill_recipe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8595360" y="2194560"/>
            <a:ext cx="5577840" cy="3657600"/>
          </a:xfrm>
          <a:prstGeom prst="rect">
            <a:avLst/>
          </a:prstGeom>
        </p:spPr>
      </p:pic>
      <p:sp>
        <p:nvSpPr>
          <p:cNvPr id="20" name="Shape 17"/>
          <p:cNvSpPr/>
          <p:nvPr/>
        </p:nvSpPr>
        <p:spPr>
          <a:xfrm>
            <a:off x="457200" y="6172200"/>
            <a:ext cx="7863840" cy="548640"/>
          </a:xfrm>
          <a:prstGeom prst="roundRect">
            <a:avLst>
              <a:gd name="adj" fmla="val 13333"/>
            </a:avLst>
          </a:prstGeom>
          <a:solidFill>
            <a:srgbClr val="CCFBF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1" name="Text 18"/>
          <p:cNvSpPr/>
          <p:nvPr/>
        </p:nvSpPr>
        <p:spPr>
          <a:xfrm>
            <a:off x="640080" y="6172200"/>
            <a:ext cx="7498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6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쉬운 비유: Skill은 요리 레시피 — 한 번 적어두면 매번 같은 결과를 빠르게 재현합니다.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3624560" y="786384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600">
                <a:solidFill>
                  <a:srgbClr val="6B6B7B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lang="en-US" b="0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457200" y="411480"/>
            <a:ext cx="13716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SKILL.md 구조 — 1회차 5요소의 확장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069848"/>
            <a:ext cx="1371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0D948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① 설정 칸(언제 </a:t>
            </a:r>
            <a:r>
              <a:rPr lang="en-US" sz="2000" b="1" dirty="0" err="1">
                <a:solidFill>
                  <a:srgbClr val="0D948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쓸지</a:t>
            </a:r>
            <a:r>
              <a:rPr lang="en-US" sz="2000" b="1" dirty="0">
                <a:solidFill>
                  <a:srgbClr val="0D948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): Formatter</a:t>
            </a:r>
            <a:r>
              <a:rPr lang="ko-KR" altLang="en-US" sz="2000" b="1" dirty="0">
                <a:solidFill>
                  <a:srgbClr val="0D948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라고 부름</a:t>
            </a:r>
            <a:r>
              <a:rPr lang="en-US" sz="2000" b="1" dirty="0">
                <a:solidFill>
                  <a:srgbClr val="0D948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② 본문(어떻게 할지)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1600200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위에서 아래로 읽는 구조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457200" y="2057400"/>
            <a:ext cx="6675120" cy="777240"/>
          </a:xfrm>
          <a:prstGeom prst="roundRect">
            <a:avLst>
              <a:gd name="adj" fmla="val 7059"/>
            </a:avLst>
          </a:prstGeom>
          <a:solidFill>
            <a:srgbClr val="05966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/>
          <p:nvPr/>
        </p:nvSpPr>
        <p:spPr>
          <a:xfrm>
            <a:off x="457200" y="2057400"/>
            <a:ext cx="6675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① 설정 칸 시작 (---)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name(스킬 이름) · description(무엇을·언제)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457200" y="2971800"/>
            <a:ext cx="6675120" cy="777240"/>
          </a:xfrm>
          <a:prstGeom prst="roundRect">
            <a:avLst>
              <a:gd name="adj" fmla="val 7059"/>
            </a:avLst>
          </a:prstGeom>
          <a:solidFill>
            <a:srgbClr val="D9770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9" name="Text 7"/>
          <p:cNvSpPr/>
          <p:nvPr/>
        </p:nvSpPr>
        <p:spPr>
          <a:xfrm>
            <a:off x="457200" y="2971800"/>
            <a:ext cx="6675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② 설정 칸 끝 (---)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457200" y="3886200"/>
            <a:ext cx="6675120" cy="777240"/>
          </a:xfrm>
          <a:prstGeom prst="roundRect">
            <a:avLst>
              <a:gd name="adj" fmla="val 7059"/>
            </a:avLst>
          </a:prstGeom>
          <a:solidFill>
            <a:srgbClr val="05966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/>
          <p:cNvSpPr/>
          <p:nvPr/>
        </p:nvSpPr>
        <p:spPr>
          <a:xfrm>
            <a:off x="457200" y="3886200"/>
            <a:ext cx="6675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③ 본문(자연어 지침)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= 1회차 5요소(역할·맥락·입력·작업방법·출력·제약)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589520" y="1600200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본문 = 5요소의 확장</a:t>
            </a:r>
            <a:endParaRPr lang="en-US" sz="17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589520" y="2057400"/>
          <a:ext cx="6583680" cy="2596896"/>
        </p:xfrm>
        <a:graphic>
          <a:graphicData uri="http://schemas.openxmlformats.org/drawingml/2006/table">
            <a:tbl>
              <a:tblPr/>
              <a:tblGrid>
                <a:gridCol w="2011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572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2C292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본문 섹션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2C292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적는 내용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1323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50506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목표·역할·맥락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50506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무엇을 위해, 어떤 역할로, 어떤 상황에서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1323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50506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입력·작업방법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50506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받을 정보 / 따라야 할 단계·체크리스트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1323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50506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출력·제약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50506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결과 형식 / 하지 말아야 할 것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pSp>
        <p:nvGrpSpPr>
          <p:cNvPr id="16" name="그룹 15">
            <a:extLst>
              <a:ext uri="{FF2B5EF4-FFF2-40B4-BE49-F238E27FC236}">
                <a16:creationId xmlns:a16="http://schemas.microsoft.com/office/drawing/2014/main" id="{41988478-81F1-3A45-0D77-A446004B01F3}"/>
              </a:ext>
            </a:extLst>
          </p:cNvPr>
          <p:cNvGrpSpPr/>
          <p:nvPr/>
        </p:nvGrpSpPr>
        <p:grpSpPr>
          <a:xfrm>
            <a:off x="457200" y="5006335"/>
            <a:ext cx="13716000" cy="777240"/>
            <a:chOff x="457200" y="5156357"/>
            <a:chExt cx="13716000" cy="777240"/>
          </a:xfrm>
        </p:grpSpPr>
        <p:sp>
          <p:nvSpPr>
            <p:cNvPr id="14" name="Shape 11"/>
            <p:cNvSpPr/>
            <p:nvPr/>
          </p:nvSpPr>
          <p:spPr>
            <a:xfrm>
              <a:off x="457200" y="5156357"/>
              <a:ext cx="13716000" cy="777240"/>
            </a:xfrm>
            <a:prstGeom prst="roundRect">
              <a:avLst>
                <a:gd name="adj" fmla="val 9412"/>
              </a:avLst>
            </a:prstGeom>
            <a:solidFill>
              <a:srgbClr val="CCFBF1"/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5" name="Text 12"/>
            <p:cNvSpPr/>
            <p:nvPr/>
          </p:nvSpPr>
          <p:spPr>
            <a:xfrm>
              <a:off x="640080" y="5156357"/>
              <a:ext cx="13350240" cy="77724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l">
                <a:lnSpc>
                  <a:spcPct val="105000"/>
                </a:lnSpc>
                <a:buNone/>
              </a:pPr>
              <a:r>
                <a:rPr lang="en-US" sz="1600" b="1" dirty="0">
                  <a:solidFill>
                    <a:srgbClr val="2C2926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꼭 필요한 건 — </a:t>
              </a:r>
              <a:r>
                <a:rPr lang="en-US" sz="1600" b="1" dirty="0" err="1">
                  <a:solidFill>
                    <a:srgbClr val="2C2926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설명</a:t>
              </a:r>
              <a:r>
                <a:rPr lang="en-US" sz="1600" b="1" dirty="0">
                  <a:solidFill>
                    <a:srgbClr val="2C2926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 한 줄(description: 무엇+언제). 본문은 짧게(권장 500줄 </a:t>
              </a:r>
              <a:r>
                <a:rPr lang="en-US" sz="1600" b="1" dirty="0" err="1">
                  <a:solidFill>
                    <a:srgbClr val="2C2926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이하</a:t>
              </a:r>
              <a:r>
                <a:rPr lang="en-US" sz="1600" b="1" dirty="0">
                  <a:solidFill>
                    <a:srgbClr val="2C2926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), name</a:t>
              </a:r>
              <a:r>
                <a:rPr lang="ko-KR" altLang="en-US" sz="1600" b="1" dirty="0">
                  <a:solidFill>
                    <a:srgbClr val="2C2926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은 옵션</a:t>
              </a:r>
              <a:endParaRPr lang="en-US" sz="16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endParaRPr>
            </a:p>
            <a:p>
              <a:pPr marL="0" indent="0" algn="l">
                <a:lnSpc>
                  <a:spcPct val="105000"/>
                </a:lnSpc>
                <a:buNone/>
              </a:pPr>
              <a:r>
                <a:rPr lang="en-US" sz="1600" b="1" dirty="0">
                  <a:solidFill>
                    <a:srgbClr val="2C2926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한 번 불려오면 대화 내내 남아 길수록 매번 비용이 듭니다.</a:t>
              </a:r>
              <a:endParaRPr lang="en-US" sz="1600" dirty="0"/>
            </a:p>
          </p:txBody>
        </p:sp>
      </p:grp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3624560" y="786384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600">
                <a:solidFill>
                  <a:srgbClr val="6B6B7B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  <p:graphicFrame>
        <p:nvGraphicFramePr>
          <p:cNvPr id="17" name="Table 0">
            <a:extLst>
              <a:ext uri="{FF2B5EF4-FFF2-40B4-BE49-F238E27FC236}">
                <a16:creationId xmlns:a16="http://schemas.microsoft.com/office/drawing/2014/main" id="{9EE374B4-5AC6-97DF-C699-4BD5CA09AE9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11876953"/>
              </p:ext>
            </p:extLst>
          </p:nvPr>
        </p:nvGraphicFramePr>
        <p:xfrm>
          <a:off x="507207" y="6287356"/>
          <a:ext cx="13716000" cy="1341120"/>
        </p:xfrm>
        <a:graphic>
          <a:graphicData uri="http://schemas.openxmlformats.org/drawingml/2006/table">
            <a:tbl>
              <a:tblPr/>
              <a:tblGrid>
                <a:gridCol w="367188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4411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88471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1600" b="1" dirty="0">
                          <a:solidFill>
                            <a:srgbClr val="2C292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옵션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1600" b="1" dirty="0">
                          <a:solidFill>
                            <a:srgbClr val="2C292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설명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4015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50506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disable-model-invocation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50506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true </a:t>
                      </a:r>
                      <a:r>
                        <a:rPr lang="ko-KR" altLang="en-US" sz="1600" dirty="0">
                          <a:solidFill>
                            <a:srgbClr val="50506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설정 시 자동 호출 차단</a:t>
                      </a:r>
                      <a:r>
                        <a:rPr lang="en-US" altLang="ko-KR" sz="1600" dirty="0">
                          <a:solidFill>
                            <a:srgbClr val="50506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. ‘/’ </a:t>
                      </a:r>
                      <a:r>
                        <a:rPr lang="ko-KR" altLang="en-US" sz="1600" dirty="0">
                          <a:solidFill>
                            <a:srgbClr val="50506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명령으로만 호출됨</a:t>
                      </a:r>
                      <a:r>
                        <a:rPr lang="en-US" altLang="ko-KR" sz="1600" dirty="0">
                          <a:solidFill>
                            <a:srgbClr val="50506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. Default</a:t>
                      </a:r>
                      <a:r>
                        <a:rPr lang="ko-KR" altLang="en-US" sz="1600" dirty="0">
                          <a:solidFill>
                            <a:srgbClr val="50506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는 </a:t>
                      </a:r>
                      <a:r>
                        <a:rPr lang="en-US" altLang="ko-KR" sz="1600" dirty="0">
                          <a:solidFill>
                            <a:srgbClr val="50506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false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4015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50506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user-invocable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altLang="ko-KR" sz="1600" dirty="0">
                          <a:solidFill>
                            <a:srgbClr val="50506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false </a:t>
                      </a:r>
                      <a:r>
                        <a:rPr lang="ko-KR" altLang="en-US" sz="1600" dirty="0">
                          <a:solidFill>
                            <a:srgbClr val="50506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설정 시 </a:t>
                      </a:r>
                      <a:r>
                        <a:rPr lang="en-US" altLang="ko-KR" sz="1600" dirty="0">
                          <a:solidFill>
                            <a:srgbClr val="50506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‘/’ </a:t>
                      </a:r>
                      <a:r>
                        <a:rPr lang="ko-KR" altLang="en-US" sz="1600" dirty="0">
                          <a:solidFill>
                            <a:srgbClr val="50506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명령으로 호출 차단</a:t>
                      </a:r>
                      <a:r>
                        <a:rPr lang="en-US" altLang="ko-KR" sz="1600" dirty="0">
                          <a:solidFill>
                            <a:srgbClr val="50506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. Default</a:t>
                      </a:r>
                      <a:r>
                        <a:rPr lang="ko-KR" altLang="en-US" sz="1600" dirty="0">
                          <a:solidFill>
                            <a:srgbClr val="50506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는 </a:t>
                      </a:r>
                      <a:r>
                        <a:rPr lang="en-US" altLang="ko-KR" sz="1600" dirty="0">
                          <a:solidFill>
                            <a:srgbClr val="50506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true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4015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50506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allowed-tools / disallowed-tools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1600" dirty="0">
                          <a:solidFill>
                            <a:srgbClr val="50506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사용 가능한 툴 또는 사용 불가능한 툴 리스트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8" name="Text 10">
            <a:extLst>
              <a:ext uri="{FF2B5EF4-FFF2-40B4-BE49-F238E27FC236}">
                <a16:creationId xmlns:a16="http://schemas.microsoft.com/office/drawing/2014/main" id="{0C85267D-D742-4E2A-63F9-A70DA1DAD04B}"/>
              </a:ext>
            </a:extLst>
          </p:cNvPr>
          <p:cNvSpPr/>
          <p:nvPr/>
        </p:nvSpPr>
        <p:spPr>
          <a:xfrm>
            <a:off x="457200" y="5873971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ko-KR" altLang="en-US" sz="17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 외 주요 </a:t>
            </a:r>
            <a:r>
              <a:rPr lang="en-US" altLang="ko-KR" sz="17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Skill Formatter </a:t>
            </a:r>
            <a:r>
              <a:rPr lang="ko-KR" altLang="en-US" sz="17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옵션</a:t>
            </a:r>
            <a:endParaRPr lang="en-US" sz="1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A54A19-87BA-98B6-C2B4-BA7A4C7C6B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>
            <a:extLst>
              <a:ext uri="{FF2B5EF4-FFF2-40B4-BE49-F238E27FC236}">
                <a16:creationId xmlns:a16="http://schemas.microsoft.com/office/drawing/2014/main" id="{EEFB4A56-D9AD-8C6B-1608-B6C3910C7D15}"/>
              </a:ext>
            </a:extLst>
          </p:cNvPr>
          <p:cNvSpPr/>
          <p:nvPr/>
        </p:nvSpPr>
        <p:spPr>
          <a:xfrm>
            <a:off x="457200" y="411480"/>
            <a:ext cx="13716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SKILL.md 구조 — Tools </a:t>
            </a:r>
            <a:r>
              <a:rPr lang="ko-KR" altLang="en-US" sz="32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리스트</a:t>
            </a:r>
            <a:endParaRPr lang="en-US" sz="32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77BCF956-0341-B0D2-E94E-2BFB4A0251AE}"/>
              </a:ext>
            </a:extLst>
          </p:cNvPr>
          <p:cNvSpPr/>
          <p:nvPr/>
        </p:nvSpPr>
        <p:spPr>
          <a:xfrm>
            <a:off x="457200" y="1069848"/>
            <a:ext cx="1371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ko-KR" altLang="en-US" sz="2000" b="1" dirty="0">
                <a:solidFill>
                  <a:srgbClr val="0D948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보안 강화를 위해 </a:t>
            </a:r>
            <a:r>
              <a:rPr lang="en-US" altLang="ko-KR" sz="2000" b="1" dirty="0">
                <a:solidFill>
                  <a:srgbClr val="0D948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allowed-tools, disallowed-tools</a:t>
            </a:r>
            <a:r>
              <a:rPr lang="ko-KR" altLang="en-US" sz="2000" b="1" dirty="0">
                <a:solidFill>
                  <a:srgbClr val="0D948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를 추가로 지정할 수 있음</a:t>
            </a:r>
            <a:endParaRPr lang="en-US" sz="2000" dirty="0"/>
          </a:p>
        </p:txBody>
      </p:sp>
      <p:sp>
        <p:nvSpPr>
          <p:cNvPr id="25" name="Slide Number Placeholder 0">
            <a:extLst>
              <a:ext uri="{FF2B5EF4-FFF2-40B4-BE49-F238E27FC236}">
                <a16:creationId xmlns:a16="http://schemas.microsoft.com/office/drawing/2014/main" id="{8DF4F673-346E-AC34-8F59-87CD283F0E7F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3624560" y="786384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600">
                <a:solidFill>
                  <a:srgbClr val="6B6B7B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lang="en-US" b="0"/>
              <a:t>5</a:t>
            </a:fld>
            <a:endParaRPr lang="en-US"/>
          </a:p>
        </p:txBody>
      </p:sp>
      <p:sp>
        <p:nvSpPr>
          <p:cNvPr id="600" name="card600"/>
          <p:cNvSpPr/>
          <p:nvPr/>
        </p:nvSpPr>
        <p:spPr>
          <a:xfrm>
            <a:off x="457200" y="1625600"/>
            <a:ext cx="4381500" cy="267970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9525">
            <a:solidFill>
              <a:srgbClr val="0D9488"/>
            </a:solidFill>
          </a:ln>
        </p:spPr>
        <p:txBody>
          <a:bodyPr lIns="0" tIns="0" rIns="0" bIns="0" rtlCol="0" anchor="t">
            <a:normAutofit/>
          </a:bodyPr>
          <a:lstStyle/>
          <a:p>
            <a:endParaRPr lang="ko-KR"/>
          </a:p>
        </p:txBody>
      </p:sp>
      <p:sp>
        <p:nvSpPr>
          <p:cNvPr id="601" name="card601"/>
          <p:cNvSpPr/>
          <p:nvPr/>
        </p:nvSpPr>
        <p:spPr>
          <a:xfrm>
            <a:off x="635000" y="1778000"/>
            <a:ext cx="4025900" cy="2374900"/>
          </a:xfrm>
          <a:prstGeom prst="rect">
            <a:avLst/>
          </a:prstGeom>
          <a:noFill/>
          <a:ln>
            <a:noFill/>
          </a:ln>
        </p:spPr>
        <p:txBody>
          <a:bodyPr lIns="45720" tIns="45720" rIns="45720" bIns="0" rtlCol="0" anchor="t">
            <a:normAutofit/>
          </a:bodyPr>
          <a:lstStyle/>
          <a:p>
            <a:pPr marL="0" indent="0">
              <a:spcAft>
                <a:spcPts val="600"/>
              </a:spcAft>
              <a:buNone/>
            </a:pPr>
            <a:r>
              <a:rPr lang="ko-KR" altLang="en-US" sz="1700" b="1" dirty="0">
                <a:solidFill>
                  <a:srgbClr val="0D948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📁 파일 작업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ko-KR" altLang="en-US" sz="14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Read</a:t>
            </a:r>
            <a:r>
              <a:rPr lang="ko-KR" altLang="en-US" sz="1400" b="0" dirty="0">
                <a:solidFill>
                  <a:srgbClr val="6B66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·  파일 읽기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ko-KR" altLang="en-US" sz="14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Write</a:t>
            </a:r>
            <a:r>
              <a:rPr lang="ko-KR" altLang="en-US" sz="1400" b="0" dirty="0">
                <a:solidFill>
                  <a:srgbClr val="6B66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·  파일 신규 생성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ko-KR" altLang="en-US" sz="14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Edit</a:t>
            </a:r>
            <a:r>
              <a:rPr lang="ko-KR" altLang="en-US" sz="1400" b="0" dirty="0">
                <a:solidFill>
                  <a:srgbClr val="6B66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·  diff 방식 수정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ko-KR" altLang="en-US" sz="14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NotebookEdit</a:t>
            </a:r>
            <a:r>
              <a:rPr lang="ko-KR" altLang="en-US" sz="1400" b="0" dirty="0">
                <a:solidFill>
                  <a:srgbClr val="6B66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·  노트북 편집</a:t>
            </a:r>
          </a:p>
        </p:txBody>
      </p:sp>
      <p:sp>
        <p:nvSpPr>
          <p:cNvPr id="602" name="card602"/>
          <p:cNvSpPr/>
          <p:nvPr/>
        </p:nvSpPr>
        <p:spPr>
          <a:xfrm>
            <a:off x="5118100" y="1625600"/>
            <a:ext cx="4381500" cy="267970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9525">
            <a:solidFill>
              <a:srgbClr val="0D9488"/>
            </a:solidFill>
          </a:ln>
        </p:spPr>
        <p:txBody>
          <a:bodyPr lIns="0" tIns="0" rIns="0" bIns="0" rtlCol="0" anchor="t">
            <a:normAutofit/>
          </a:bodyPr>
          <a:lstStyle/>
          <a:p>
            <a:endParaRPr lang="ko-KR"/>
          </a:p>
        </p:txBody>
      </p:sp>
      <p:sp>
        <p:nvSpPr>
          <p:cNvPr id="603" name="card603"/>
          <p:cNvSpPr/>
          <p:nvPr/>
        </p:nvSpPr>
        <p:spPr>
          <a:xfrm>
            <a:off x="5295900" y="1778000"/>
            <a:ext cx="4025900" cy="2374900"/>
          </a:xfrm>
          <a:prstGeom prst="rect">
            <a:avLst/>
          </a:prstGeom>
          <a:noFill/>
          <a:ln>
            <a:noFill/>
          </a:ln>
        </p:spPr>
        <p:txBody>
          <a:bodyPr lIns="45720" tIns="45720" rIns="45720" bIns="0" rtlCol="0" anchor="t">
            <a:normAutofit/>
          </a:bodyPr>
          <a:lstStyle/>
          <a:p>
            <a:pPr marL="0" indent="0">
              <a:spcAft>
                <a:spcPts val="600"/>
              </a:spcAft>
              <a:buNone/>
            </a:pPr>
            <a:r>
              <a:rPr lang="ko-KR" altLang="en-US" sz="1700" b="1" dirty="0">
                <a:solidFill>
                  <a:srgbClr val="0D948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🔍 검색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ko-KR" altLang="en-US" sz="14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Glob</a:t>
            </a:r>
            <a:r>
              <a:rPr lang="ko-KR" altLang="en-US" sz="1400" b="0" dirty="0">
                <a:solidFill>
                  <a:srgbClr val="6B66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·  파일 패턴 검색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ko-KR" altLang="en-US" sz="14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Grep</a:t>
            </a:r>
            <a:r>
              <a:rPr lang="ko-KR" altLang="en-US" sz="1400" b="0" dirty="0">
                <a:solidFill>
                  <a:srgbClr val="6B66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·  내용 정규식 검색</a:t>
            </a:r>
          </a:p>
        </p:txBody>
      </p:sp>
      <p:sp>
        <p:nvSpPr>
          <p:cNvPr id="604" name="card604"/>
          <p:cNvSpPr/>
          <p:nvPr/>
        </p:nvSpPr>
        <p:spPr>
          <a:xfrm>
            <a:off x="9779000" y="1625600"/>
            <a:ext cx="4381500" cy="267970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9525">
            <a:solidFill>
              <a:srgbClr val="0D9488"/>
            </a:solidFill>
          </a:ln>
        </p:spPr>
        <p:txBody>
          <a:bodyPr lIns="0" tIns="0" rIns="0" bIns="0" rtlCol="0" anchor="t">
            <a:normAutofit/>
          </a:bodyPr>
          <a:lstStyle/>
          <a:p>
            <a:endParaRPr lang="ko-KR"/>
          </a:p>
        </p:txBody>
      </p:sp>
      <p:sp>
        <p:nvSpPr>
          <p:cNvPr id="605" name="card605"/>
          <p:cNvSpPr/>
          <p:nvPr/>
        </p:nvSpPr>
        <p:spPr>
          <a:xfrm>
            <a:off x="9956800" y="1778000"/>
            <a:ext cx="4025900" cy="2374900"/>
          </a:xfrm>
          <a:prstGeom prst="rect">
            <a:avLst/>
          </a:prstGeom>
          <a:noFill/>
          <a:ln>
            <a:noFill/>
          </a:ln>
        </p:spPr>
        <p:txBody>
          <a:bodyPr lIns="45720" tIns="45720" rIns="45720" bIns="0" rtlCol="0" anchor="t">
            <a:normAutofit/>
          </a:bodyPr>
          <a:lstStyle/>
          <a:p>
            <a:pPr marL="0" indent="0">
              <a:spcAft>
                <a:spcPts val="600"/>
              </a:spcAft>
              <a:buNone/>
            </a:pPr>
            <a:r>
              <a:rPr lang="ko-KR" altLang="en-US" sz="1700" b="1" dirty="0">
                <a:solidFill>
                  <a:srgbClr val="0D948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⚙️ 실행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ko-KR" altLang="en-US" sz="14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Bash</a:t>
            </a:r>
            <a:r>
              <a:rPr lang="ko-KR" altLang="en-US" sz="1400" b="0" dirty="0">
                <a:solidFill>
                  <a:srgbClr val="6B66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·  쉘 명령 실행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ko-KR" altLang="en-US" sz="14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Bash(python3 *)</a:t>
            </a:r>
            <a:r>
              <a:rPr lang="ko-KR" altLang="en-US" sz="1400" b="0" dirty="0">
                <a:solidFill>
                  <a:srgbClr val="6B66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·  명령 세부 제한 가능</a:t>
            </a:r>
          </a:p>
        </p:txBody>
      </p:sp>
      <p:sp>
        <p:nvSpPr>
          <p:cNvPr id="606" name="card606"/>
          <p:cNvSpPr/>
          <p:nvPr/>
        </p:nvSpPr>
        <p:spPr>
          <a:xfrm>
            <a:off x="457200" y="4584700"/>
            <a:ext cx="4381500" cy="267970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9525">
            <a:solidFill>
              <a:srgbClr val="0D9488"/>
            </a:solidFill>
          </a:ln>
        </p:spPr>
        <p:txBody>
          <a:bodyPr lIns="0" tIns="0" rIns="0" bIns="0" rtlCol="0" anchor="t">
            <a:normAutofit/>
          </a:bodyPr>
          <a:lstStyle/>
          <a:p>
            <a:endParaRPr lang="ko-KR"/>
          </a:p>
        </p:txBody>
      </p:sp>
      <p:sp>
        <p:nvSpPr>
          <p:cNvPr id="607" name="card607"/>
          <p:cNvSpPr/>
          <p:nvPr/>
        </p:nvSpPr>
        <p:spPr>
          <a:xfrm>
            <a:off x="635000" y="4737100"/>
            <a:ext cx="4025900" cy="2374900"/>
          </a:xfrm>
          <a:prstGeom prst="rect">
            <a:avLst/>
          </a:prstGeom>
          <a:noFill/>
          <a:ln>
            <a:noFill/>
          </a:ln>
        </p:spPr>
        <p:txBody>
          <a:bodyPr lIns="45720" tIns="45720" rIns="45720" bIns="0" rtlCol="0" anchor="t">
            <a:normAutofit/>
          </a:bodyPr>
          <a:lstStyle/>
          <a:p>
            <a:pPr marL="0" indent="0">
              <a:spcAft>
                <a:spcPts val="600"/>
              </a:spcAft>
              <a:buNone/>
            </a:pPr>
            <a:r>
              <a:rPr lang="ko-KR" altLang="en-US" sz="1700" b="1" dirty="0">
                <a:solidFill>
                  <a:srgbClr val="0D948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🌐 웹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ko-KR" altLang="en-US" sz="14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WebSearch</a:t>
            </a:r>
            <a:r>
              <a:rPr lang="ko-KR" altLang="en-US" sz="1400" b="0" dirty="0">
                <a:solidFill>
                  <a:srgbClr val="6B66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·  웹 검색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ko-KR" altLang="en-US" sz="14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WebFetch</a:t>
            </a:r>
            <a:r>
              <a:rPr lang="ko-KR" altLang="en-US" sz="1400" b="0" dirty="0">
                <a:solidFill>
                  <a:srgbClr val="6B66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·  URL 콘텐츠 가져오기</a:t>
            </a:r>
          </a:p>
        </p:txBody>
      </p:sp>
      <p:sp>
        <p:nvSpPr>
          <p:cNvPr id="608" name="card608"/>
          <p:cNvSpPr/>
          <p:nvPr/>
        </p:nvSpPr>
        <p:spPr>
          <a:xfrm>
            <a:off x="5118100" y="4584700"/>
            <a:ext cx="4381500" cy="267970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9525">
            <a:solidFill>
              <a:srgbClr val="0D9488"/>
            </a:solidFill>
          </a:ln>
        </p:spPr>
        <p:txBody>
          <a:bodyPr lIns="0" tIns="0" rIns="0" bIns="0" rtlCol="0" anchor="t">
            <a:normAutofit/>
          </a:bodyPr>
          <a:lstStyle/>
          <a:p>
            <a:endParaRPr lang="ko-KR"/>
          </a:p>
        </p:txBody>
      </p:sp>
      <p:sp>
        <p:nvSpPr>
          <p:cNvPr id="609" name="card609"/>
          <p:cNvSpPr/>
          <p:nvPr/>
        </p:nvSpPr>
        <p:spPr>
          <a:xfrm>
            <a:off x="5295900" y="4737100"/>
            <a:ext cx="4025900" cy="2374900"/>
          </a:xfrm>
          <a:prstGeom prst="rect">
            <a:avLst/>
          </a:prstGeom>
          <a:noFill/>
          <a:ln>
            <a:noFill/>
          </a:ln>
        </p:spPr>
        <p:txBody>
          <a:bodyPr lIns="45720" tIns="45720" rIns="45720" bIns="0" rtlCol="0" anchor="t">
            <a:normAutofit/>
          </a:bodyPr>
          <a:lstStyle/>
          <a:p>
            <a:pPr marL="0" indent="0">
              <a:spcAft>
                <a:spcPts val="600"/>
              </a:spcAft>
              <a:buNone/>
            </a:pPr>
            <a:r>
              <a:rPr lang="ko-KR" altLang="en-US" sz="1700" b="1" dirty="0">
                <a:solidFill>
                  <a:srgbClr val="0D948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🔗 오케스트레이션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ko-KR" altLang="en-US" sz="14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Agent</a:t>
            </a:r>
            <a:r>
              <a:rPr lang="ko-KR" altLang="en-US" sz="1400" b="0" dirty="0">
                <a:solidFill>
                  <a:srgbClr val="6B66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·  서브에이전트 실행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ko-KR" altLang="en-US" sz="14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Skill</a:t>
            </a:r>
            <a:r>
              <a:rPr lang="ko-KR" altLang="en-US" sz="1400" b="0" dirty="0">
                <a:solidFill>
                  <a:srgbClr val="6B66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·  다른 스킬 호출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ko-KR" altLang="en-US" sz="14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AskUserQuestion</a:t>
            </a:r>
            <a:r>
              <a:rPr lang="ko-KR" altLang="en-US" sz="1400" b="0" dirty="0">
                <a:solidFill>
                  <a:srgbClr val="6B66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·  사용자에게 질문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ko-KR" altLang="en-US" sz="14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TaskCreate</a:t>
            </a:r>
            <a:r>
              <a:rPr lang="ko-KR" altLang="en-US" sz="1400" b="0" dirty="0">
                <a:solidFill>
                  <a:srgbClr val="6B66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·  태스크 생성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ko-KR" altLang="en-US" sz="14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TaskUpdate</a:t>
            </a:r>
            <a:r>
              <a:rPr lang="ko-KR" altLang="en-US" sz="1400" b="0" dirty="0">
                <a:solidFill>
                  <a:srgbClr val="6B66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·  상태 업데이트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ko-KR" altLang="en-US" sz="14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ToolSearch</a:t>
            </a:r>
            <a:r>
              <a:rPr lang="ko-KR" altLang="en-US" sz="1400" b="0" dirty="0">
                <a:solidFill>
                  <a:srgbClr val="6B66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·  도구 검색 / 로드</a:t>
            </a:r>
          </a:p>
        </p:txBody>
      </p:sp>
      <p:sp>
        <p:nvSpPr>
          <p:cNvPr id="610" name="card610"/>
          <p:cNvSpPr/>
          <p:nvPr/>
        </p:nvSpPr>
        <p:spPr>
          <a:xfrm>
            <a:off x="9779000" y="4584700"/>
            <a:ext cx="4381500" cy="267970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9525">
            <a:solidFill>
              <a:srgbClr val="0D9488"/>
            </a:solidFill>
          </a:ln>
        </p:spPr>
        <p:txBody>
          <a:bodyPr lIns="0" tIns="0" rIns="0" bIns="0" rtlCol="0" anchor="t">
            <a:normAutofit/>
          </a:bodyPr>
          <a:lstStyle/>
          <a:p>
            <a:endParaRPr lang="ko-KR"/>
          </a:p>
        </p:txBody>
      </p:sp>
      <p:sp>
        <p:nvSpPr>
          <p:cNvPr id="611" name="card611"/>
          <p:cNvSpPr/>
          <p:nvPr/>
        </p:nvSpPr>
        <p:spPr>
          <a:xfrm>
            <a:off x="9956800" y="4737100"/>
            <a:ext cx="4025900" cy="2374900"/>
          </a:xfrm>
          <a:prstGeom prst="rect">
            <a:avLst/>
          </a:prstGeom>
          <a:noFill/>
          <a:ln>
            <a:noFill/>
          </a:ln>
        </p:spPr>
        <p:txBody>
          <a:bodyPr lIns="45720" tIns="45720" rIns="45720" bIns="0" rtlCol="0" anchor="t">
            <a:normAutofit/>
          </a:bodyPr>
          <a:lstStyle/>
          <a:p>
            <a:pPr marL="0" indent="0">
              <a:spcAft>
                <a:spcPts val="600"/>
              </a:spcAft>
              <a:buNone/>
            </a:pPr>
            <a:r>
              <a:rPr lang="ko-KR" altLang="en-US" sz="1700" b="1" dirty="0">
                <a:solidFill>
                  <a:srgbClr val="0D948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🧩 MCP 도구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ko-KR" altLang="en-US" sz="14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mcp__&lt;server&gt;__&lt;action&gt;</a:t>
            </a:r>
            <a:r>
              <a:rPr lang="ko-KR" altLang="en-US" sz="1400" b="0" dirty="0">
                <a:solidFill>
                  <a:srgbClr val="6B66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·  형식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ko-KR" altLang="en-US" sz="14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mcp__github__create_pr</a:t>
            </a:r>
            <a:r>
              <a:rPr lang="ko-KR" altLang="en-US" sz="1400" b="0" dirty="0">
                <a:solidFill>
                  <a:srgbClr val="6B66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·  예시</a:t>
            </a:r>
          </a:p>
        </p:txBody>
      </p:sp>
      <p:sp>
        <p:nvSpPr>
          <p:cNvPr id="612" name="card612"/>
          <p:cNvSpPr/>
          <p:nvPr/>
        </p:nvSpPr>
        <p:spPr>
          <a:xfrm>
            <a:off x="457200" y="7442200"/>
            <a:ext cx="13716000" cy="457200"/>
          </a:xfrm>
          <a:prstGeom prst="roundRect">
            <a:avLst>
              <a:gd name="adj" fmla="val 4500"/>
            </a:avLst>
          </a:prstGeom>
          <a:solidFill>
            <a:srgbClr val="F4FAF9"/>
          </a:solidFill>
          <a:ln w="9525">
            <a:solidFill>
              <a:srgbClr val="D9EDEB"/>
            </a:solidFill>
          </a:ln>
        </p:spPr>
        <p:txBody>
          <a:bodyPr lIns="0" tIns="0" rIns="0" bIns="0" rtlCol="0" anchor="t">
            <a:normAutofit/>
          </a:bodyPr>
          <a:lstStyle/>
          <a:p>
            <a:endParaRPr lang="ko-KR"/>
          </a:p>
        </p:txBody>
      </p:sp>
      <p:sp>
        <p:nvSpPr>
          <p:cNvPr id="613" name="card613"/>
          <p:cNvSpPr/>
          <p:nvPr/>
        </p:nvSpPr>
        <p:spPr>
          <a:xfrm>
            <a:off x="457200" y="7442200"/>
            <a:ext cx="13716000" cy="457200"/>
          </a:xfrm>
          <a:prstGeom prst="rect">
            <a:avLst/>
          </a:prstGeom>
          <a:noFill/>
          <a:ln>
            <a:noFill/>
          </a:ln>
        </p:spPr>
        <p:txBody>
          <a:bodyPr lIns="45720" tIns="45720" rIns="45720" bIns="0" rtlCol="0" anchor="ctr">
            <a:normAutofit/>
          </a:bodyPr>
          <a:lstStyle/>
          <a:p>
            <a:pPr marL="0" indent="0" algn="ctr">
              <a:buNone/>
            </a:pPr>
            <a:r>
              <a:rPr lang="ko-KR" altLang="en-US" sz="1400" b="1" dirty="0">
                <a:solidFill>
                  <a:srgbClr val="0D948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도구명은 공백·쉼표 구분 모두 가능</a:t>
            </a:r>
            <a:r>
              <a:rPr lang="ko-KR" altLang="en-US" sz="1400" b="0" dirty="0">
                <a:solidFill>
                  <a:srgbClr val="6B66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  allowed-tools 미지정 시 → 모든 도구 허용     ·     출처: code.claude.com/docs · agent-sdk</a:t>
            </a:r>
          </a:p>
        </p:txBody>
      </p:sp>
    </p:spTree>
    <p:extLst>
      <p:ext uri="{BB962C8B-B14F-4D97-AF65-F5344CB8AC3E}">
        <p14:creationId xmlns:p14="http://schemas.microsoft.com/office/powerpoint/2010/main" val="384761226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457200" y="411480"/>
            <a:ext cx="13716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description이 핵심 — 자동으로 불려오는 원리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069848"/>
            <a:ext cx="1371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0D948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평소엔 이름·description만, 맞을 때만 본문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1600200"/>
            <a:ext cx="4206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자동 트리거 흐름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57200" y="2011680"/>
            <a:ext cx="4297680" cy="713232"/>
          </a:xfrm>
          <a:prstGeom prst="roundRect">
            <a:avLst>
              <a:gd name="adj" fmla="val 7692"/>
            </a:avLst>
          </a:prstGeom>
          <a:solidFill>
            <a:srgbClr val="05966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/>
          <p:nvPr/>
        </p:nvSpPr>
        <p:spPr>
          <a:xfrm>
            <a:off x="457200" y="2011680"/>
            <a:ext cx="429768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① 시작 시 이름·description만 인지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457200" y="2852928"/>
            <a:ext cx="4297680" cy="713232"/>
          </a:xfrm>
          <a:prstGeom prst="roundRect">
            <a:avLst>
              <a:gd name="adj" fmla="val 7692"/>
            </a:avLst>
          </a:prstGeom>
          <a:solidFill>
            <a:srgbClr val="D9770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9" name="Text 7"/>
          <p:cNvSpPr/>
          <p:nvPr/>
        </p:nvSpPr>
        <p:spPr>
          <a:xfrm>
            <a:off x="457200" y="2852928"/>
            <a:ext cx="429768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② 내 요청과 비교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457200" y="3694176"/>
            <a:ext cx="4297680" cy="713232"/>
          </a:xfrm>
          <a:prstGeom prst="roundRect">
            <a:avLst>
              <a:gd name="adj" fmla="val 7692"/>
            </a:avLst>
          </a:prstGeom>
          <a:solidFill>
            <a:srgbClr val="05966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/>
          <p:cNvSpPr/>
          <p:nvPr/>
        </p:nvSpPr>
        <p:spPr>
          <a:xfrm>
            <a:off x="457200" y="3694176"/>
            <a:ext cx="429768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③ 맞으면 SKILL.md 본문 불러와 실행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983480" y="1783080"/>
            <a:ext cx="4480560" cy="3108960"/>
          </a:xfrm>
          <a:prstGeom prst="roundRect">
            <a:avLst>
              <a:gd name="adj" fmla="val 2353"/>
            </a:avLst>
          </a:prstGeom>
          <a:solidFill>
            <a:srgbClr val="F5F5F7"/>
          </a:solidFill>
          <a:ln w="12700">
            <a:solidFill>
              <a:srgbClr val="DDDDE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1"/>
          <p:cNvSpPr/>
          <p:nvPr/>
        </p:nvSpPr>
        <p:spPr>
          <a:xfrm>
            <a:off x="5184648" y="1920240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0D948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좋은 description 원칙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212080" y="2377440"/>
            <a:ext cx="4023360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 algn="l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무엇 + 언제를 모두, 사용자가 자연스럽게 말할 키워드로</a:t>
            </a:r>
            <a:endParaRPr lang="en-US" sz="1600" dirty="0"/>
          </a:p>
          <a:p>
            <a:pPr marL="177800" indent="-177800" algn="l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3인칭으로: "엑셀 파일을 처리하고 보고서를 만듦"(O) / "제가 도와드릴게요"(X)</a:t>
            </a:r>
            <a:endParaRPr lang="en-US" sz="1600" dirty="0"/>
          </a:p>
          <a:p>
            <a:pPr marL="177800" indent="-177800" algn="l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"문서 관련 도움을 줌" 같은 모호한 표현 금지</a:t>
            </a:r>
            <a:endParaRPr lang="en-US" sz="1600" dirty="0"/>
          </a:p>
        </p:txBody>
      </p:sp>
      <p:pic>
        <p:nvPicPr>
          <p:cNvPr id="15" name="Image 0" descr="C:\Users\hiond\plugins\courseware\output\ictk-automation-bootcamp\decks\03-skill-basics\images\s5_progressive_disclosure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9692640" y="1783080"/>
            <a:ext cx="4480560" cy="3108960"/>
          </a:xfrm>
          <a:prstGeom prst="rect">
            <a:avLst/>
          </a:prstGeom>
        </p:spPr>
      </p:pic>
      <p:sp>
        <p:nvSpPr>
          <p:cNvPr id="16" name="Shape 13"/>
          <p:cNvSpPr/>
          <p:nvPr/>
        </p:nvSpPr>
        <p:spPr>
          <a:xfrm>
            <a:off x="457200" y="5257800"/>
            <a:ext cx="13716000" cy="731520"/>
          </a:xfrm>
          <a:prstGeom prst="roundRect">
            <a:avLst>
              <a:gd name="adj" fmla="val 10000"/>
            </a:avLst>
          </a:prstGeom>
          <a:solidFill>
            <a:srgbClr val="CCFBF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4"/>
          <p:cNvSpPr/>
          <p:nvPr/>
        </p:nvSpPr>
        <p:spPr>
          <a:xfrm>
            <a:off x="640080" y="5257800"/>
            <a:ext cx="13350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6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 줄 요점: 평소엔 이름표(약 100토큰 = AI가 읽는 글자 분량)만, 쓸 때만 본문을 읽음 → 스킬을 많이 만들어도 평소 부담이 거의 없습니다.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3624560" y="786384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600">
                <a:solidFill>
                  <a:srgbClr val="6B6B7B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lang="en-US" b="0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457200" y="411480"/>
            <a:ext cx="13716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어디에 둘까? — 유저 vs 프로젝트 스코프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069848"/>
            <a:ext cx="1371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0D948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저장 위치가 곧 사용 범위(스코프)</a:t>
            </a:r>
            <a:endParaRPr lang="en-US" sz="20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45920"/>
          <a:ext cx="13716000" cy="2377440"/>
        </p:xfrm>
        <a:graphic>
          <a:graphicData uri="http://schemas.openxmlformats.org/drawingml/2006/table">
            <a:tbl>
              <a:tblPr/>
              <a:tblGrid>
                <a:gridCol w="1737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8463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926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2062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2C292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스코프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2C292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저장 위치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2C292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적용 범위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2C292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적합한 경우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601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b="1" dirty="0">
                          <a:solidFill>
                            <a:srgbClr val="2C292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유저(개인)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50506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~/.claude/skills/이름/SKILL.md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50506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(내 PC의 개인 폴더)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50506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내 모든 폴더에서 사용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50506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나 혼자 두루 쓰는 개인 도구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601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b="1" dirty="0">
                          <a:solidFill>
                            <a:srgbClr val="2C292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프로젝트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50506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.claude/skills/이름/SKILL.md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50506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(이 작업 폴더 안)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50506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그 폴더에서만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50506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팀 공유·특정 프로젝트 전용 절차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502920" y="4251960"/>
            <a:ext cx="137160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 algn="l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호출 이름은 폴더 이름에서 옴 — .claude/skills/summarize-changes/ → /summarize-changes</a:t>
            </a:r>
            <a:endParaRPr lang="en-US" sz="1600" dirty="0"/>
          </a:p>
          <a:p>
            <a:pPr marL="177800" indent="-177800" algn="l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라이브 반영: 만들거나 고치면 보통 재시작 없이 현재 세션에 즉시 적용(SKILL.md 텍스트 기준)</a:t>
            </a:r>
            <a:endParaRPr lang="en-US" sz="1600" dirty="0"/>
          </a:p>
        </p:txBody>
      </p:sp>
      <p:grpSp>
        <p:nvGrpSpPr>
          <p:cNvPr id="9" name="그룹 8">
            <a:extLst>
              <a:ext uri="{FF2B5EF4-FFF2-40B4-BE49-F238E27FC236}">
                <a16:creationId xmlns:a16="http://schemas.microsoft.com/office/drawing/2014/main" id="{8E4C103B-0047-20AD-2694-9776DAB39912}"/>
              </a:ext>
            </a:extLst>
          </p:cNvPr>
          <p:cNvGrpSpPr/>
          <p:nvPr/>
        </p:nvGrpSpPr>
        <p:grpSpPr>
          <a:xfrm>
            <a:off x="457200" y="5440680"/>
            <a:ext cx="13716000" cy="777240"/>
            <a:chOff x="457200" y="5440680"/>
            <a:chExt cx="13716000" cy="777240"/>
          </a:xfrm>
        </p:grpSpPr>
        <p:sp>
          <p:nvSpPr>
            <p:cNvPr id="5" name="Shape 4"/>
            <p:cNvSpPr/>
            <p:nvPr/>
          </p:nvSpPr>
          <p:spPr>
            <a:xfrm>
              <a:off x="457200" y="5440680"/>
              <a:ext cx="13716000" cy="777240"/>
            </a:xfrm>
            <a:prstGeom prst="roundRect">
              <a:avLst>
                <a:gd name="adj" fmla="val 9412"/>
              </a:avLst>
            </a:prstGeom>
            <a:solidFill>
              <a:srgbClr val="CCFBF1"/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8" name="Text 5"/>
            <p:cNvSpPr/>
            <p:nvPr/>
          </p:nvSpPr>
          <p:spPr>
            <a:xfrm>
              <a:off x="640080" y="5440680"/>
              <a:ext cx="13350240" cy="77724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l">
                <a:lnSpc>
                  <a:spcPct val="105000"/>
                </a:lnSpc>
                <a:buNone/>
              </a:pPr>
              <a:r>
                <a:rPr lang="en-US" sz="1600" b="1" dirty="0">
                  <a:solidFill>
                    <a:srgbClr val="2C2926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🔒 </a:t>
              </a:r>
              <a:r>
                <a:rPr lang="en-US" sz="1600" b="1" dirty="0" err="1">
                  <a:solidFill>
                    <a:srgbClr val="2C2926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포인트</a:t>
              </a:r>
              <a:r>
                <a:rPr lang="en-US" sz="1600" b="1" dirty="0">
                  <a:solidFill>
                    <a:srgbClr val="2C2926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: </a:t>
              </a:r>
              <a:r>
                <a:rPr lang="ko-KR" altLang="en-US" sz="1600" b="1" dirty="0">
                  <a:solidFill>
                    <a:srgbClr val="2C2926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타인이 만든 스킬은 사용</a:t>
              </a:r>
              <a:r>
                <a:rPr lang="en-US" sz="1600" b="1" dirty="0">
                  <a:solidFill>
                    <a:srgbClr val="2C2926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 전</a:t>
              </a:r>
              <a:r>
                <a:rPr lang="ko-KR" altLang="en-US" sz="1600" b="1" dirty="0">
                  <a:solidFill>
                    <a:srgbClr val="2C2926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에</a:t>
              </a:r>
              <a:r>
                <a:rPr lang="en-US" sz="1600" b="1" dirty="0">
                  <a:solidFill>
                    <a:srgbClr val="2C2926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 스킬 내용을 검토하는 것이 "데이터 격리·사람 최종 승인" 기본기와 연결됩니다.</a:t>
              </a:r>
              <a:endParaRPr lang="en-US" sz="1600" dirty="0"/>
            </a:p>
          </p:txBody>
        </p:sp>
      </p:grp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3624560" y="786384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600">
                <a:solidFill>
                  <a:srgbClr val="6B6B7B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lang="en-US" b="0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457200" y="411480"/>
            <a:ext cx="13716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만들지 말고 바로 쓰기 — Claude </a:t>
            </a:r>
            <a:r>
              <a:rPr lang="en-US" sz="3200" b="1" dirty="0" err="1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내장</a:t>
            </a:r>
            <a:r>
              <a:rPr lang="en-US" sz="32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(Built-in) 스킬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069848"/>
            <a:ext cx="1371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0D948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프롬프트 박스에 "/"만 입력 (설치 불필요)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457200" y="1687350"/>
            <a:ext cx="4434840" cy="2262858"/>
          </a:xfrm>
          <a:prstGeom prst="roundRect">
            <a:avLst>
              <a:gd name="adj" fmla="val 2807"/>
            </a:avLst>
          </a:prstGeom>
          <a:solidFill>
            <a:srgbClr val="F5F5F7"/>
          </a:solidFill>
          <a:ln w="12700">
            <a:solidFill>
              <a:srgbClr val="DDDDE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457200" y="1687350"/>
            <a:ext cx="4434840" cy="502920"/>
          </a:xfrm>
          <a:prstGeom prst="roundRect">
            <a:avLst>
              <a:gd name="adj" fmla="val 14545"/>
            </a:avLst>
          </a:prstGeom>
          <a:solidFill>
            <a:srgbClr val="3776A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/>
          <p:nvPr/>
        </p:nvSpPr>
        <p:spPr>
          <a:xfrm>
            <a:off x="457200" y="1687350"/>
            <a:ext cx="4434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/goal · 목표 끝까지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58368" y="2309142"/>
            <a:ext cx="4032504" cy="1874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 algn="l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완료 조건을 선언하면 그 조건이 충족될 때까지 Claude가 턴을 넘어 계속 작업</a:t>
            </a:r>
            <a:endParaRPr lang="en-US" sz="1600" dirty="0"/>
          </a:p>
          <a:p>
            <a:pPr marL="177800" indent="-177800" algn="l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(예: "테스트가 통과할 때까지")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093208" y="1687350"/>
            <a:ext cx="4434840" cy="2262858"/>
          </a:xfrm>
          <a:prstGeom prst="roundRect">
            <a:avLst>
              <a:gd name="adj" fmla="val 2807"/>
            </a:avLst>
          </a:prstGeom>
          <a:solidFill>
            <a:srgbClr val="F5F5F7"/>
          </a:solidFill>
          <a:ln w="12700">
            <a:solidFill>
              <a:srgbClr val="DDDDE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8"/>
          <p:cNvSpPr/>
          <p:nvPr/>
        </p:nvSpPr>
        <p:spPr>
          <a:xfrm>
            <a:off x="5093208" y="1687350"/>
            <a:ext cx="4434840" cy="502920"/>
          </a:xfrm>
          <a:prstGeom prst="roundRect">
            <a:avLst>
              <a:gd name="adj" fmla="val 14545"/>
            </a:avLst>
          </a:prstGeom>
          <a:solidFill>
            <a:srgbClr val="1A6E3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/>
          <p:cNvSpPr/>
          <p:nvPr/>
        </p:nvSpPr>
        <p:spPr>
          <a:xfrm>
            <a:off x="5093208" y="1687350"/>
            <a:ext cx="4434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/code-review · 코드 품질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5294376" y="2309142"/>
            <a:ext cx="4032504" cy="1874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 algn="l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지금 변경한 코드의 버그·정리할 </a:t>
            </a:r>
            <a:r>
              <a:rPr lang="en-US" sz="1600" dirty="0" err="1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곳을</a:t>
            </a:r>
            <a:r>
              <a:rPr lang="en-US" sz="1600" dirty="0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r>
              <a:rPr lang="en-US" sz="1600" dirty="0" err="1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점검</a:t>
            </a:r>
            <a:endParaRPr lang="en-US" sz="1600" dirty="0">
              <a:solidFill>
                <a:srgbClr val="505060"/>
              </a:solidFill>
              <a:latin typeface="Pretendard" pitchFamily="34" charset="0"/>
              <a:ea typeface="Pretendard" pitchFamily="34" charset="-122"/>
              <a:cs typeface="Pretendard" pitchFamily="34" charset="-120"/>
            </a:endParaRPr>
          </a:p>
          <a:p>
            <a:pPr marL="177800" indent="-177800" algn="l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ko-KR" altLang="en-US" sz="1600" dirty="0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변경 사항이 있는 경우에만 수행되므로 수행 전에 </a:t>
            </a:r>
            <a:r>
              <a:rPr lang="en-US" altLang="ko-KR" sz="1600" dirty="0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‘git commit’ </a:t>
            </a:r>
            <a:r>
              <a:rPr lang="ko-KR" altLang="en-US" sz="1600" dirty="0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필요</a:t>
            </a:r>
            <a:endParaRPr lang="en-US" altLang="ko-KR" sz="1600" dirty="0">
              <a:solidFill>
                <a:srgbClr val="505060"/>
              </a:solidFill>
              <a:latin typeface="Pretendard" pitchFamily="34" charset="0"/>
              <a:ea typeface="Pretendard" pitchFamily="34" charset="-122"/>
              <a:cs typeface="Pretendard" pitchFamily="34" charset="-120"/>
            </a:endParaRPr>
          </a:p>
          <a:p>
            <a:pPr marL="177800" indent="-177800" algn="l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ko-KR" altLang="en-US" sz="1600" dirty="0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예</a:t>
            </a:r>
            <a:r>
              <a:rPr lang="en-US" altLang="ko-KR" sz="1600" dirty="0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: /code-review</a:t>
            </a:r>
            <a:r>
              <a:rPr lang="ko-KR" altLang="en-US" sz="1600" dirty="0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r>
              <a:rPr lang="ko-KR" altLang="en-US" sz="1600" dirty="0" err="1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커밋</a:t>
            </a:r>
            <a:r>
              <a:rPr lang="ko-KR" altLang="en-US" sz="1600" dirty="0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후 수행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9729216" y="1687350"/>
            <a:ext cx="4434840" cy="2262858"/>
          </a:xfrm>
          <a:prstGeom prst="roundRect">
            <a:avLst>
              <a:gd name="adj" fmla="val 2807"/>
            </a:avLst>
          </a:prstGeom>
          <a:solidFill>
            <a:srgbClr val="F5F5F7"/>
          </a:solidFill>
          <a:ln w="12700">
            <a:solidFill>
              <a:srgbClr val="DDDDE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Shape 12"/>
          <p:cNvSpPr/>
          <p:nvPr/>
        </p:nvSpPr>
        <p:spPr>
          <a:xfrm>
            <a:off x="9729216" y="1687350"/>
            <a:ext cx="4434840" cy="502920"/>
          </a:xfrm>
          <a:prstGeom prst="roundRect">
            <a:avLst>
              <a:gd name="adj" fmla="val 14545"/>
            </a:avLst>
          </a:prstGeom>
          <a:solidFill>
            <a:srgbClr val="1A5E7E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3"/>
          <p:cNvSpPr/>
          <p:nvPr/>
        </p:nvSpPr>
        <p:spPr>
          <a:xfrm>
            <a:off x="9729216" y="1687350"/>
            <a:ext cx="4434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/security-review · 보안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9930384" y="2309142"/>
            <a:ext cx="4032504" cy="1874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 algn="l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변경분을 </a:t>
            </a:r>
            <a:r>
              <a:rPr lang="en-US" sz="1600" dirty="0" err="1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보안</a:t>
            </a:r>
            <a:r>
              <a:rPr lang="en-US" sz="1600" dirty="0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r>
              <a:rPr lang="en-US" sz="1600" dirty="0" err="1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취약점</a:t>
            </a:r>
            <a:br>
              <a:rPr lang="en-US" sz="1600" dirty="0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</a:br>
            <a:r>
              <a:rPr lang="en-US" sz="1600" dirty="0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(인젝션·인증·데이터 노출) </a:t>
            </a:r>
            <a:r>
              <a:rPr lang="en-US" sz="1600" dirty="0" err="1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관점에서</a:t>
            </a:r>
            <a:r>
              <a:rPr lang="en-US" sz="1600" dirty="0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r>
              <a:rPr lang="en-US" sz="1600" dirty="0" err="1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분석</a:t>
            </a:r>
            <a:endParaRPr lang="en-US" sz="1600" dirty="0">
              <a:solidFill>
                <a:srgbClr val="505060"/>
              </a:solidFill>
              <a:latin typeface="Pretendard" pitchFamily="34" charset="0"/>
              <a:ea typeface="Pretendard" pitchFamily="34" charset="-122"/>
              <a:cs typeface="Pretendard" pitchFamily="34" charset="-120"/>
            </a:endParaRPr>
          </a:p>
          <a:p>
            <a:pPr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ko-KR" altLang="en-US" sz="1600" dirty="0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변경 사항이 있는 경우에만 수행되므로 수행 전에 </a:t>
            </a:r>
            <a:r>
              <a:rPr lang="en-US" altLang="ko-KR" sz="1600" dirty="0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‘git commit’ </a:t>
            </a:r>
            <a:r>
              <a:rPr lang="ko-KR" altLang="en-US" sz="1600" dirty="0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필요</a:t>
            </a:r>
            <a:endParaRPr lang="en-US" altLang="ko-KR" sz="1600" dirty="0">
              <a:solidFill>
                <a:srgbClr val="505060"/>
              </a:solidFill>
              <a:latin typeface="Pretendard" pitchFamily="34" charset="0"/>
              <a:ea typeface="Pretendard" pitchFamily="34" charset="-122"/>
              <a:cs typeface="Pretendard" pitchFamily="34" charset="-120"/>
            </a:endParaRPr>
          </a:p>
          <a:p>
            <a:pPr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ko-KR" altLang="en-US" sz="1600" dirty="0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예</a:t>
            </a:r>
            <a:r>
              <a:rPr lang="en-US" altLang="ko-KR" sz="1600" dirty="0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: /security-review</a:t>
            </a:r>
            <a:r>
              <a:rPr lang="ko-KR" altLang="en-US" sz="1600" dirty="0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r>
              <a:rPr lang="ko-KR" altLang="en-US" sz="1600" dirty="0" err="1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커밋</a:t>
            </a:r>
            <a:r>
              <a:rPr lang="ko-KR" altLang="en-US" sz="1600" dirty="0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후 수행</a:t>
            </a:r>
            <a:endParaRPr lang="en-US" altLang="ko-KR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3624560" y="786384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600">
                <a:solidFill>
                  <a:srgbClr val="6B6B7B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lang="en-US" b="0"/>
              <a:t>8</a:t>
            </a:fld>
            <a:endParaRPr lang="en-US"/>
          </a:p>
        </p:txBody>
      </p:sp>
      <p:grpSp>
        <p:nvGrpSpPr>
          <p:cNvPr id="20" name="그룹 19">
            <a:extLst>
              <a:ext uri="{FF2B5EF4-FFF2-40B4-BE49-F238E27FC236}">
                <a16:creationId xmlns:a16="http://schemas.microsoft.com/office/drawing/2014/main" id="{AF00F178-3554-FB0C-C7B1-7FBB1C139BBA}"/>
              </a:ext>
            </a:extLst>
          </p:cNvPr>
          <p:cNvGrpSpPr/>
          <p:nvPr/>
        </p:nvGrpSpPr>
        <p:grpSpPr>
          <a:xfrm>
            <a:off x="448056" y="6923725"/>
            <a:ext cx="13716000" cy="777240"/>
            <a:chOff x="457200" y="5440680"/>
            <a:chExt cx="13716000" cy="777240"/>
          </a:xfrm>
        </p:grpSpPr>
        <p:sp>
          <p:nvSpPr>
            <p:cNvPr id="21" name="Shape 4">
              <a:extLst>
                <a:ext uri="{FF2B5EF4-FFF2-40B4-BE49-F238E27FC236}">
                  <a16:creationId xmlns:a16="http://schemas.microsoft.com/office/drawing/2014/main" id="{61FAF26D-DF1A-40B4-C084-429EA34D8395}"/>
                </a:ext>
              </a:extLst>
            </p:cNvPr>
            <p:cNvSpPr/>
            <p:nvPr/>
          </p:nvSpPr>
          <p:spPr>
            <a:xfrm>
              <a:off x="457200" y="5440680"/>
              <a:ext cx="13716000" cy="777240"/>
            </a:xfrm>
            <a:prstGeom prst="roundRect">
              <a:avLst>
                <a:gd name="adj" fmla="val 9412"/>
              </a:avLst>
            </a:prstGeom>
            <a:solidFill>
              <a:srgbClr val="CCFBF1"/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2" name="Text 5">
              <a:extLst>
                <a:ext uri="{FF2B5EF4-FFF2-40B4-BE49-F238E27FC236}">
                  <a16:creationId xmlns:a16="http://schemas.microsoft.com/office/drawing/2014/main" id="{683C9724-9A3D-E260-36E1-0091BE1089D9}"/>
                </a:ext>
              </a:extLst>
            </p:cNvPr>
            <p:cNvSpPr/>
            <p:nvPr/>
          </p:nvSpPr>
          <p:spPr>
            <a:xfrm>
              <a:off x="640080" y="5440680"/>
              <a:ext cx="13350240" cy="77724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>
                <a:lnSpc>
                  <a:spcPct val="105000"/>
                </a:lnSpc>
              </a:pPr>
              <a:r>
                <a:rPr lang="ko-KR" altLang="en-US" sz="1600" b="1" dirty="0">
                  <a:solidFill>
                    <a:srgbClr val="2C2926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전체 </a:t>
              </a:r>
              <a:r>
                <a:rPr lang="en-US" altLang="ko-KR" sz="1600" b="1" dirty="0">
                  <a:solidFill>
                    <a:srgbClr val="2C2926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Claude </a:t>
              </a:r>
              <a:r>
                <a:rPr lang="ko-KR" altLang="en-US" sz="1600" b="1" dirty="0">
                  <a:solidFill>
                    <a:srgbClr val="2C2926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빌트인 스킬</a:t>
              </a:r>
              <a:r>
                <a:rPr lang="en-US" altLang="ko-KR" sz="1600" b="1" dirty="0">
                  <a:solidFill>
                    <a:srgbClr val="2C2926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: </a:t>
              </a:r>
              <a:r>
                <a:rPr lang="ko-KR" altLang="en-US" sz="1600" dirty="0"/>
                <a:t>https://github.com/unicorn-campus/</a:t>
              </a:r>
              <a:r>
                <a:rPr lang="en-US" altLang="ko-KR" sz="1600" dirty="0"/>
                <a:t>ai-automation</a:t>
              </a:r>
              <a:r>
                <a:rPr lang="ko-KR" altLang="en-US" sz="1600" dirty="0"/>
                <a:t>/blob/main/references/claude-code-builtin-skills.md</a:t>
              </a:r>
            </a:p>
          </p:txBody>
        </p:sp>
      </p:grpSp>
      <p:sp>
        <p:nvSpPr>
          <p:cNvPr id="24" name="TextBox 23">
            <a:extLst>
              <a:ext uri="{FF2B5EF4-FFF2-40B4-BE49-F238E27FC236}">
                <a16:creationId xmlns:a16="http://schemas.microsoft.com/office/drawing/2014/main" id="{A04446B6-BE5E-4E9E-B7EE-620F136ECD65}"/>
              </a:ext>
            </a:extLst>
          </p:cNvPr>
          <p:cNvSpPr txBox="1"/>
          <p:nvPr/>
        </p:nvSpPr>
        <p:spPr>
          <a:xfrm>
            <a:off x="457200" y="4140200"/>
            <a:ext cx="13716000" cy="3556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spAutoFit/>
          </a:bodyPr>
          <a:lstStyle/>
          <a:p>
            <a:pPr algn="l"/>
            <a:r>
              <a:rPr lang="en-US" altLang="ko-KR" b="1">
                <a:solidFill>
                  <a:srgbClr val="0D9488"/>
                </a:solidFill>
                <a:latin typeface="Pretendard"/>
                <a:ea typeface="Pretendard"/>
                <a:cs typeface="Pretendard"/>
              </a:rPr>
              <a:t>/simplify · </a:t>
            </a:r>
            <a:r>
              <a:rPr lang="ko-KR" altLang="en-US" b="1">
                <a:solidFill>
                  <a:srgbClr val="0D9488"/>
                </a:solidFill>
                <a:latin typeface="Pretendard"/>
                <a:ea typeface="Pretendard"/>
                <a:cs typeface="Pretendard"/>
              </a:rPr>
              <a:t>코드 다듬기 </a:t>
            </a:r>
            <a:r>
              <a:rPr lang="en-US" altLang="ko-KR" b="1">
                <a:solidFill>
                  <a:srgbClr val="0D9488"/>
                </a:solidFill>
                <a:latin typeface="Pretendard"/>
                <a:ea typeface="Pretendard"/>
                <a:cs typeface="Pretendard"/>
              </a:rPr>
              <a:t>— </a:t>
            </a:r>
            <a:r>
              <a:rPr lang="ko-KR" altLang="en-US" b="1">
                <a:solidFill>
                  <a:srgbClr val="0D9488"/>
                </a:solidFill>
                <a:latin typeface="Pretendard"/>
                <a:ea typeface="Pretendard"/>
                <a:cs typeface="Pretendard"/>
              </a:rPr>
              <a:t>네 가지 관점으로 자동 검토</a:t>
            </a:r>
          </a:p>
        </p:txBody>
      </p:sp>
      <p:graphicFrame>
        <p:nvGraphicFramePr>
          <p:cNvPr id="27" name="표 26">
            <a:extLst>
              <a:ext uri="{FF2B5EF4-FFF2-40B4-BE49-F238E27FC236}">
                <a16:creationId xmlns:a16="http://schemas.microsoft.com/office/drawing/2014/main" id="{1BB23731-8DF5-454F-AFC5-A422451846C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75777239"/>
              </p:ext>
            </p:extLst>
          </p:nvPr>
        </p:nvGraphicFramePr>
        <p:xfrm>
          <a:off x="457200" y="4572000"/>
          <a:ext cx="13716000" cy="2209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8000">
                  <a:extLst>
                    <a:ext uri="{9D8B030D-6E8A-4147-A177-3AD203B41FA5}">
                      <a16:colId xmlns:a16="http://schemas.microsoft.com/office/drawing/2014/main" val="1446554211"/>
                    </a:ext>
                  </a:extLst>
                </a:gridCol>
                <a:gridCol w="5588000">
                  <a:extLst>
                    <a:ext uri="{9D8B030D-6E8A-4147-A177-3AD203B41FA5}">
                      <a16:colId xmlns:a16="http://schemas.microsoft.com/office/drawing/2014/main" val="1464366359"/>
                    </a:ext>
                  </a:extLst>
                </a:gridCol>
                <a:gridCol w="5080000">
                  <a:extLst>
                    <a:ext uri="{9D8B030D-6E8A-4147-A177-3AD203B41FA5}">
                      <a16:colId xmlns:a16="http://schemas.microsoft.com/office/drawing/2014/main" val="3298953421"/>
                    </a:ext>
                  </a:extLst>
                </a:gridCol>
              </a:tblGrid>
              <a:tr h="431800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5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관점</a:t>
                      </a:r>
                    </a:p>
                  </a:txBody>
                  <a:tcPr anchor="ctr">
                    <a:solidFill>
                      <a:srgbClr val="0D948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5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의미</a:t>
                      </a:r>
                    </a:p>
                  </a:txBody>
                  <a:tcPr anchor="ctr">
                    <a:solidFill>
                      <a:srgbClr val="0D948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5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예시</a:t>
                      </a:r>
                    </a:p>
                  </a:txBody>
                  <a:tcPr anchor="ctr">
                    <a:solidFill>
                      <a:srgbClr val="0D948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49148316"/>
                  </a:ext>
                </a:extLst>
              </a:tr>
              <a:tr h="444500">
                <a:tc>
                  <a:txBody>
                    <a:bodyPr/>
                    <a:lstStyle/>
                    <a:p>
                      <a:pPr algn="l"/>
                      <a:r>
                        <a:rPr lang="ko-KR" altLang="en-US" sz="1400" b="1">
                          <a:solidFill>
                            <a:srgbClr val="0D9488"/>
                          </a:solidFill>
                          <a:latin typeface="Pretendard"/>
                          <a:ea typeface="Pretendard"/>
                          <a:cs typeface="Pretendard"/>
                        </a:rPr>
                        <a:t>재사용 (reuse)</a:t>
                      </a:r>
                    </a:p>
                  </a:txBody>
                  <a:tcPr anchor="ctr">
                    <a:solidFill>
                      <a:srgbClr val="F0FB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1400" b="0">
                          <a:solidFill>
                            <a:srgbClr val="2C2926"/>
                          </a:solidFill>
                          <a:latin typeface="Pretendard"/>
                          <a:ea typeface="Pretendard"/>
                          <a:cs typeface="Pretendard"/>
                        </a:rPr>
                        <a:t>이미 있는 함수·유틸을 두고 중복 구현한 부분</a:t>
                      </a:r>
                    </a:p>
                  </a:txBody>
                  <a:tcPr anchor="ctr">
                    <a:solidFill>
                      <a:srgbClr val="F0FB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1400" b="0">
                          <a:solidFill>
                            <a:srgbClr val="2C2926"/>
                          </a:solidFill>
                          <a:latin typeface="Pretendard"/>
                          <a:ea typeface="Pretendard"/>
                          <a:cs typeface="Pretendard"/>
                        </a:rPr>
                        <a:t>직접 짠 날짜 포맷 → 기존 헬퍼로 교체</a:t>
                      </a:r>
                    </a:p>
                  </a:txBody>
                  <a:tcPr anchor="ctr">
                    <a:solidFill>
                      <a:srgbClr val="F0FB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561186"/>
                  </a:ext>
                </a:extLst>
              </a:tr>
              <a:tr h="444500">
                <a:tc>
                  <a:txBody>
                    <a:bodyPr/>
                    <a:lstStyle/>
                    <a:p>
                      <a:pPr algn="l"/>
                      <a:r>
                        <a:rPr lang="ko-KR" altLang="en-US" sz="1400" b="1">
                          <a:solidFill>
                            <a:srgbClr val="0D9488"/>
                          </a:solidFill>
                          <a:latin typeface="Pretendard"/>
                          <a:ea typeface="Pretendard"/>
                          <a:cs typeface="Pretendard"/>
                        </a:rPr>
                        <a:t>단순화 (simplification)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1400" b="0">
                          <a:solidFill>
                            <a:srgbClr val="2C2926"/>
                          </a:solidFill>
                          <a:latin typeface="Pretendard"/>
                          <a:ea typeface="Pretendard"/>
                          <a:cs typeface="Pretendard"/>
                        </a:rPr>
                        <a:t>불필요하게 장황하거나 꼬인 로직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1400" b="0">
                          <a:solidFill>
                            <a:srgbClr val="2C2926"/>
                          </a:solidFill>
                          <a:latin typeface="Pretendard"/>
                          <a:ea typeface="Pretendard"/>
                          <a:cs typeface="Pretendard"/>
                        </a:rPr>
                        <a:t>중첩 if → early return, 군더더기 분기 제거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08589689"/>
                  </a:ext>
                </a:extLst>
              </a:tr>
              <a:tr h="444500">
                <a:tc>
                  <a:txBody>
                    <a:bodyPr/>
                    <a:lstStyle/>
                    <a:p>
                      <a:pPr algn="l"/>
                      <a:r>
                        <a:rPr lang="ko-KR" altLang="en-US" sz="1400" b="1">
                          <a:solidFill>
                            <a:srgbClr val="0D9488"/>
                          </a:solidFill>
                          <a:latin typeface="Pretendard"/>
                          <a:ea typeface="Pretendard"/>
                          <a:cs typeface="Pretendard"/>
                        </a:rPr>
                        <a:t>효율 (efficiency)</a:t>
                      </a:r>
                    </a:p>
                  </a:txBody>
                  <a:tcPr anchor="ctr">
                    <a:solidFill>
                      <a:srgbClr val="F0FB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1400" b="0">
                          <a:solidFill>
                            <a:srgbClr val="2C2926"/>
                          </a:solidFill>
                          <a:latin typeface="Pretendard"/>
                          <a:ea typeface="Pretendard"/>
                          <a:cs typeface="Pretendard"/>
                        </a:rPr>
                        <a:t>명백히 낭비적인 연산·반복</a:t>
                      </a:r>
                    </a:p>
                  </a:txBody>
                  <a:tcPr anchor="ctr">
                    <a:solidFill>
                      <a:srgbClr val="F0FB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1400" b="0">
                          <a:solidFill>
                            <a:srgbClr val="2C2926"/>
                          </a:solidFill>
                          <a:latin typeface="Pretendard"/>
                          <a:ea typeface="Pretendard"/>
                          <a:cs typeface="Pretendard"/>
                        </a:rPr>
                        <a:t>루프 내 반복 계산을 밖으로 빼기</a:t>
                      </a:r>
                    </a:p>
                  </a:txBody>
                  <a:tcPr anchor="ctr">
                    <a:solidFill>
                      <a:srgbClr val="F0FB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39650668"/>
                  </a:ext>
                </a:extLst>
              </a:tr>
              <a:tr h="444500">
                <a:tc>
                  <a:txBody>
                    <a:bodyPr/>
                    <a:lstStyle/>
                    <a:p>
                      <a:pPr algn="l"/>
                      <a:r>
                        <a:rPr lang="ko-KR" altLang="en-US" sz="1400" b="1">
                          <a:solidFill>
                            <a:srgbClr val="0D9488"/>
                          </a:solidFill>
                          <a:latin typeface="Pretendard"/>
                          <a:ea typeface="Pretendard"/>
                          <a:cs typeface="Pretendard"/>
                        </a:rPr>
                        <a:t>추상화 수준 (altitude)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1400" b="0">
                          <a:solidFill>
                            <a:srgbClr val="2C2926"/>
                          </a:solidFill>
                          <a:latin typeface="Pretendard"/>
                          <a:ea typeface="Pretendard"/>
                          <a:cs typeface="Pretendard"/>
                        </a:rPr>
                        <a:t>코드가 적절한 추상화 레벨에 있는지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1400" b="0">
                          <a:solidFill>
                            <a:srgbClr val="2C2926"/>
                          </a:solidFill>
                          <a:latin typeface="Pretendard"/>
                          <a:ea typeface="Pretendard"/>
                          <a:cs typeface="Pretendard"/>
                        </a:rPr>
                        <a:t>너무 저수준이거나 과도하게 추상화된 부분 정리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97156298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457200" y="411480"/>
            <a:ext cx="13716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데스크톱 앱에서 Skill 만들기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069848"/>
            <a:ext cx="1371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0D948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Code 탭에 부탁하면 Claude가 파일을 만들어 줌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160020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700" b="1" dirty="0" err="1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만드는</a:t>
            </a:r>
            <a:r>
              <a:rPr lang="en-US" sz="17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r>
              <a:rPr lang="en-US" sz="1700" b="1" dirty="0" err="1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흐름</a:t>
            </a:r>
            <a:endParaRPr lang="en-US" sz="1700" dirty="0"/>
          </a:p>
        </p:txBody>
      </p:sp>
      <p:grpSp>
        <p:nvGrpSpPr>
          <p:cNvPr id="20" name="그룹 19">
            <a:extLst>
              <a:ext uri="{FF2B5EF4-FFF2-40B4-BE49-F238E27FC236}">
                <a16:creationId xmlns:a16="http://schemas.microsoft.com/office/drawing/2014/main" id="{5EDAA288-3D81-EC14-E6D4-41DFD29A0892}"/>
              </a:ext>
            </a:extLst>
          </p:cNvPr>
          <p:cNvGrpSpPr/>
          <p:nvPr/>
        </p:nvGrpSpPr>
        <p:grpSpPr>
          <a:xfrm>
            <a:off x="457200" y="3616063"/>
            <a:ext cx="5943600" cy="914410"/>
            <a:chOff x="457200" y="1965961"/>
            <a:chExt cx="5943600" cy="1520190"/>
          </a:xfrm>
        </p:grpSpPr>
        <p:sp>
          <p:nvSpPr>
            <p:cNvPr id="6" name="Shape 4"/>
            <p:cNvSpPr/>
            <p:nvPr/>
          </p:nvSpPr>
          <p:spPr>
            <a:xfrm>
              <a:off x="457200" y="1965961"/>
              <a:ext cx="5943600" cy="1520190"/>
            </a:xfrm>
            <a:prstGeom prst="roundRect">
              <a:avLst>
                <a:gd name="adj" fmla="val 6667"/>
              </a:avLst>
            </a:prstGeom>
            <a:solidFill>
              <a:srgbClr val="059669"/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7" name="Text 5"/>
            <p:cNvSpPr/>
            <p:nvPr/>
          </p:nvSpPr>
          <p:spPr>
            <a:xfrm>
              <a:off x="457200" y="2057399"/>
              <a:ext cx="5943600" cy="1335882"/>
            </a:xfrm>
            <a:prstGeom prst="rect">
              <a:avLst/>
            </a:prstGeom>
            <a:noFill/>
            <a:ln/>
          </p:spPr>
          <p:txBody>
            <a:bodyPr wrap="square" rtlCol="0" anchor="t"/>
            <a:lstStyle/>
            <a:p>
              <a:pPr marL="0" indent="0" algn="ctr">
                <a:buNone/>
              </a:pPr>
              <a:r>
                <a:rPr lang="en-US" sz="1600" b="1" dirty="0" err="1">
                  <a:solidFill>
                    <a:srgbClr val="FFFFFF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요청</a:t>
              </a:r>
              <a:r>
                <a:rPr lang="en-US" sz="1600" b="1" dirty="0">
                  <a:solidFill>
                    <a:srgbClr val="FFFFFF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: ＂</a:t>
              </a:r>
              <a:r>
                <a:rPr lang="ko-KR" altLang="en-US" sz="1600" b="1" dirty="0">
                  <a:solidFill>
                    <a:srgbClr val="FFFFFF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아래 프롬프트를 참조하여 프로젝트 스콥으로</a:t>
              </a:r>
              <a:endParaRPr lang="en-US" sz="1600" dirty="0"/>
            </a:p>
            <a:p>
              <a:pPr marL="0" indent="0" algn="ctr">
                <a:buNone/>
              </a:pPr>
              <a:r>
                <a:rPr lang="en-US" sz="1600" b="1" dirty="0">
                  <a:solidFill>
                    <a:srgbClr val="FFFFFF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summarize-changes </a:t>
              </a:r>
              <a:r>
                <a:rPr lang="en-US" sz="1600" b="1" dirty="0" err="1">
                  <a:solidFill>
                    <a:srgbClr val="FFFFFF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스킬을</a:t>
              </a:r>
              <a:r>
                <a:rPr lang="en-US" sz="1600" b="1" dirty="0">
                  <a:solidFill>
                    <a:srgbClr val="FFFFFF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 </a:t>
              </a:r>
              <a:r>
                <a:rPr lang="en-US" sz="1600" b="1" dirty="0" err="1">
                  <a:solidFill>
                    <a:srgbClr val="FFFFFF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만들어</a:t>
              </a:r>
              <a:r>
                <a:rPr lang="en-US" sz="1600" b="1" dirty="0">
                  <a:solidFill>
                    <a:srgbClr val="FFFFFF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 </a:t>
              </a:r>
              <a:r>
                <a:rPr lang="ko-KR" altLang="en-US" sz="1600" b="1" dirty="0">
                  <a:solidFill>
                    <a:srgbClr val="FFFFFF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주세요</a:t>
              </a:r>
              <a:r>
                <a:rPr lang="en-US" sz="1600" b="1" dirty="0">
                  <a:solidFill>
                    <a:srgbClr val="FFFFFF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“</a:t>
              </a:r>
              <a:br>
                <a:rPr lang="en-US" sz="1600" b="1" dirty="0">
                  <a:solidFill>
                    <a:srgbClr val="FFFFFF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</a:br>
              <a:r>
                <a:rPr lang="ko-KR" altLang="en-US" sz="1600" b="1" dirty="0">
                  <a:solidFill>
                    <a:srgbClr val="FFFFFF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프롬프트</a:t>
              </a:r>
              <a:r>
                <a:rPr lang="en-US" altLang="ko-KR" sz="1600" b="1" dirty="0">
                  <a:solidFill>
                    <a:srgbClr val="FFFFFF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: prompts/summary.md</a:t>
              </a:r>
              <a:endParaRPr lang="en-US" sz="1600" dirty="0"/>
            </a:p>
          </p:txBody>
        </p:sp>
      </p:grpSp>
      <p:grpSp>
        <p:nvGrpSpPr>
          <p:cNvPr id="21" name="그룹 20">
            <a:extLst>
              <a:ext uri="{FF2B5EF4-FFF2-40B4-BE49-F238E27FC236}">
                <a16:creationId xmlns:a16="http://schemas.microsoft.com/office/drawing/2014/main" id="{0C730C83-E649-286D-6488-19E9C2894CF0}"/>
              </a:ext>
            </a:extLst>
          </p:cNvPr>
          <p:cNvGrpSpPr/>
          <p:nvPr/>
        </p:nvGrpSpPr>
        <p:grpSpPr>
          <a:xfrm>
            <a:off x="457200" y="4682580"/>
            <a:ext cx="5943600" cy="525787"/>
            <a:chOff x="457200" y="3639025"/>
            <a:chExt cx="5943600" cy="822960"/>
          </a:xfrm>
        </p:grpSpPr>
        <p:sp>
          <p:nvSpPr>
            <p:cNvPr id="8" name="Shape 6"/>
            <p:cNvSpPr/>
            <p:nvPr/>
          </p:nvSpPr>
          <p:spPr>
            <a:xfrm>
              <a:off x="457200" y="3639025"/>
              <a:ext cx="5943600" cy="822960"/>
            </a:xfrm>
            <a:prstGeom prst="roundRect">
              <a:avLst>
                <a:gd name="adj" fmla="val 6667"/>
              </a:avLst>
            </a:prstGeom>
            <a:solidFill>
              <a:srgbClr val="059669"/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9" name="Text 7"/>
            <p:cNvSpPr/>
            <p:nvPr/>
          </p:nvSpPr>
          <p:spPr>
            <a:xfrm>
              <a:off x="457200" y="3639025"/>
              <a:ext cx="5943600" cy="822960"/>
            </a:xfrm>
            <a:prstGeom prst="rect">
              <a:avLst/>
            </a:prstGeom>
            <a:solidFill>
              <a:srgbClr val="059669"/>
            </a:solidFill>
            <a:ln/>
          </p:spPr>
          <p:txBody>
            <a:bodyPr anchor="ctr"/>
            <a:lstStyle/>
            <a:p>
              <a:pPr algn="ctr"/>
              <a:r>
                <a:rPr lang="ko-KR" altLang="en-US" sz="1600" dirty="0">
                  <a:solidFill>
                    <a:schemeClr val="bg1"/>
                  </a:solidFill>
                </a:rPr>
                <a:t>스킬 생성</a:t>
              </a:r>
              <a:endParaRPr lang="en-US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23" name="그룹 22">
            <a:extLst>
              <a:ext uri="{FF2B5EF4-FFF2-40B4-BE49-F238E27FC236}">
                <a16:creationId xmlns:a16="http://schemas.microsoft.com/office/drawing/2014/main" id="{25AB678A-18E3-8F2D-BC0F-B0410427D622}"/>
              </a:ext>
            </a:extLst>
          </p:cNvPr>
          <p:cNvGrpSpPr/>
          <p:nvPr/>
        </p:nvGrpSpPr>
        <p:grpSpPr>
          <a:xfrm>
            <a:off x="457200" y="6036468"/>
            <a:ext cx="5943600" cy="714387"/>
            <a:chOff x="457200" y="5492123"/>
            <a:chExt cx="5943600" cy="822960"/>
          </a:xfrm>
        </p:grpSpPr>
        <p:sp>
          <p:nvSpPr>
            <p:cNvPr id="10" name="Shape 8"/>
            <p:cNvSpPr/>
            <p:nvPr/>
          </p:nvSpPr>
          <p:spPr>
            <a:xfrm>
              <a:off x="457200" y="5492123"/>
              <a:ext cx="5943600" cy="822960"/>
            </a:xfrm>
            <a:prstGeom prst="roundRect">
              <a:avLst>
                <a:gd name="adj" fmla="val 6667"/>
              </a:avLst>
            </a:prstGeom>
            <a:solidFill>
              <a:srgbClr val="059669"/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1" name="Text 9"/>
            <p:cNvSpPr/>
            <p:nvPr/>
          </p:nvSpPr>
          <p:spPr>
            <a:xfrm>
              <a:off x="457200" y="5492123"/>
              <a:ext cx="5943600" cy="82296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1600" b="1" dirty="0" err="1">
                  <a:solidFill>
                    <a:srgbClr val="FFFFFF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테스트</a:t>
              </a:r>
              <a:r>
                <a:rPr lang="en-US" sz="1600" b="1" dirty="0">
                  <a:solidFill>
                    <a:srgbClr val="FFFFFF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 </a:t>
              </a:r>
              <a:r>
                <a:rPr lang="ko-KR" altLang="en-US" sz="1600" b="1" dirty="0">
                  <a:solidFill>
                    <a:srgbClr val="FFFFFF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및 개선</a:t>
              </a:r>
              <a:r>
                <a:rPr lang="en-US" sz="1600" b="1" dirty="0">
                  <a:solidFill>
                    <a:srgbClr val="FFFFFF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: "내가 뭘 바꿨지?"로 자동 호출</a:t>
              </a:r>
              <a:endParaRPr lang="en-US" sz="1600" dirty="0"/>
            </a:p>
            <a:p>
              <a:pPr marL="0" indent="0" algn="ctr">
                <a:buNone/>
              </a:pPr>
              <a:r>
                <a:rPr lang="en-US" sz="1600" b="1" dirty="0">
                  <a:solidFill>
                    <a:srgbClr val="FFFFFF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또는 /summarize-changes 로 직접 실행</a:t>
              </a:r>
              <a:endParaRPr lang="en-US" sz="1600" dirty="0"/>
            </a:p>
          </p:txBody>
        </p:sp>
      </p:grpSp>
      <p:sp>
        <p:nvSpPr>
          <p:cNvPr id="12" name="Text 10"/>
          <p:cNvSpPr/>
          <p:nvPr/>
        </p:nvSpPr>
        <p:spPr>
          <a:xfrm>
            <a:off x="6675120" y="160020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SKILL.md 최소 예시</a:t>
            </a:r>
            <a:endParaRPr lang="en-US" sz="1700" dirty="0"/>
          </a:p>
        </p:txBody>
      </p:sp>
      <p:grpSp>
        <p:nvGrpSpPr>
          <p:cNvPr id="2" name="그룹 1">
            <a:extLst>
              <a:ext uri="{FF2B5EF4-FFF2-40B4-BE49-F238E27FC236}">
                <a16:creationId xmlns:a16="http://schemas.microsoft.com/office/drawing/2014/main" id="{10F9B3CB-8967-5A59-05CE-2546E4FDB111}"/>
              </a:ext>
            </a:extLst>
          </p:cNvPr>
          <p:cNvGrpSpPr/>
          <p:nvPr/>
        </p:nvGrpSpPr>
        <p:grpSpPr>
          <a:xfrm>
            <a:off x="6675120" y="3463956"/>
            <a:ext cx="7498080" cy="2422504"/>
            <a:chOff x="6675120" y="2057400"/>
            <a:chExt cx="7498080" cy="3143250"/>
          </a:xfrm>
        </p:grpSpPr>
        <p:sp>
          <p:nvSpPr>
            <p:cNvPr id="13" name="Shape 11"/>
            <p:cNvSpPr/>
            <p:nvPr/>
          </p:nvSpPr>
          <p:spPr>
            <a:xfrm>
              <a:off x="6675120" y="2057400"/>
              <a:ext cx="7498080" cy="3143250"/>
            </a:xfrm>
            <a:prstGeom prst="roundRect">
              <a:avLst>
                <a:gd name="adj" fmla="val 1967"/>
              </a:avLst>
            </a:prstGeom>
            <a:solidFill>
              <a:srgbClr val="F5F5F7"/>
            </a:solidFill>
            <a:ln w="12700">
              <a:solidFill>
                <a:srgbClr val="DDDDE0"/>
              </a:solidFill>
              <a:prstDash val="solid"/>
            </a:ln>
          </p:spPr>
          <p:txBody>
            <a:bodyPr/>
            <a:lstStyle/>
            <a:p>
              <a:endParaRPr lang="ko-KR" altLang="en-US" sz="1600"/>
            </a:p>
          </p:txBody>
        </p:sp>
        <p:sp>
          <p:nvSpPr>
            <p:cNvPr id="14" name="Text 12"/>
            <p:cNvSpPr/>
            <p:nvPr/>
          </p:nvSpPr>
          <p:spPr>
            <a:xfrm>
              <a:off x="6839712" y="2167128"/>
              <a:ext cx="7168896" cy="2719198"/>
            </a:xfrm>
            <a:prstGeom prst="rect">
              <a:avLst/>
            </a:prstGeom>
            <a:noFill/>
            <a:ln/>
          </p:spPr>
          <p:txBody>
            <a:bodyPr wrap="square" rtlCol="0" anchor="t"/>
            <a:lstStyle/>
            <a:p>
              <a:pPr marL="0" indent="0" algn="l">
                <a:lnSpc>
                  <a:spcPct val="112000"/>
                </a:lnSpc>
                <a:buNone/>
              </a:pPr>
              <a:r>
                <a:rPr lang="en-US" sz="1400" dirty="0">
                  <a:solidFill>
                    <a:srgbClr val="2C2926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---</a:t>
              </a:r>
              <a:endParaRPr lang="en-US" sz="1400" dirty="0"/>
            </a:p>
            <a:p>
              <a:pPr marL="0" indent="0" algn="l">
                <a:lnSpc>
                  <a:spcPct val="112000"/>
                </a:lnSpc>
                <a:buNone/>
              </a:pPr>
              <a:r>
                <a:rPr lang="en-US" sz="1400" dirty="0">
                  <a:solidFill>
                    <a:srgbClr val="2C2926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name: summarize-changes</a:t>
              </a:r>
              <a:endParaRPr lang="en-US" sz="1400" dirty="0"/>
            </a:p>
            <a:p>
              <a:pPr marL="0" indent="0" algn="l">
                <a:lnSpc>
                  <a:spcPct val="112000"/>
                </a:lnSpc>
                <a:buNone/>
              </a:pPr>
              <a:r>
                <a:rPr lang="en-US" sz="1400" dirty="0">
                  <a:solidFill>
                    <a:srgbClr val="2C2926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description: Summarizes recent file changes.</a:t>
              </a:r>
              <a:endParaRPr lang="en-US" sz="1400" dirty="0"/>
            </a:p>
            <a:p>
              <a:pPr marL="0" indent="0" algn="l">
                <a:lnSpc>
                  <a:spcPct val="112000"/>
                </a:lnSpc>
                <a:buNone/>
              </a:pPr>
              <a:r>
                <a:rPr lang="en-US" sz="1400" dirty="0">
                  <a:solidFill>
                    <a:srgbClr val="2C2926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 Use when the user asks what changed.</a:t>
              </a:r>
              <a:endParaRPr lang="en-US" sz="1400" dirty="0"/>
            </a:p>
            <a:p>
              <a:pPr marL="0" indent="0" algn="l">
                <a:lnSpc>
                  <a:spcPct val="112000"/>
                </a:lnSpc>
                <a:buNone/>
              </a:pPr>
              <a:r>
                <a:rPr lang="en-US" sz="1400" dirty="0">
                  <a:solidFill>
                    <a:srgbClr val="2C2926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---</a:t>
              </a:r>
              <a:endParaRPr lang="en-US" sz="1400" dirty="0"/>
            </a:p>
            <a:p>
              <a:pPr marL="0" indent="0" algn="l">
                <a:lnSpc>
                  <a:spcPct val="112000"/>
                </a:lnSpc>
                <a:buNone/>
              </a:pPr>
              <a:r>
                <a:rPr lang="en-US" sz="1400" dirty="0">
                  <a:solidFill>
                    <a:srgbClr val="2C2926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# 변경사항 요약</a:t>
              </a:r>
              <a:endParaRPr lang="en-US" sz="1400" dirty="0"/>
            </a:p>
            <a:p>
              <a:pPr marL="0" indent="0" algn="l">
                <a:lnSpc>
                  <a:spcPct val="112000"/>
                </a:lnSpc>
                <a:buNone/>
              </a:pPr>
              <a:r>
                <a:rPr lang="en-US" sz="1400" dirty="0">
                  <a:solidFill>
                    <a:srgbClr val="2C2926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## 작업방법</a:t>
              </a:r>
              <a:endParaRPr lang="en-US" sz="1400" dirty="0"/>
            </a:p>
            <a:p>
              <a:pPr marL="0" indent="0" algn="l">
                <a:lnSpc>
                  <a:spcPct val="112000"/>
                </a:lnSpc>
                <a:buNone/>
              </a:pPr>
              <a:r>
                <a:rPr lang="en-US" sz="1400" dirty="0">
                  <a:solidFill>
                    <a:srgbClr val="2C2926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1. 최근 변경 파일을 확인</a:t>
              </a:r>
              <a:endParaRPr lang="en-US" sz="1400" dirty="0"/>
            </a:p>
            <a:p>
              <a:pPr marL="0" indent="0" algn="l">
                <a:lnSpc>
                  <a:spcPct val="112000"/>
                </a:lnSpc>
                <a:buNone/>
              </a:pPr>
              <a:r>
                <a:rPr lang="en-US" sz="1400" dirty="0">
                  <a:solidFill>
                    <a:srgbClr val="2C2926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2. 변경 요지를 항목으로 정리</a:t>
              </a:r>
              <a:endParaRPr lang="en-US" sz="1400" dirty="0"/>
            </a:p>
          </p:txBody>
        </p:sp>
      </p:grpSp>
      <p:grpSp>
        <p:nvGrpSpPr>
          <p:cNvPr id="17" name="그룹 16">
            <a:extLst>
              <a:ext uri="{FF2B5EF4-FFF2-40B4-BE49-F238E27FC236}">
                <a16:creationId xmlns:a16="http://schemas.microsoft.com/office/drawing/2014/main" id="{905E0FF7-3648-149D-3C86-49A134F2B542}"/>
              </a:ext>
            </a:extLst>
          </p:cNvPr>
          <p:cNvGrpSpPr/>
          <p:nvPr/>
        </p:nvGrpSpPr>
        <p:grpSpPr>
          <a:xfrm>
            <a:off x="457200" y="6943737"/>
            <a:ext cx="13716000" cy="777240"/>
            <a:chOff x="457200" y="5257800"/>
            <a:chExt cx="13716000" cy="777240"/>
          </a:xfrm>
        </p:grpSpPr>
        <p:sp>
          <p:nvSpPr>
            <p:cNvPr id="15" name="Shape 13"/>
            <p:cNvSpPr/>
            <p:nvPr/>
          </p:nvSpPr>
          <p:spPr>
            <a:xfrm>
              <a:off x="457200" y="5257800"/>
              <a:ext cx="13716000" cy="777240"/>
            </a:xfrm>
            <a:prstGeom prst="roundRect">
              <a:avLst>
                <a:gd name="adj" fmla="val 9412"/>
              </a:avLst>
            </a:prstGeom>
            <a:solidFill>
              <a:srgbClr val="CCFBF1"/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6" name="Text 14"/>
            <p:cNvSpPr/>
            <p:nvPr/>
          </p:nvSpPr>
          <p:spPr>
            <a:xfrm>
              <a:off x="640080" y="5257800"/>
              <a:ext cx="13350240" cy="77724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l">
                <a:lnSpc>
                  <a:spcPct val="105000"/>
                </a:lnSpc>
                <a:buNone/>
              </a:pPr>
              <a:r>
                <a:rPr lang="en-US" sz="1600" b="1" dirty="0">
                  <a:solidFill>
                    <a:srgbClr val="2C2926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핵심: Claude는 Skill 형식을 이미 알고 있어 별도 도구 없이 만들어 줍니다. 안 불려오면 description에 키워드 보강, 너무 자주 불려오면 description을 더 구체적으로(또는 자동 호출 </a:t>
              </a:r>
              <a:r>
                <a:rPr lang="en-US" sz="1600" b="1" dirty="0" err="1">
                  <a:solidFill>
                    <a:srgbClr val="2C2926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끄기</a:t>
              </a:r>
              <a:r>
                <a:rPr lang="en-US" sz="1600" b="1" dirty="0">
                  <a:solidFill>
                    <a:srgbClr val="2C2926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 </a:t>
              </a:r>
              <a:r>
                <a:rPr lang="en-US" sz="1600" b="1" dirty="0" err="1">
                  <a:solidFill>
                    <a:srgbClr val="2C2926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설정</a:t>
              </a:r>
              <a:r>
                <a:rPr lang="en-US" sz="1600" b="1" dirty="0">
                  <a:solidFill>
                    <a:srgbClr val="2C2926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: disable-model-invocation).</a:t>
              </a:r>
              <a:endParaRPr lang="en-US" sz="1600" dirty="0"/>
            </a:p>
          </p:txBody>
        </p:sp>
      </p:grp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3624560" y="786384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600">
                <a:solidFill>
                  <a:srgbClr val="6B6B7B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lang="en-US" b="0"/>
              <a:t>9</a:t>
            </a:fld>
            <a:endParaRPr lang="en-US"/>
          </a:p>
        </p:txBody>
      </p:sp>
      <p:grpSp>
        <p:nvGrpSpPr>
          <p:cNvPr id="22" name="그룹 21">
            <a:extLst>
              <a:ext uri="{FF2B5EF4-FFF2-40B4-BE49-F238E27FC236}">
                <a16:creationId xmlns:a16="http://schemas.microsoft.com/office/drawing/2014/main" id="{640CE6E9-58C7-9994-472F-CD22F8F9A2D3}"/>
              </a:ext>
            </a:extLst>
          </p:cNvPr>
          <p:cNvGrpSpPr/>
          <p:nvPr/>
        </p:nvGrpSpPr>
        <p:grpSpPr>
          <a:xfrm>
            <a:off x="457200" y="5360474"/>
            <a:ext cx="5943600" cy="523888"/>
            <a:chOff x="457200" y="4572961"/>
            <a:chExt cx="5943600" cy="822960"/>
          </a:xfrm>
        </p:grpSpPr>
        <p:sp>
          <p:nvSpPr>
            <p:cNvPr id="18" name="Shape 8">
              <a:extLst>
                <a:ext uri="{FF2B5EF4-FFF2-40B4-BE49-F238E27FC236}">
                  <a16:creationId xmlns:a16="http://schemas.microsoft.com/office/drawing/2014/main" id="{A6F59FD2-4CD6-56F0-8D89-2B69FB4A1C4D}"/>
                </a:ext>
              </a:extLst>
            </p:cNvPr>
            <p:cNvSpPr/>
            <p:nvPr/>
          </p:nvSpPr>
          <p:spPr>
            <a:xfrm>
              <a:off x="457200" y="4572961"/>
              <a:ext cx="5943600" cy="822960"/>
            </a:xfrm>
            <a:prstGeom prst="roundRect">
              <a:avLst>
                <a:gd name="adj" fmla="val 6667"/>
              </a:avLst>
            </a:prstGeom>
            <a:solidFill>
              <a:srgbClr val="D97706"/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9" name="Text 9">
              <a:extLst>
                <a:ext uri="{FF2B5EF4-FFF2-40B4-BE49-F238E27FC236}">
                  <a16:creationId xmlns:a16="http://schemas.microsoft.com/office/drawing/2014/main" id="{557DCF73-68EB-46AD-DBA9-25D340717D9C}"/>
                </a:ext>
              </a:extLst>
            </p:cNvPr>
            <p:cNvSpPr/>
            <p:nvPr/>
          </p:nvSpPr>
          <p:spPr>
            <a:xfrm>
              <a:off x="457200" y="4572961"/>
              <a:ext cx="5943600" cy="822960"/>
            </a:xfrm>
            <a:prstGeom prst="rect">
              <a:avLst/>
            </a:prstGeom>
            <a:solidFill>
              <a:srgbClr val="D97706"/>
            </a:solidFill>
            <a:ln/>
          </p:spPr>
          <p:txBody>
            <a:bodyPr anchor="ctr"/>
            <a:lstStyle/>
            <a:p>
              <a:pPr algn="ctr"/>
              <a:r>
                <a:rPr lang="ko-KR" altLang="en-US" sz="1600" dirty="0">
                  <a:solidFill>
                    <a:schemeClr val="bg1"/>
                  </a:solidFill>
                </a:rPr>
                <a:t>체크</a:t>
              </a:r>
              <a:r>
                <a:rPr lang="en-US" sz="1600" dirty="0">
                  <a:solidFill>
                    <a:schemeClr val="bg1"/>
                  </a:solidFill>
                </a:rPr>
                <a:t>: </a:t>
              </a:r>
              <a:r>
                <a:rPr lang="ko-KR" altLang="en-US" sz="1600" dirty="0">
                  <a:solidFill>
                    <a:schemeClr val="bg1"/>
                  </a:solidFill>
                </a:rPr>
                <a:t>스킬 디렉토리 구조</a:t>
              </a:r>
              <a:r>
                <a:rPr lang="en-US" altLang="ko-KR" sz="1600" dirty="0">
                  <a:solidFill>
                    <a:schemeClr val="bg1"/>
                  </a:solidFill>
                </a:rPr>
                <a:t>, </a:t>
              </a:r>
              <a:r>
                <a:rPr lang="ko-KR" altLang="en-US" sz="1600" dirty="0">
                  <a:solidFill>
                    <a:schemeClr val="bg1"/>
                  </a:solidFill>
                </a:rPr>
                <a:t>스킬 </a:t>
              </a:r>
              <a:r>
                <a:rPr lang="en-US" altLang="ko-KR" sz="1600" dirty="0">
                  <a:solidFill>
                    <a:schemeClr val="bg1"/>
                  </a:solidFill>
                </a:rPr>
                <a:t>Formatter, </a:t>
              </a:r>
              <a:r>
                <a:rPr lang="ko-KR" altLang="en-US" sz="1600" dirty="0">
                  <a:solidFill>
                    <a:schemeClr val="bg1"/>
                  </a:solidFill>
                </a:rPr>
                <a:t>스킬 내용</a:t>
              </a:r>
              <a:endParaRPr lang="en-US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28" name="그룹 27">
            <a:extLst>
              <a:ext uri="{FF2B5EF4-FFF2-40B4-BE49-F238E27FC236}">
                <a16:creationId xmlns:a16="http://schemas.microsoft.com/office/drawing/2014/main" id="{6E08A409-C6CF-6600-5EC6-E9F15AE42FC9}"/>
              </a:ext>
            </a:extLst>
          </p:cNvPr>
          <p:cNvGrpSpPr/>
          <p:nvPr/>
        </p:nvGrpSpPr>
        <p:grpSpPr>
          <a:xfrm>
            <a:off x="6675120" y="6079336"/>
            <a:ext cx="7498080" cy="628650"/>
            <a:chOff x="6675120" y="5927897"/>
            <a:chExt cx="7498080" cy="780089"/>
          </a:xfrm>
        </p:grpSpPr>
        <p:sp>
          <p:nvSpPr>
            <p:cNvPr id="24" name="Shape 11">
              <a:extLst>
                <a:ext uri="{FF2B5EF4-FFF2-40B4-BE49-F238E27FC236}">
                  <a16:creationId xmlns:a16="http://schemas.microsoft.com/office/drawing/2014/main" id="{A7C6DA22-388F-3199-CC66-8C898810FC60}"/>
                </a:ext>
              </a:extLst>
            </p:cNvPr>
            <p:cNvSpPr/>
            <p:nvPr/>
          </p:nvSpPr>
          <p:spPr>
            <a:xfrm>
              <a:off x="6675120" y="5927897"/>
              <a:ext cx="7498080" cy="780089"/>
            </a:xfrm>
            <a:prstGeom prst="roundRect">
              <a:avLst>
                <a:gd name="adj" fmla="val 1967"/>
              </a:avLst>
            </a:prstGeom>
            <a:solidFill>
              <a:srgbClr val="F5F5F7"/>
            </a:solidFill>
            <a:ln w="12700">
              <a:solidFill>
                <a:srgbClr val="DDDDE0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6" name="Text 12">
              <a:extLst>
                <a:ext uri="{FF2B5EF4-FFF2-40B4-BE49-F238E27FC236}">
                  <a16:creationId xmlns:a16="http://schemas.microsoft.com/office/drawing/2014/main" id="{1579B5EA-89FA-60F5-53FF-86D0A40C0C2F}"/>
                </a:ext>
              </a:extLst>
            </p:cNvPr>
            <p:cNvSpPr/>
            <p:nvPr/>
          </p:nvSpPr>
          <p:spPr>
            <a:xfrm>
              <a:off x="6821424" y="6079336"/>
              <a:ext cx="7168896" cy="442920"/>
            </a:xfrm>
            <a:prstGeom prst="rect">
              <a:avLst/>
            </a:prstGeom>
            <a:noFill/>
            <a:ln/>
          </p:spPr>
          <p:txBody>
            <a:bodyPr wrap="square" rtlCol="0" anchor="t"/>
            <a:lstStyle/>
            <a:p>
              <a:pPr marL="0" indent="0" algn="l">
                <a:lnSpc>
                  <a:spcPct val="112000"/>
                </a:lnSpc>
                <a:buNone/>
              </a:pPr>
              <a:r>
                <a:rPr lang="ko-KR" altLang="en-US" sz="1600" dirty="0"/>
                <a:t>스킬 디렉토리</a:t>
              </a:r>
              <a:r>
                <a:rPr lang="en-US" altLang="ko-KR" sz="1600" dirty="0"/>
                <a:t>: skills/summarize-changes/SKILL.md</a:t>
              </a:r>
              <a:endParaRPr lang="en-US" sz="1600" dirty="0"/>
            </a:p>
          </p:txBody>
        </p:sp>
      </p:grpSp>
      <p:grpSp>
        <p:nvGrpSpPr>
          <p:cNvPr id="29" name="그룹 28">
            <a:extLst>
              <a:ext uri="{FF2B5EF4-FFF2-40B4-BE49-F238E27FC236}">
                <a16:creationId xmlns:a16="http://schemas.microsoft.com/office/drawing/2014/main" id="{EF4A3317-8AA3-2748-CAD6-4173F728C5F1}"/>
              </a:ext>
            </a:extLst>
          </p:cNvPr>
          <p:cNvGrpSpPr/>
          <p:nvPr/>
        </p:nvGrpSpPr>
        <p:grpSpPr>
          <a:xfrm>
            <a:off x="457200" y="2057399"/>
            <a:ext cx="5943600" cy="728663"/>
            <a:chOff x="457200" y="4572961"/>
            <a:chExt cx="5943600" cy="822960"/>
          </a:xfrm>
        </p:grpSpPr>
        <p:sp>
          <p:nvSpPr>
            <p:cNvPr id="30" name="Shape 8">
              <a:extLst>
                <a:ext uri="{FF2B5EF4-FFF2-40B4-BE49-F238E27FC236}">
                  <a16:creationId xmlns:a16="http://schemas.microsoft.com/office/drawing/2014/main" id="{AD1E1D16-0C95-680E-E2DF-091CBC992E35}"/>
                </a:ext>
              </a:extLst>
            </p:cNvPr>
            <p:cNvSpPr/>
            <p:nvPr/>
          </p:nvSpPr>
          <p:spPr>
            <a:xfrm>
              <a:off x="457200" y="4572961"/>
              <a:ext cx="5943600" cy="822960"/>
            </a:xfrm>
            <a:prstGeom prst="roundRect">
              <a:avLst>
                <a:gd name="adj" fmla="val 6667"/>
              </a:avLst>
            </a:prstGeom>
            <a:solidFill>
              <a:srgbClr val="D97706"/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1" name="Text 9">
              <a:extLst>
                <a:ext uri="{FF2B5EF4-FFF2-40B4-BE49-F238E27FC236}">
                  <a16:creationId xmlns:a16="http://schemas.microsoft.com/office/drawing/2014/main" id="{EF4B1B2A-C2E4-F901-8AD9-4EE4D0A4F8CF}"/>
                </a:ext>
              </a:extLst>
            </p:cNvPr>
            <p:cNvSpPr/>
            <p:nvPr/>
          </p:nvSpPr>
          <p:spPr>
            <a:xfrm>
              <a:off x="457200" y="4572961"/>
              <a:ext cx="5943600" cy="822960"/>
            </a:xfrm>
            <a:prstGeom prst="rect">
              <a:avLst/>
            </a:prstGeom>
            <a:solidFill>
              <a:srgbClr val="D97706"/>
            </a:solidFill>
            <a:ln/>
          </p:spPr>
          <p:txBody>
            <a:bodyPr anchor="ctr"/>
            <a:lstStyle/>
            <a:p>
              <a:pPr algn="ctr"/>
              <a:r>
                <a:rPr lang="ko-KR" altLang="en-US" sz="1600" dirty="0">
                  <a:solidFill>
                    <a:schemeClr val="bg1"/>
                  </a:solidFill>
                </a:rPr>
                <a:t>작업 디렉토리 생성 및 시스템 프롬프트</a:t>
              </a:r>
              <a:r>
                <a:rPr lang="en-US" altLang="ko-KR" sz="1600" dirty="0">
                  <a:solidFill>
                    <a:schemeClr val="bg1"/>
                  </a:solidFill>
                </a:rPr>
                <a:t>(AGENTS.md)</a:t>
              </a:r>
              <a:r>
                <a:rPr lang="ko-KR" altLang="en-US" sz="1600" dirty="0">
                  <a:solidFill>
                    <a:schemeClr val="bg1"/>
                  </a:solidFill>
                </a:rPr>
                <a:t> 구성</a:t>
              </a:r>
              <a:endParaRPr lang="en-US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32" name="그룹 31">
            <a:extLst>
              <a:ext uri="{FF2B5EF4-FFF2-40B4-BE49-F238E27FC236}">
                <a16:creationId xmlns:a16="http://schemas.microsoft.com/office/drawing/2014/main" id="{A8CCDE0C-9CCD-B260-392E-815D403C8900}"/>
              </a:ext>
            </a:extLst>
          </p:cNvPr>
          <p:cNvGrpSpPr/>
          <p:nvPr/>
        </p:nvGrpSpPr>
        <p:grpSpPr>
          <a:xfrm>
            <a:off x="457200" y="2938169"/>
            <a:ext cx="5943600" cy="525787"/>
            <a:chOff x="457200" y="3639025"/>
            <a:chExt cx="5943600" cy="822960"/>
          </a:xfrm>
        </p:grpSpPr>
        <p:sp>
          <p:nvSpPr>
            <p:cNvPr id="33" name="Shape 6">
              <a:extLst>
                <a:ext uri="{FF2B5EF4-FFF2-40B4-BE49-F238E27FC236}">
                  <a16:creationId xmlns:a16="http://schemas.microsoft.com/office/drawing/2014/main" id="{35703942-9751-D732-B8EE-D3141C3A11B1}"/>
                </a:ext>
              </a:extLst>
            </p:cNvPr>
            <p:cNvSpPr/>
            <p:nvPr/>
          </p:nvSpPr>
          <p:spPr>
            <a:xfrm>
              <a:off x="457200" y="3639025"/>
              <a:ext cx="5943600" cy="822960"/>
            </a:xfrm>
            <a:prstGeom prst="roundRect">
              <a:avLst>
                <a:gd name="adj" fmla="val 6667"/>
              </a:avLst>
            </a:prstGeom>
            <a:solidFill>
              <a:srgbClr val="059669"/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4" name="Text 7">
              <a:extLst>
                <a:ext uri="{FF2B5EF4-FFF2-40B4-BE49-F238E27FC236}">
                  <a16:creationId xmlns:a16="http://schemas.microsoft.com/office/drawing/2014/main" id="{A3ADC294-5BE2-D434-CFE2-81ED5551D289}"/>
                </a:ext>
              </a:extLst>
            </p:cNvPr>
            <p:cNvSpPr/>
            <p:nvPr/>
          </p:nvSpPr>
          <p:spPr>
            <a:xfrm>
              <a:off x="457200" y="3639025"/>
              <a:ext cx="5943600" cy="822960"/>
            </a:xfrm>
            <a:prstGeom prst="rect">
              <a:avLst/>
            </a:prstGeom>
            <a:solidFill>
              <a:srgbClr val="059669"/>
            </a:solidFill>
            <a:ln/>
          </p:spPr>
          <p:txBody>
            <a:bodyPr anchor="ctr"/>
            <a:lstStyle/>
            <a:p>
              <a:pPr algn="ctr"/>
              <a:r>
                <a:rPr lang="ko-KR" altLang="en-US" sz="1600" dirty="0">
                  <a:solidFill>
                    <a:schemeClr val="bg1"/>
                  </a:solidFill>
                </a:rPr>
                <a:t>프롬프트 작성 </a:t>
              </a:r>
              <a:r>
                <a:rPr lang="en-US" altLang="ko-KR" sz="1600" dirty="0">
                  <a:solidFill>
                    <a:schemeClr val="bg1"/>
                  </a:solidFill>
                  <a:sym typeface="Wingdings" panose="05000000000000000000" pitchFamily="2" charset="2"/>
                </a:rPr>
                <a:t> </a:t>
              </a:r>
              <a:r>
                <a:rPr lang="ko-KR" altLang="en-US" sz="1600" dirty="0">
                  <a:solidFill>
                    <a:schemeClr val="bg1"/>
                  </a:solidFill>
                  <a:sym typeface="Wingdings" panose="05000000000000000000" pitchFamily="2" charset="2"/>
                </a:rPr>
                <a:t>테스트 </a:t>
              </a:r>
              <a:r>
                <a:rPr lang="en-US" altLang="ko-KR" sz="1600" dirty="0">
                  <a:solidFill>
                    <a:schemeClr val="bg1"/>
                  </a:solidFill>
                  <a:sym typeface="Wingdings" panose="05000000000000000000" pitchFamily="2" charset="2"/>
                </a:rPr>
                <a:t> </a:t>
              </a:r>
              <a:r>
                <a:rPr lang="ko-KR" altLang="en-US" sz="1600" dirty="0">
                  <a:solidFill>
                    <a:schemeClr val="bg1"/>
                  </a:solidFill>
                  <a:sym typeface="Wingdings" panose="05000000000000000000" pitchFamily="2" charset="2"/>
                </a:rPr>
                <a:t>개선</a:t>
              </a:r>
              <a:endParaRPr lang="en-US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35" name="그룹 34">
            <a:extLst>
              <a:ext uri="{FF2B5EF4-FFF2-40B4-BE49-F238E27FC236}">
                <a16:creationId xmlns:a16="http://schemas.microsoft.com/office/drawing/2014/main" id="{83776E0A-1261-461D-CAE5-2B1BBF95DEED}"/>
              </a:ext>
            </a:extLst>
          </p:cNvPr>
          <p:cNvGrpSpPr/>
          <p:nvPr/>
        </p:nvGrpSpPr>
        <p:grpSpPr>
          <a:xfrm>
            <a:off x="6644640" y="2079431"/>
            <a:ext cx="7498080" cy="1256700"/>
            <a:chOff x="6675120" y="5927897"/>
            <a:chExt cx="7498080" cy="780089"/>
          </a:xfrm>
        </p:grpSpPr>
        <p:sp>
          <p:nvSpPr>
            <p:cNvPr id="36" name="Shape 11">
              <a:extLst>
                <a:ext uri="{FF2B5EF4-FFF2-40B4-BE49-F238E27FC236}">
                  <a16:creationId xmlns:a16="http://schemas.microsoft.com/office/drawing/2014/main" id="{6E97120A-21DF-5F87-F9C4-439D345CA8BC}"/>
                </a:ext>
              </a:extLst>
            </p:cNvPr>
            <p:cNvSpPr/>
            <p:nvPr/>
          </p:nvSpPr>
          <p:spPr>
            <a:xfrm>
              <a:off x="6675120" y="5927897"/>
              <a:ext cx="7498080" cy="780089"/>
            </a:xfrm>
            <a:prstGeom prst="roundRect">
              <a:avLst>
                <a:gd name="adj" fmla="val 1967"/>
              </a:avLst>
            </a:prstGeom>
            <a:solidFill>
              <a:srgbClr val="F5F5F7"/>
            </a:solidFill>
            <a:ln w="12700">
              <a:solidFill>
                <a:srgbClr val="DDDDE0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7" name="Text 12">
              <a:extLst>
                <a:ext uri="{FF2B5EF4-FFF2-40B4-BE49-F238E27FC236}">
                  <a16:creationId xmlns:a16="http://schemas.microsoft.com/office/drawing/2014/main" id="{E6C7B870-B0C2-1E10-2145-8022B7336431}"/>
                </a:ext>
              </a:extLst>
            </p:cNvPr>
            <p:cNvSpPr/>
            <p:nvPr/>
          </p:nvSpPr>
          <p:spPr>
            <a:xfrm>
              <a:off x="6821424" y="6005226"/>
              <a:ext cx="7217664" cy="622990"/>
            </a:xfrm>
            <a:prstGeom prst="rect">
              <a:avLst/>
            </a:prstGeom>
            <a:noFill/>
            <a:ln/>
          </p:spPr>
          <p:txBody>
            <a:bodyPr wrap="square" rtlCol="0" anchor="t"/>
            <a:lstStyle/>
            <a:p>
              <a:pPr>
                <a:lnSpc>
                  <a:spcPct val="112000"/>
                </a:lnSpc>
              </a:pPr>
              <a:r>
                <a:rPr lang="en-US" altLang="ko-KR" sz="1600" dirty="0"/>
                <a:t>AGENTS.md </a:t>
              </a:r>
              <a:r>
                <a:rPr lang="ko-KR" altLang="en-US" sz="1600" dirty="0"/>
                <a:t>예제</a:t>
              </a:r>
              <a:r>
                <a:rPr lang="en-US" altLang="ko-KR" sz="1600" dirty="0"/>
                <a:t>: </a:t>
              </a:r>
              <a:r>
                <a:rPr lang="en-US" altLang="ko-KR" sz="1200" dirty="0"/>
                <a:t>https://github.com/unicorn-campus/law-consult/blob/main/AGENTS.md</a:t>
              </a:r>
            </a:p>
            <a:p>
              <a:pPr marL="179388" indent="-179388">
                <a:lnSpc>
                  <a:spcPct val="112000"/>
                </a:lnSpc>
                <a:buFontTx/>
                <a:buChar char="-"/>
              </a:pPr>
              <a:r>
                <a:rPr lang="ko-KR" altLang="en-US" sz="1400" dirty="0"/>
                <a:t>팀원 구성</a:t>
              </a:r>
              <a:r>
                <a:rPr lang="en-US" altLang="ko-KR" sz="1400" dirty="0"/>
                <a:t>: </a:t>
              </a:r>
              <a:r>
                <a:rPr lang="ko-KR" altLang="en-US" sz="1400" dirty="0" err="1"/>
                <a:t>오케스트레이터</a:t>
              </a:r>
              <a:r>
                <a:rPr lang="ko-KR" altLang="en-US" sz="1400" dirty="0"/>
                <a:t> 빼고 모두 지운 후 </a:t>
              </a:r>
              <a:r>
                <a:rPr lang="en-US" altLang="ko-KR" sz="1400" dirty="0"/>
                <a:t>Claude Code</a:t>
              </a:r>
              <a:r>
                <a:rPr lang="ko-KR" altLang="en-US" sz="1400" dirty="0"/>
                <a:t>에게 팀원 구성 요청</a:t>
              </a:r>
              <a:br>
                <a:rPr lang="en-US" altLang="ko-KR" sz="1400" dirty="0"/>
              </a:br>
              <a:r>
                <a:rPr lang="en-US" altLang="ko-KR" sz="1400" dirty="0"/>
                <a:t>                    “</a:t>
              </a:r>
              <a:r>
                <a:rPr lang="ko-KR" altLang="en-US" sz="1400" dirty="0"/>
                <a:t>목표에 맞는 팀원을 구성해요</a:t>
              </a:r>
              <a:r>
                <a:rPr lang="en-US" altLang="ko-KR" sz="1400" dirty="0"/>
                <a:t>”</a:t>
              </a:r>
            </a:p>
            <a:p>
              <a:pPr marL="179388" indent="-179388">
                <a:lnSpc>
                  <a:spcPct val="112000"/>
                </a:lnSpc>
                <a:buFontTx/>
                <a:buChar char="-"/>
              </a:pPr>
              <a:r>
                <a:rPr lang="ko-KR" altLang="en-US" sz="1400" dirty="0"/>
                <a:t>위 저장소의 </a:t>
              </a:r>
              <a:r>
                <a:rPr lang="en-US" altLang="ko-KR" sz="1400" dirty="0"/>
                <a:t>references </a:t>
              </a:r>
              <a:r>
                <a:rPr lang="ko-KR" altLang="en-US" sz="1400" dirty="0"/>
                <a:t>디렉토리의 프롬프트 가이드</a:t>
              </a:r>
              <a:r>
                <a:rPr lang="en-US" altLang="ko-KR" sz="1400" dirty="0"/>
                <a:t>, pptx </a:t>
              </a:r>
              <a:r>
                <a:rPr lang="ko-KR" altLang="en-US" sz="1400" dirty="0"/>
                <a:t>가이드</a:t>
              </a:r>
              <a:r>
                <a:rPr lang="en-US" altLang="ko-KR" sz="1400" dirty="0"/>
                <a:t>, </a:t>
              </a:r>
              <a:r>
                <a:rPr lang="ko-KR" altLang="en-US" sz="1400" dirty="0"/>
                <a:t>엑셀 가이드 복사</a:t>
              </a:r>
              <a:endParaRPr lang="en-US" altLang="ko-KR" sz="1400" dirty="0"/>
            </a:p>
            <a:p>
              <a:pPr>
                <a:lnSpc>
                  <a:spcPct val="112000"/>
                </a:lnSpc>
              </a:pPr>
              <a:endParaRPr lang="en-US" sz="1600" dirty="0"/>
            </a:p>
          </p:txBody>
        </p:sp>
      </p:grp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457200" y="411480"/>
            <a:ext cx="13716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실습 2종 — 문서 스킬 / 정보조사 스킬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069848"/>
            <a:ext cx="1371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0D948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오늘의 손으로 해보기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457200" y="1718784"/>
            <a:ext cx="6766560" cy="3746184"/>
          </a:xfrm>
          <a:prstGeom prst="roundRect">
            <a:avLst>
              <a:gd name="adj" fmla="val 2667"/>
            </a:avLst>
          </a:prstGeom>
          <a:solidFill>
            <a:srgbClr val="F5F5F7"/>
          </a:solidFill>
          <a:ln w="12700">
            <a:solidFill>
              <a:srgbClr val="DDDDE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457200" y="1718784"/>
            <a:ext cx="6766560" cy="502920"/>
          </a:xfrm>
          <a:prstGeom prst="roundRect">
            <a:avLst>
              <a:gd name="adj" fmla="val 14545"/>
            </a:avLst>
          </a:prstGeom>
          <a:solidFill>
            <a:srgbClr val="1A6E3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/>
          <p:nvPr/>
        </p:nvSpPr>
        <p:spPr>
          <a:xfrm>
            <a:off x="457200" y="1718784"/>
            <a:ext cx="67665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① </a:t>
            </a:r>
            <a:r>
              <a:rPr lang="ko-KR" alt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법률 상담 스킬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58368" y="2404583"/>
            <a:ext cx="6400800" cy="269605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latin typeface="Pretendard" pitchFamily="34" charset="0"/>
                <a:ea typeface="Pretendard" pitchFamily="34" charset="-122"/>
                <a:cs typeface="Pretendard" pitchFamily="34" charset="-120"/>
              </a:rPr>
              <a:t>Korean-law MCP </a:t>
            </a:r>
            <a:r>
              <a:rPr lang="ko-KR" altLang="en-US" sz="1600" dirty="0"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이용</a:t>
            </a:r>
            <a:r>
              <a:rPr lang="en-US" altLang="ko-KR" sz="1600" dirty="0">
                <a:latin typeface="Pretendard" pitchFamily="34" charset="0"/>
                <a:ea typeface="Pretendard" pitchFamily="34" charset="-122"/>
                <a:cs typeface="Pretendard" pitchFamily="34" charset="-120"/>
              </a:rPr>
              <a:t>: </a:t>
            </a:r>
            <a:r>
              <a:rPr lang="ko-KR" altLang="en-US" sz="1600" dirty="0"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독립 설치 또는 </a:t>
            </a:r>
            <a:r>
              <a:rPr lang="en-US" altLang="ko-KR" sz="1600" dirty="0" err="1">
                <a:latin typeface="Pretendard" pitchFamily="34" charset="0"/>
                <a:ea typeface="Pretendard" pitchFamily="34" charset="-122"/>
                <a:cs typeface="Pretendard" pitchFamily="34" charset="-120"/>
              </a:rPr>
              <a:t>PlayMCP</a:t>
            </a:r>
            <a:r>
              <a:rPr lang="en-US" altLang="ko-KR" sz="1600" dirty="0"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r>
              <a:rPr lang="ko-KR" altLang="en-US" sz="1600" dirty="0"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통해 설치</a:t>
            </a:r>
            <a:br>
              <a:rPr lang="en-US" altLang="ko-KR" sz="1600" dirty="0">
                <a:latin typeface="Pretendard" pitchFamily="34" charset="0"/>
                <a:ea typeface="Pretendard" pitchFamily="34" charset="-122"/>
                <a:cs typeface="Pretendard" pitchFamily="34" charset="-120"/>
              </a:rPr>
            </a:br>
            <a:r>
              <a:rPr lang="en-US" altLang="ko-KR" sz="1600" dirty="0">
                <a:solidFill>
                  <a:srgbClr val="0563C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https://github.com/chrisryugj/</a:t>
            </a:r>
            <a:r>
              <a:rPr lang="en-US" altLang="ko-KR" sz="1600" dirty="0">
                <a:latin typeface="Pretendard" pitchFamily="34" charset="0"/>
                <a:ea typeface="Pretendard" pitchFamily="34" charset="-122"/>
                <a:cs typeface="Pretendard" pitchFamily="34" charset="-12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korean-law-mcp</a:t>
            </a:r>
            <a:endParaRPr lang="en-US" altLang="ko-KR" sz="1600" dirty="0">
              <a:latin typeface="Pretendard" pitchFamily="34" charset="0"/>
              <a:ea typeface="Pretendard" pitchFamily="34" charset="-122"/>
              <a:cs typeface="Pretendard" pitchFamily="34" charset="-120"/>
            </a:endParaRPr>
          </a:p>
          <a:p>
            <a:pPr marL="177800" indent="-1778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ko-KR" altLang="en-US" sz="1600" dirty="0"/>
              <a:t>법령과 판례의 출처를 명확히 표기하도록 함</a:t>
            </a:r>
            <a:endParaRPr lang="en-US" altLang="ko-KR" sz="1600" dirty="0"/>
          </a:p>
          <a:p>
            <a:pPr marL="177800" indent="-1778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ko-KR" altLang="en-US" sz="1600" dirty="0"/>
              <a:t>비 법률 전문가가 이해할 수 있게 쉽게 작성하도록 함</a:t>
            </a:r>
            <a:endParaRPr lang="en-US" sz="1600" dirty="0"/>
          </a:p>
          <a:p>
            <a:pPr marL="177800" indent="-177800" algn="l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ko-KR" altLang="en-US" sz="1600" dirty="0">
                <a:latin typeface="Pretendard" pitchFamily="34" charset="0"/>
                <a:ea typeface="Pretendard" pitchFamily="34" charset="-122"/>
                <a:cs typeface="Pretendard" pitchFamily="34" charset="-120"/>
              </a:rPr>
              <a:t>먼저 프롬프트로 작성하여 테스트 및 개선</a:t>
            </a:r>
            <a:endParaRPr lang="en-US" altLang="ko-KR" sz="1600" dirty="0">
              <a:latin typeface="Pretendard" pitchFamily="34" charset="0"/>
              <a:ea typeface="Pretendard" pitchFamily="34" charset="-122"/>
              <a:cs typeface="Pretendard" pitchFamily="34" charset="-120"/>
            </a:endParaRPr>
          </a:p>
          <a:p>
            <a:pPr marL="177800" indent="-177800" algn="l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latin typeface="Pretendard" pitchFamily="34" charset="0"/>
                <a:ea typeface="Pretendard" pitchFamily="34" charset="-122"/>
                <a:cs typeface="Pretendard" pitchFamily="34" charset="-120"/>
              </a:rPr>
              <a:t>Claude Code</a:t>
            </a:r>
            <a:r>
              <a:rPr lang="ko-KR" altLang="en-US" sz="1600" dirty="0"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에 프롬프트를 제시하여 스킬 작성 요청</a:t>
            </a:r>
            <a:endParaRPr lang="en-US" altLang="ko-KR" sz="1600" dirty="0">
              <a:latin typeface="Pretendard" pitchFamily="34" charset="0"/>
              <a:ea typeface="Pretendard" pitchFamily="34" charset="-122"/>
              <a:cs typeface="Pretendard" pitchFamily="34" charset="-120"/>
            </a:endParaRPr>
          </a:p>
          <a:p>
            <a:pPr marL="177800" indent="-177800" algn="l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7406640" y="1718784"/>
            <a:ext cx="6766560" cy="3746184"/>
          </a:xfrm>
          <a:prstGeom prst="roundRect">
            <a:avLst>
              <a:gd name="adj" fmla="val 2667"/>
            </a:avLst>
          </a:prstGeom>
          <a:solidFill>
            <a:srgbClr val="F5F5F7"/>
          </a:solidFill>
          <a:ln w="12700">
            <a:solidFill>
              <a:srgbClr val="DDDDE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8"/>
          <p:cNvSpPr/>
          <p:nvPr/>
        </p:nvSpPr>
        <p:spPr>
          <a:xfrm>
            <a:off x="7406640" y="1718784"/>
            <a:ext cx="6766560" cy="502920"/>
          </a:xfrm>
          <a:prstGeom prst="roundRect">
            <a:avLst>
              <a:gd name="adj" fmla="val 14545"/>
            </a:avLst>
          </a:prstGeom>
          <a:solidFill>
            <a:srgbClr val="C0530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/>
          <p:cNvSpPr/>
          <p:nvPr/>
        </p:nvSpPr>
        <p:spPr>
          <a:xfrm>
            <a:off x="7406640" y="1718784"/>
            <a:ext cx="67665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② </a:t>
            </a:r>
            <a:r>
              <a:rPr lang="ko-KR" alt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기업 </a:t>
            </a:r>
            <a:r>
              <a:rPr lang="en-US" sz="1600" b="1" dirty="0" err="1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정보조사</a:t>
            </a: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스킬 — </a:t>
            </a:r>
            <a:r>
              <a:rPr lang="en-US" sz="1600" b="1" dirty="0" err="1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조사→레포트→슬라이드</a:t>
            </a: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607808" y="2404583"/>
            <a:ext cx="6400800" cy="269605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 algn="l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ko-KR" altLang="en-US" sz="1600" dirty="0"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웹과 </a:t>
            </a:r>
            <a:r>
              <a:rPr lang="en-US" altLang="ko-KR" sz="1600" dirty="0">
                <a:latin typeface="Pretendard" pitchFamily="34" charset="0"/>
                <a:ea typeface="Pretendard" pitchFamily="34" charset="-122"/>
                <a:cs typeface="Pretendard" pitchFamily="34" charset="-120"/>
              </a:rPr>
              <a:t>DART MCP</a:t>
            </a:r>
            <a:r>
              <a:rPr lang="ko-KR" altLang="en-US" sz="1600" dirty="0">
                <a:latin typeface="Pretendard" pitchFamily="34" charset="0"/>
                <a:ea typeface="Pretendard" pitchFamily="34" charset="-122"/>
                <a:cs typeface="Pretendard" pitchFamily="34" charset="-120"/>
              </a:rPr>
              <a:t>로 </a:t>
            </a:r>
            <a:r>
              <a:rPr lang="en-US" sz="1600" dirty="0" err="1">
                <a:latin typeface="Pretendard" pitchFamily="34" charset="0"/>
                <a:ea typeface="Pretendard" pitchFamily="34" charset="-122"/>
                <a:cs typeface="Pretendard" pitchFamily="34" charset="-120"/>
              </a:rPr>
              <a:t>특정</a:t>
            </a:r>
            <a:r>
              <a:rPr lang="en-US" sz="1600" dirty="0"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r>
              <a:rPr lang="ko-KR" altLang="en-US" sz="1600" dirty="0"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기업</a:t>
            </a:r>
            <a:r>
              <a:rPr lang="en-US" sz="1600" dirty="0">
                <a:latin typeface="Pretendard" pitchFamily="34" charset="0"/>
                <a:ea typeface="Pretendard" pitchFamily="34" charset="-122"/>
                <a:cs typeface="Pretendard" pitchFamily="34" charset="-120"/>
              </a:rPr>
              <a:t> 검색 → 레포트 작성 → 웹페이지 가시화 → PPT 슬라이드까지 </a:t>
            </a:r>
            <a:r>
              <a:rPr lang="en-US" sz="1600" dirty="0" err="1"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단계</a:t>
            </a:r>
            <a:r>
              <a:rPr lang="en-US" sz="1600" dirty="0"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r>
              <a:rPr lang="en-US" sz="1600" dirty="0" err="1"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실행</a:t>
            </a:r>
            <a:br>
              <a:rPr lang="en-US" sz="1600" dirty="0">
                <a:latin typeface="Pretendard" pitchFamily="34" charset="0"/>
                <a:ea typeface="Pretendard" pitchFamily="34" charset="-122"/>
                <a:cs typeface="Pretendard" pitchFamily="34" charset="-120"/>
              </a:rPr>
            </a:br>
            <a:r>
              <a:rPr lang="en-US" sz="1600" b="1" dirty="0"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 여러 단계 절차를 하나의 레시피로 묶는 체험 (웹/DART 검색·PPT 생성 등 도구 연동 </a:t>
            </a:r>
            <a:r>
              <a:rPr lang="en-US" sz="1600" b="1" dirty="0" err="1"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포함</a:t>
            </a:r>
            <a:r>
              <a:rPr lang="en-US" sz="1600" b="1" dirty="0">
                <a:latin typeface="Pretendard" pitchFamily="34" charset="0"/>
                <a:ea typeface="Pretendard" pitchFamily="34" charset="-122"/>
                <a:cs typeface="Pretendard" pitchFamily="34" charset="-120"/>
              </a:rPr>
              <a:t>)</a:t>
            </a:r>
          </a:p>
          <a:p>
            <a:pPr marL="177800" indent="-1778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altLang="ko-KR" sz="1600" dirty="0">
                <a:latin typeface="Pretendard" pitchFamily="34" charset="0"/>
                <a:ea typeface="Pretendard" pitchFamily="34" charset="-122"/>
                <a:cs typeface="Pretendard" pitchFamily="34" charset="-120"/>
              </a:rPr>
              <a:t>DART </a:t>
            </a:r>
            <a:r>
              <a:rPr lang="en-US" altLang="ko-KR" sz="1600" dirty="0" err="1">
                <a:latin typeface="Pretendard" pitchFamily="34" charset="0"/>
                <a:ea typeface="Pretendard" pitchFamily="34" charset="-122"/>
                <a:cs typeface="Pretendard" pitchFamily="34" charset="-120"/>
              </a:rPr>
              <a:t>mcp</a:t>
            </a:r>
            <a:r>
              <a:rPr lang="ko-KR" altLang="en-US" sz="1600" dirty="0">
                <a:latin typeface="Pretendard" pitchFamily="34" charset="0"/>
                <a:ea typeface="Pretendard" pitchFamily="34" charset="-122"/>
                <a:cs typeface="Pretendard" pitchFamily="34" charset="-120"/>
              </a:rPr>
              <a:t>는 독립설치 또는 </a:t>
            </a:r>
            <a:r>
              <a:rPr lang="en-US" altLang="ko-KR" sz="1600" dirty="0" err="1">
                <a:latin typeface="Pretendard" pitchFamily="34" charset="0"/>
                <a:ea typeface="Pretendard" pitchFamily="34" charset="-122"/>
                <a:cs typeface="Pretendard" pitchFamily="34" charset="-120"/>
              </a:rPr>
              <a:t>PlayMCP</a:t>
            </a:r>
            <a:r>
              <a:rPr lang="en-US" altLang="ko-KR" sz="1600" dirty="0"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r>
              <a:rPr lang="ko-KR" altLang="en-US" sz="1600" dirty="0"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통해 설치</a:t>
            </a:r>
            <a:br>
              <a:rPr lang="en-US" altLang="ko-KR" sz="1600" dirty="0">
                <a:latin typeface="Pretendard" pitchFamily="34" charset="0"/>
                <a:ea typeface="Pretendard" pitchFamily="34" charset="-122"/>
                <a:cs typeface="Pretendard" pitchFamily="34" charset="-120"/>
              </a:rPr>
            </a:br>
            <a:r>
              <a:rPr lang="en-US" altLang="ko-KR" sz="1600" dirty="0">
                <a:latin typeface="Pretendard" pitchFamily="34" charset="0"/>
                <a:ea typeface="Pretendard" pitchFamily="34" charset="-122"/>
                <a:cs typeface="Pretendard" pitchFamily="34" charset="-120"/>
              </a:rPr>
              <a:t>https://mcp.directory/servers/korean-stock-market-dart-krx</a:t>
            </a:r>
            <a:endParaRPr lang="en-US" sz="1600" dirty="0">
              <a:latin typeface="Pretendard" pitchFamily="34" charset="0"/>
              <a:ea typeface="Pretendard" pitchFamily="34" charset="-122"/>
              <a:cs typeface="Pretendard" pitchFamily="34" charset="-120"/>
            </a:endParaRPr>
          </a:p>
          <a:p>
            <a:pPr marL="177800" indent="-1778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ko-KR" altLang="en-US" sz="1600" dirty="0"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레포트의 </a:t>
            </a:r>
            <a:r>
              <a:rPr lang="ko-KR" altLang="en-US" sz="1600" dirty="0" err="1"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아젠다를</a:t>
            </a:r>
            <a:r>
              <a:rPr lang="ko-KR" altLang="en-US" sz="1600" dirty="0">
                <a:latin typeface="Pretendard" pitchFamily="34" charset="0"/>
                <a:ea typeface="Pretendard" pitchFamily="34" charset="-122"/>
                <a:cs typeface="Pretendard" pitchFamily="34" charset="-120"/>
              </a:rPr>
              <a:t> 제시 받고 진행함</a:t>
            </a:r>
            <a:endParaRPr lang="en-US" altLang="ko-KR" sz="1600" dirty="0">
              <a:latin typeface="Pretendard" pitchFamily="34" charset="0"/>
              <a:ea typeface="Pretendard" pitchFamily="34" charset="-122"/>
              <a:cs typeface="Pretendard" pitchFamily="34" charset="-120"/>
            </a:endParaRPr>
          </a:p>
          <a:p>
            <a:pPr marL="177800" indent="-1778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ko-KR" altLang="en-US" sz="1600" dirty="0">
                <a:latin typeface="Pretendard" pitchFamily="34" charset="0"/>
                <a:ea typeface="Pretendard" pitchFamily="34" charset="-122"/>
                <a:cs typeface="Pretendard" pitchFamily="34" charset="-120"/>
              </a:rPr>
              <a:t>먼저 프롬프트로 작성하여 테스트 및 개선</a:t>
            </a:r>
            <a:endParaRPr lang="en-US" altLang="ko-KR" sz="1600" dirty="0">
              <a:latin typeface="Pretendard" pitchFamily="34" charset="0"/>
              <a:ea typeface="Pretendard" pitchFamily="34" charset="-122"/>
              <a:cs typeface="Pretendard" pitchFamily="34" charset="-120"/>
            </a:endParaRPr>
          </a:p>
          <a:p>
            <a:pPr marL="177800" indent="-1778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altLang="ko-KR" sz="1600" dirty="0">
                <a:latin typeface="Pretendard" pitchFamily="34" charset="0"/>
                <a:ea typeface="Pretendard" pitchFamily="34" charset="-122"/>
                <a:cs typeface="Pretendard" pitchFamily="34" charset="-120"/>
              </a:rPr>
              <a:t>Claude Code</a:t>
            </a:r>
            <a:r>
              <a:rPr lang="ko-KR" altLang="en-US" sz="1600" dirty="0"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에 프롬프트를 제시하여 스킬 작성 요청</a:t>
            </a:r>
            <a:endParaRPr lang="en-US" altLang="ko-KR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3624560" y="786384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600">
                <a:solidFill>
                  <a:srgbClr val="6B6B7B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lang="en-US" b="0"/>
              <a:t>10</a:t>
            </a:fld>
            <a:endParaRPr lang="en-US"/>
          </a:p>
        </p:txBody>
      </p:sp>
      <p:grpSp>
        <p:nvGrpSpPr>
          <p:cNvPr id="15" name="그룹 14">
            <a:extLst>
              <a:ext uri="{FF2B5EF4-FFF2-40B4-BE49-F238E27FC236}">
                <a16:creationId xmlns:a16="http://schemas.microsoft.com/office/drawing/2014/main" id="{9B956212-1F7F-031E-A9D6-DE8B5B17327A}"/>
              </a:ext>
            </a:extLst>
          </p:cNvPr>
          <p:cNvGrpSpPr/>
          <p:nvPr/>
        </p:nvGrpSpPr>
        <p:grpSpPr>
          <a:xfrm>
            <a:off x="457200" y="5609279"/>
            <a:ext cx="6766560" cy="505770"/>
            <a:chOff x="457200" y="5492123"/>
            <a:chExt cx="5943600" cy="822960"/>
          </a:xfrm>
        </p:grpSpPr>
        <p:sp>
          <p:nvSpPr>
            <p:cNvPr id="16" name="Shape 8">
              <a:hlinkClick r:id="rId4"/>
              <a:extLst>
                <a:ext uri="{FF2B5EF4-FFF2-40B4-BE49-F238E27FC236}">
                  <a16:creationId xmlns:a16="http://schemas.microsoft.com/office/drawing/2014/main" id="{31003E4D-3F10-3CD0-1A11-259BD3D9D847}"/>
                </a:ext>
              </a:extLst>
            </p:cNvPr>
            <p:cNvSpPr/>
            <p:nvPr/>
          </p:nvSpPr>
          <p:spPr>
            <a:xfrm>
              <a:off x="457200" y="5492123"/>
              <a:ext cx="5943600" cy="822960"/>
            </a:xfrm>
            <a:prstGeom prst="roundRect">
              <a:avLst>
                <a:gd name="adj" fmla="val 6667"/>
              </a:avLst>
            </a:prstGeom>
            <a:solidFill>
              <a:srgbClr val="059669"/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7" name="Text 9">
              <a:extLst>
                <a:ext uri="{FF2B5EF4-FFF2-40B4-BE49-F238E27FC236}">
                  <a16:creationId xmlns:a16="http://schemas.microsoft.com/office/drawing/2014/main" id="{BB3FDFC5-8ACD-0D28-CE77-952AE5C95121}"/>
                </a:ext>
              </a:extLst>
            </p:cNvPr>
            <p:cNvSpPr/>
            <p:nvPr/>
          </p:nvSpPr>
          <p:spPr>
            <a:xfrm>
              <a:off x="457200" y="5492123"/>
              <a:ext cx="5943600" cy="82296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ko-KR" altLang="en-US" sz="1600" b="1" dirty="0">
                  <a:solidFill>
                    <a:srgbClr val="FFFFFF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프롬프트 예시</a:t>
              </a:r>
              <a:endParaRPr lang="en-US" sz="1600" dirty="0"/>
            </a:p>
          </p:txBody>
        </p:sp>
      </p:grpSp>
      <p:grpSp>
        <p:nvGrpSpPr>
          <p:cNvPr id="18" name="그룹 17">
            <a:extLst>
              <a:ext uri="{FF2B5EF4-FFF2-40B4-BE49-F238E27FC236}">
                <a16:creationId xmlns:a16="http://schemas.microsoft.com/office/drawing/2014/main" id="{B51BBB4B-2809-C11A-5DFE-7164DEAF06EF}"/>
              </a:ext>
            </a:extLst>
          </p:cNvPr>
          <p:cNvGrpSpPr/>
          <p:nvPr/>
        </p:nvGrpSpPr>
        <p:grpSpPr>
          <a:xfrm>
            <a:off x="7406640" y="5597373"/>
            <a:ext cx="6766560" cy="505770"/>
            <a:chOff x="457200" y="5492123"/>
            <a:chExt cx="5943600" cy="822960"/>
          </a:xfrm>
        </p:grpSpPr>
        <p:sp>
          <p:nvSpPr>
            <p:cNvPr id="19" name="Shape 8">
              <a:hlinkClick r:id="rId5"/>
              <a:extLst>
                <a:ext uri="{FF2B5EF4-FFF2-40B4-BE49-F238E27FC236}">
                  <a16:creationId xmlns:a16="http://schemas.microsoft.com/office/drawing/2014/main" id="{E2A40E22-5EF2-13B1-56D6-D16DFA98A0A9}"/>
                </a:ext>
              </a:extLst>
            </p:cNvPr>
            <p:cNvSpPr/>
            <p:nvPr/>
          </p:nvSpPr>
          <p:spPr>
            <a:xfrm>
              <a:off x="457200" y="5492123"/>
              <a:ext cx="5943600" cy="822960"/>
            </a:xfrm>
            <a:prstGeom prst="roundRect">
              <a:avLst>
                <a:gd name="adj" fmla="val 6667"/>
              </a:avLst>
            </a:prstGeom>
            <a:solidFill>
              <a:srgbClr val="059669"/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0" name="Text 9">
              <a:extLst>
                <a:ext uri="{FF2B5EF4-FFF2-40B4-BE49-F238E27FC236}">
                  <a16:creationId xmlns:a16="http://schemas.microsoft.com/office/drawing/2014/main" id="{4E41D19A-CDD9-7882-997B-EBA0387F34C5}"/>
                </a:ext>
              </a:extLst>
            </p:cNvPr>
            <p:cNvSpPr/>
            <p:nvPr/>
          </p:nvSpPr>
          <p:spPr>
            <a:xfrm>
              <a:off x="457200" y="5492123"/>
              <a:ext cx="5943600" cy="82296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ko-KR" altLang="en-US" sz="1600" b="1" dirty="0">
                  <a:solidFill>
                    <a:srgbClr val="FFFFFF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프롬프트 예시</a:t>
              </a:r>
              <a:endParaRPr lang="en-US" sz="1600" dirty="0"/>
            </a:p>
          </p:txBody>
        </p:sp>
      </p:grpSp>
      <p:grpSp>
        <p:nvGrpSpPr>
          <p:cNvPr id="2" name="그룹 1">
            <a:extLst>
              <a:ext uri="{FF2B5EF4-FFF2-40B4-BE49-F238E27FC236}">
                <a16:creationId xmlns:a16="http://schemas.microsoft.com/office/drawing/2014/main" id="{8EFEB339-57AB-31FE-93D0-F0C10A9721CD}"/>
              </a:ext>
            </a:extLst>
          </p:cNvPr>
          <p:cNvGrpSpPr/>
          <p:nvPr/>
        </p:nvGrpSpPr>
        <p:grpSpPr>
          <a:xfrm>
            <a:off x="457200" y="6243638"/>
            <a:ext cx="13716000" cy="1477339"/>
            <a:chOff x="457200" y="5257800"/>
            <a:chExt cx="13716000" cy="777240"/>
          </a:xfrm>
        </p:grpSpPr>
        <p:sp>
          <p:nvSpPr>
            <p:cNvPr id="13" name="Shape 13">
              <a:extLst>
                <a:ext uri="{FF2B5EF4-FFF2-40B4-BE49-F238E27FC236}">
                  <a16:creationId xmlns:a16="http://schemas.microsoft.com/office/drawing/2014/main" id="{6514C80F-DB20-B2CD-F1CE-7891AEFF5A17}"/>
                </a:ext>
              </a:extLst>
            </p:cNvPr>
            <p:cNvSpPr/>
            <p:nvPr/>
          </p:nvSpPr>
          <p:spPr>
            <a:xfrm>
              <a:off x="457200" y="5257800"/>
              <a:ext cx="13716000" cy="777240"/>
            </a:xfrm>
            <a:prstGeom prst="roundRect">
              <a:avLst>
                <a:gd name="adj" fmla="val 9412"/>
              </a:avLst>
            </a:prstGeom>
            <a:solidFill>
              <a:srgbClr val="CCFBF1"/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4" name="Text 14">
              <a:extLst>
                <a:ext uri="{FF2B5EF4-FFF2-40B4-BE49-F238E27FC236}">
                  <a16:creationId xmlns:a16="http://schemas.microsoft.com/office/drawing/2014/main" id="{AAE8150E-5C11-AB29-F81F-1668D0E65881}"/>
                </a:ext>
              </a:extLst>
            </p:cNvPr>
            <p:cNvSpPr/>
            <p:nvPr/>
          </p:nvSpPr>
          <p:spPr>
            <a:xfrm>
              <a:off x="640080" y="5257800"/>
              <a:ext cx="13350240" cy="77724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l">
                <a:lnSpc>
                  <a:spcPct val="105000"/>
                </a:lnSpc>
                <a:buNone/>
              </a:pPr>
              <a:r>
                <a:rPr lang="en-US" sz="1600" b="1" dirty="0">
                  <a:solidFill>
                    <a:srgbClr val="2C2926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Git</a:t>
              </a:r>
              <a:r>
                <a:rPr lang="ko-KR" altLang="en-US" sz="1600" b="1" dirty="0">
                  <a:solidFill>
                    <a:srgbClr val="2C2926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 </a:t>
              </a:r>
              <a:r>
                <a:rPr lang="ko-KR" altLang="en-US" sz="1600" b="1" dirty="0" err="1">
                  <a:solidFill>
                    <a:srgbClr val="2C2926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레포지토리</a:t>
              </a:r>
              <a:r>
                <a:rPr lang="ko-KR" altLang="en-US" sz="1600" b="1" dirty="0">
                  <a:solidFill>
                    <a:srgbClr val="2C2926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 생성 및 저장</a:t>
              </a:r>
              <a:endParaRPr lang="en-US" altLang="ko-KR" sz="16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endParaRPr>
            </a:p>
            <a:p>
              <a:pPr marL="0" indent="0" algn="l">
                <a:lnSpc>
                  <a:spcPct val="105000"/>
                </a:lnSpc>
                <a:buNone/>
              </a:pPr>
              <a:r>
                <a:rPr lang="ko-KR" altLang="en-US" sz="1400" dirty="0">
                  <a:solidFill>
                    <a:srgbClr val="2C2926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스킬 개발 완료 후 </a:t>
              </a:r>
              <a:r>
                <a:rPr lang="en-US" altLang="ko-KR" sz="1400" dirty="0">
                  <a:solidFill>
                    <a:srgbClr val="2C2926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GitHub</a:t>
              </a:r>
              <a:r>
                <a:rPr lang="ko-KR" altLang="en-US" sz="1400" dirty="0">
                  <a:solidFill>
                    <a:srgbClr val="2C2926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에 </a:t>
              </a:r>
              <a:r>
                <a:rPr lang="ko-KR" altLang="en-US" sz="1400" dirty="0" err="1">
                  <a:solidFill>
                    <a:srgbClr val="2C2926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레포지토리를</a:t>
              </a:r>
              <a:r>
                <a:rPr lang="ko-KR" altLang="en-US" sz="1400" dirty="0">
                  <a:solidFill>
                    <a:srgbClr val="2C2926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 만들고 </a:t>
              </a:r>
              <a:r>
                <a:rPr lang="ko-KR" altLang="en-US" sz="1400" dirty="0" err="1">
                  <a:solidFill>
                    <a:srgbClr val="2C2926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푸시합니다</a:t>
              </a:r>
              <a:r>
                <a:rPr lang="en-US" altLang="ko-KR" sz="1400" dirty="0">
                  <a:solidFill>
                    <a:srgbClr val="2C2926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. </a:t>
              </a:r>
              <a:r>
                <a:rPr lang="ko-KR" altLang="en-US" sz="1400" dirty="0" err="1">
                  <a:solidFill>
                    <a:srgbClr val="2C2926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레포지토리</a:t>
              </a:r>
              <a:r>
                <a:rPr lang="ko-KR" altLang="en-US" sz="1400" dirty="0">
                  <a:solidFill>
                    <a:srgbClr val="2C2926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 생성 후에는 </a:t>
              </a:r>
              <a:r>
                <a:rPr lang="en-US" altLang="ko-KR" sz="1400" dirty="0">
                  <a:solidFill>
                    <a:srgbClr val="2C2926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‘push’ </a:t>
              </a:r>
              <a:r>
                <a:rPr lang="ko-KR" altLang="en-US" sz="1400" dirty="0">
                  <a:solidFill>
                    <a:srgbClr val="2C2926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또는 </a:t>
              </a:r>
              <a:r>
                <a:rPr lang="en-US" altLang="ko-KR" sz="1400" dirty="0">
                  <a:solidFill>
                    <a:srgbClr val="2C2926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‘</a:t>
              </a:r>
              <a:r>
                <a:rPr lang="ko-KR" altLang="en-US" sz="1400" dirty="0">
                  <a:solidFill>
                    <a:srgbClr val="2C2926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푸시</a:t>
              </a:r>
              <a:r>
                <a:rPr lang="en-US" altLang="ko-KR" sz="1400" dirty="0">
                  <a:solidFill>
                    <a:srgbClr val="2C2926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’ </a:t>
              </a:r>
              <a:r>
                <a:rPr lang="ko-KR" altLang="en-US" sz="1400" dirty="0">
                  <a:solidFill>
                    <a:srgbClr val="2C2926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명령으로 변경사항을 업로드합니다</a:t>
              </a:r>
              <a:r>
                <a:rPr lang="en-US" altLang="ko-KR" sz="1400" dirty="0">
                  <a:solidFill>
                    <a:srgbClr val="2C2926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. </a:t>
              </a:r>
            </a:p>
            <a:p>
              <a:pPr>
                <a:lnSpc>
                  <a:spcPct val="105000"/>
                </a:lnSpc>
              </a:pPr>
              <a:r>
                <a:rPr lang="en-US" sz="1400" dirty="0">
                  <a:solidFill>
                    <a:srgbClr val="2C2926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- Organization </a:t>
              </a:r>
              <a:r>
                <a:rPr lang="ko-KR" altLang="en-US" sz="1400" dirty="0">
                  <a:solidFill>
                    <a:srgbClr val="2C2926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생성</a:t>
              </a:r>
              <a:r>
                <a:rPr lang="en-US" altLang="ko-KR" sz="1400" dirty="0">
                  <a:solidFill>
                    <a:srgbClr val="2C2926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: https://github.com/account/organizations/new</a:t>
              </a:r>
            </a:p>
            <a:p>
              <a:pPr>
                <a:lnSpc>
                  <a:spcPct val="105000"/>
                </a:lnSpc>
              </a:pPr>
              <a:r>
                <a:rPr lang="en-US" sz="1400" dirty="0">
                  <a:solidFill>
                    <a:srgbClr val="2C2926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- Repository </a:t>
              </a:r>
              <a:r>
                <a:rPr lang="ko-KR" altLang="en-US" sz="1400" dirty="0">
                  <a:solidFill>
                    <a:srgbClr val="2C2926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생성</a:t>
              </a:r>
              <a:r>
                <a:rPr lang="en-US" altLang="ko-KR" sz="1400" dirty="0">
                  <a:solidFill>
                    <a:srgbClr val="2C2926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: </a:t>
              </a:r>
              <a:r>
                <a:rPr lang="en-US" sz="1400" dirty="0">
                  <a:solidFill>
                    <a:srgbClr val="2C2926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Claude Code</a:t>
              </a:r>
              <a:r>
                <a:rPr lang="ko-KR" altLang="en-US" sz="1400" dirty="0">
                  <a:solidFill>
                    <a:srgbClr val="2C2926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에 요청 </a:t>
              </a:r>
              <a:r>
                <a:rPr lang="en-US" altLang="ko-KR" sz="1400" dirty="0">
                  <a:solidFill>
                    <a:srgbClr val="2C2926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  <a:sym typeface="Wingdings" panose="05000000000000000000" pitchFamily="2" charset="2"/>
                </a:rPr>
                <a:t></a:t>
              </a:r>
              <a:r>
                <a:rPr lang="en-US" altLang="ko-KR" sz="1400" dirty="0">
                  <a:solidFill>
                    <a:srgbClr val="2C2926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 “Organization ‘{ORG</a:t>
              </a:r>
              <a:r>
                <a:rPr lang="ko-KR" altLang="en-US" sz="1400" dirty="0">
                  <a:solidFill>
                    <a:srgbClr val="2C2926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명</a:t>
              </a:r>
              <a:r>
                <a:rPr lang="en-US" altLang="ko-KR" sz="1400" dirty="0">
                  <a:solidFill>
                    <a:srgbClr val="2C2926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}’/Repository ‘{REP</a:t>
              </a:r>
              <a:r>
                <a:rPr lang="ko-KR" altLang="en-US" sz="1400" dirty="0">
                  <a:solidFill>
                    <a:srgbClr val="2C2926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명</a:t>
              </a:r>
              <a:r>
                <a:rPr lang="en-US" altLang="ko-KR" sz="1400" dirty="0">
                  <a:solidFill>
                    <a:srgbClr val="2C2926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}’</a:t>
              </a:r>
              <a:r>
                <a:rPr lang="ko-KR" altLang="en-US" sz="1400" dirty="0">
                  <a:solidFill>
                    <a:srgbClr val="2C2926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을 생성하고 푸시 하세요</a:t>
              </a:r>
              <a:r>
                <a:rPr lang="en-US" altLang="ko-KR" sz="1400" dirty="0">
                  <a:solidFill>
                    <a:srgbClr val="2C2926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”</a:t>
              </a:r>
              <a:r>
                <a:rPr lang="ko-KR" altLang="en-US" sz="1400" dirty="0">
                  <a:solidFill>
                    <a:srgbClr val="2C2926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 </a:t>
              </a:r>
              <a:br>
                <a:rPr lang="en-US" altLang="ko-KR" sz="1400" dirty="0">
                  <a:solidFill>
                    <a:srgbClr val="2C2926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</a:br>
              <a:r>
                <a:rPr lang="ko-KR" altLang="en-US" sz="1400" dirty="0">
                  <a:solidFill>
                    <a:srgbClr val="2C2926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                                                                         예</a:t>
              </a:r>
              <a:r>
                <a:rPr lang="en-US" altLang="ko-KR" sz="1400" dirty="0">
                  <a:solidFill>
                    <a:srgbClr val="2C2926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) Organization ‘unicorn-campus’/Repository ‘law-consult’</a:t>
              </a:r>
              <a:r>
                <a:rPr lang="ko-KR" altLang="en-US" sz="1400" dirty="0">
                  <a:solidFill>
                    <a:srgbClr val="2C2926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를 생성하고 푸시 하세요</a:t>
              </a:r>
              <a:endParaRPr lang="en-US" sz="1400" dirty="0"/>
            </a:p>
          </p:txBody>
        </p:sp>
      </p:grp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457200" y="411480"/>
            <a:ext cx="13716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200" b="1" dirty="0" err="1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안전</a:t>
            </a:r>
            <a:r>
              <a:rPr lang="en-US" sz="32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수칙 — 스킬도 "소프트웨어처럼"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069848"/>
            <a:ext cx="1371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0D948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편리해도 흔들리지 않는 3원칙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457200" y="2194560"/>
            <a:ext cx="4434840" cy="2743200"/>
          </a:xfrm>
          <a:prstGeom prst="roundRect">
            <a:avLst>
              <a:gd name="adj" fmla="val 2667"/>
            </a:avLst>
          </a:prstGeom>
          <a:solidFill>
            <a:srgbClr val="F5F5F7"/>
          </a:solidFill>
          <a:ln w="12700">
            <a:solidFill>
              <a:srgbClr val="DDDDE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457200" y="2194560"/>
            <a:ext cx="4434840" cy="502920"/>
          </a:xfrm>
          <a:prstGeom prst="roundRect">
            <a:avLst>
              <a:gd name="adj" fmla="val 14545"/>
            </a:avLst>
          </a:prstGeom>
          <a:solidFill>
            <a:srgbClr val="1A6E36"/>
          </a:solidFill>
          <a:ln/>
        </p:spPr>
        <p:txBody>
          <a:bodyPr/>
          <a:lstStyle/>
          <a:p>
            <a:endParaRPr lang="ko-KR" altLang="en-US" sz="2000"/>
          </a:p>
        </p:txBody>
      </p:sp>
      <p:sp>
        <p:nvSpPr>
          <p:cNvPr id="7" name="Text 5"/>
          <p:cNvSpPr/>
          <p:nvPr/>
        </p:nvSpPr>
        <p:spPr>
          <a:xfrm>
            <a:off x="457200" y="2194560"/>
            <a:ext cx="4434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 신뢰 출처만</a:t>
            </a: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658368" y="2816352"/>
            <a:ext cx="4032504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 algn="l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dirty="0">
                <a:solidFill>
                  <a:srgbClr val="505060"/>
                </a:solidFill>
                <a:ea typeface="Pretendard" pitchFamily="34" charset="-122"/>
                <a:cs typeface="Pretendard" pitchFamily="34" charset="-120"/>
              </a:rPr>
              <a:t>스킬은 새 능력을 부여 → </a:t>
            </a:r>
            <a:br>
              <a:rPr lang="en-US" dirty="0">
                <a:solidFill>
                  <a:srgbClr val="505060"/>
                </a:solidFill>
                <a:ea typeface="Pretendard" pitchFamily="34" charset="-122"/>
                <a:cs typeface="Pretendard" pitchFamily="34" charset="-120"/>
              </a:rPr>
            </a:br>
            <a:r>
              <a:rPr lang="en-US" dirty="0" err="1">
                <a:solidFill>
                  <a:srgbClr val="505060"/>
                </a:solidFill>
                <a:ea typeface="Pretendard" pitchFamily="34" charset="-122"/>
                <a:cs typeface="Pretendard" pitchFamily="34" charset="-120"/>
              </a:rPr>
              <a:t>소프트웨어</a:t>
            </a:r>
            <a:r>
              <a:rPr lang="en-US" dirty="0">
                <a:solidFill>
                  <a:srgbClr val="505060"/>
                </a:solidFill>
                <a:ea typeface="Pretendard" pitchFamily="34" charset="-122"/>
                <a:cs typeface="Pretendard" pitchFamily="34" charset="-120"/>
              </a:rPr>
              <a:t> </a:t>
            </a:r>
            <a:r>
              <a:rPr lang="en-US" dirty="0" err="1">
                <a:solidFill>
                  <a:srgbClr val="505060"/>
                </a:solidFill>
                <a:ea typeface="Pretendard" pitchFamily="34" charset="-122"/>
                <a:cs typeface="Pretendard" pitchFamily="34" charset="-120"/>
              </a:rPr>
              <a:t>설치처럼</a:t>
            </a:r>
            <a:r>
              <a:rPr lang="en-US" dirty="0">
                <a:solidFill>
                  <a:srgbClr val="505060"/>
                </a:solidFill>
                <a:ea typeface="Pretendard" pitchFamily="34" charset="-122"/>
                <a:cs typeface="Pretendard" pitchFamily="34" charset="-120"/>
              </a:rPr>
              <a:t> </a:t>
            </a:r>
            <a:r>
              <a:rPr lang="ko-KR" altLang="en-US" dirty="0">
                <a:solidFill>
                  <a:srgbClr val="505060"/>
                </a:solidFill>
                <a:ea typeface="Pretendard" pitchFamily="34" charset="-122"/>
                <a:cs typeface="Pretendard" pitchFamily="34" charset="-120"/>
              </a:rPr>
              <a:t>주의해서 </a:t>
            </a:r>
            <a:r>
              <a:rPr lang="en-US" dirty="0" err="1">
                <a:solidFill>
                  <a:srgbClr val="505060"/>
                </a:solidFill>
                <a:ea typeface="Pretendard" pitchFamily="34" charset="-122"/>
                <a:cs typeface="Pretendard" pitchFamily="34" charset="-120"/>
              </a:rPr>
              <a:t>취급</a:t>
            </a:r>
            <a:endParaRPr lang="en-US" dirty="0"/>
          </a:p>
          <a:p>
            <a:pPr marL="177800" indent="-177800" algn="l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dirty="0">
                <a:solidFill>
                  <a:srgbClr val="505060"/>
                </a:solidFill>
                <a:ea typeface="Pretendard" pitchFamily="34" charset="-122"/>
                <a:cs typeface="Pretendard" pitchFamily="34" charset="-120"/>
              </a:rPr>
              <a:t>내가 만들었거나 Anthropic 제공한 것만. 외부 스킬은 SKILL.md·스크립트를 전부 감사 후 사용</a:t>
            </a:r>
            <a:endParaRPr lang="en-US" dirty="0"/>
          </a:p>
        </p:txBody>
      </p:sp>
      <p:sp>
        <p:nvSpPr>
          <p:cNvPr id="9" name="Shape 7"/>
          <p:cNvSpPr/>
          <p:nvPr/>
        </p:nvSpPr>
        <p:spPr>
          <a:xfrm>
            <a:off x="5093208" y="2194560"/>
            <a:ext cx="4434840" cy="2743200"/>
          </a:xfrm>
          <a:prstGeom prst="roundRect">
            <a:avLst>
              <a:gd name="adj" fmla="val 2667"/>
            </a:avLst>
          </a:prstGeom>
          <a:solidFill>
            <a:srgbClr val="F5F5F7"/>
          </a:solidFill>
          <a:ln w="12700">
            <a:solidFill>
              <a:srgbClr val="DDDDE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8"/>
          <p:cNvSpPr/>
          <p:nvPr/>
        </p:nvSpPr>
        <p:spPr>
          <a:xfrm>
            <a:off x="5093208" y="2194560"/>
            <a:ext cx="4434840" cy="502920"/>
          </a:xfrm>
          <a:prstGeom prst="roundRect">
            <a:avLst>
              <a:gd name="adj" fmla="val 14545"/>
            </a:avLst>
          </a:prstGeom>
          <a:solidFill>
            <a:srgbClr val="C0530A"/>
          </a:solidFill>
          <a:ln/>
        </p:spPr>
        <p:txBody>
          <a:bodyPr/>
          <a:lstStyle/>
          <a:p>
            <a:endParaRPr lang="ko-KR" altLang="en-US" sz="2000"/>
          </a:p>
        </p:txBody>
      </p:sp>
      <p:sp>
        <p:nvSpPr>
          <p:cNvPr id="11" name="Text 9"/>
          <p:cNvSpPr/>
          <p:nvPr/>
        </p:nvSpPr>
        <p:spPr>
          <a:xfrm>
            <a:off x="5093208" y="2194560"/>
            <a:ext cx="4434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 민감정보 그대로 적지 않기</a:t>
            </a: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5294376" y="2816352"/>
            <a:ext cx="4032504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 algn="l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dirty="0" err="1">
                <a:solidFill>
                  <a:srgbClr val="505060"/>
                </a:solidFill>
                <a:ea typeface="Pretendard" pitchFamily="34" charset="-122"/>
                <a:cs typeface="Pretendard" pitchFamily="34" charset="-120"/>
              </a:rPr>
              <a:t>비밀번호·고객정보·핵심</a:t>
            </a:r>
            <a:r>
              <a:rPr lang="en-US" dirty="0">
                <a:solidFill>
                  <a:srgbClr val="505060"/>
                </a:solidFill>
                <a:ea typeface="Pretendard" pitchFamily="34" charset="-122"/>
                <a:cs typeface="Pretendard" pitchFamily="34" charset="-120"/>
              </a:rPr>
              <a:t> 보안 자산 등을 SKILL.md에 그대로 적지 말 것</a:t>
            </a:r>
            <a:endParaRPr lang="en-US" dirty="0"/>
          </a:p>
          <a:p>
            <a:pPr marL="177800" indent="-177800" algn="l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dirty="0">
                <a:solidFill>
                  <a:srgbClr val="505060"/>
                </a:solidFill>
                <a:ea typeface="Pretendard" pitchFamily="34" charset="-122"/>
                <a:cs typeface="Pretendard" pitchFamily="34" charset="-120"/>
              </a:rPr>
              <a:t>파일은 공유·커밋될 수 있음</a:t>
            </a:r>
            <a:endParaRPr lang="en-US" dirty="0"/>
          </a:p>
        </p:txBody>
      </p:sp>
      <p:sp>
        <p:nvSpPr>
          <p:cNvPr id="13" name="Shape 11"/>
          <p:cNvSpPr/>
          <p:nvPr/>
        </p:nvSpPr>
        <p:spPr>
          <a:xfrm>
            <a:off x="9729216" y="2194560"/>
            <a:ext cx="4434840" cy="2743200"/>
          </a:xfrm>
          <a:prstGeom prst="roundRect">
            <a:avLst>
              <a:gd name="adj" fmla="val 2667"/>
            </a:avLst>
          </a:prstGeom>
          <a:solidFill>
            <a:srgbClr val="F5F5F7"/>
          </a:solidFill>
          <a:ln w="12700">
            <a:solidFill>
              <a:srgbClr val="DDDDE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Shape 12"/>
          <p:cNvSpPr/>
          <p:nvPr/>
        </p:nvSpPr>
        <p:spPr>
          <a:xfrm>
            <a:off x="9729216" y="2194560"/>
            <a:ext cx="4434840" cy="502920"/>
          </a:xfrm>
          <a:prstGeom prst="roundRect">
            <a:avLst>
              <a:gd name="adj" fmla="val 14545"/>
            </a:avLst>
          </a:prstGeom>
          <a:solidFill>
            <a:srgbClr val="8B1A1A"/>
          </a:solidFill>
          <a:ln/>
        </p:spPr>
        <p:txBody>
          <a:bodyPr/>
          <a:lstStyle/>
          <a:p>
            <a:endParaRPr lang="ko-KR" altLang="en-US" sz="2000"/>
          </a:p>
        </p:txBody>
      </p:sp>
      <p:sp>
        <p:nvSpPr>
          <p:cNvPr id="15" name="Text 13"/>
          <p:cNvSpPr/>
          <p:nvPr/>
        </p:nvSpPr>
        <p:spPr>
          <a:xfrm>
            <a:off x="9729216" y="2194560"/>
            <a:ext cx="4434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3. 사람 최종 승인</a:t>
            </a: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9930384" y="2816352"/>
            <a:ext cx="4032504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 algn="l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dirty="0" err="1">
                <a:solidFill>
                  <a:srgbClr val="505060"/>
                </a:solidFill>
                <a:ea typeface="Pretendard" pitchFamily="34" charset="-122"/>
                <a:cs typeface="Pretendard" pitchFamily="34" charset="-120"/>
              </a:rPr>
              <a:t>편집·실행은</a:t>
            </a:r>
            <a:r>
              <a:rPr lang="en-US" dirty="0">
                <a:solidFill>
                  <a:srgbClr val="505060"/>
                </a:solidFill>
                <a:ea typeface="Pretendard" pitchFamily="34" charset="-122"/>
                <a:cs typeface="Pretendard" pitchFamily="34" charset="-120"/>
              </a:rPr>
              <a:t> </a:t>
            </a:r>
            <a:r>
              <a:rPr lang="ko-KR" altLang="en-US" dirty="0">
                <a:solidFill>
                  <a:srgbClr val="505060"/>
                </a:solidFill>
                <a:ea typeface="Pretendard" pitchFamily="34" charset="-122"/>
                <a:cs typeface="Pretendard" pitchFamily="34" charset="-120"/>
              </a:rPr>
              <a:t>작업 내용 보고</a:t>
            </a:r>
            <a:r>
              <a:rPr lang="en-US" dirty="0">
                <a:solidFill>
                  <a:srgbClr val="505060"/>
                </a:solidFill>
                <a:ea typeface="Pretendard" pitchFamily="34" charset="-122"/>
                <a:cs typeface="Pretendard" pitchFamily="34" charset="-120"/>
              </a:rPr>
              <a:t> Accept/Reject</a:t>
            </a:r>
            <a:endParaRPr lang="en-US" dirty="0"/>
          </a:p>
          <a:p>
            <a:pPr marL="177800" indent="-177800" algn="l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dirty="0">
                <a:solidFill>
                  <a:srgbClr val="505060"/>
                </a:solidFill>
                <a:ea typeface="Pretendard" pitchFamily="34" charset="-122"/>
                <a:cs typeface="Pretendard" pitchFamily="34" charset="-120"/>
              </a:rPr>
              <a:t>배포·제출처럼 되돌리기 어려운 </a:t>
            </a:r>
            <a:r>
              <a:rPr lang="en-US" dirty="0" err="1">
                <a:solidFill>
                  <a:srgbClr val="505060"/>
                </a:solidFill>
                <a:ea typeface="Pretendard" pitchFamily="34" charset="-122"/>
                <a:cs typeface="Pretendard" pitchFamily="34" charset="-120"/>
              </a:rPr>
              <a:t>작업은</a:t>
            </a:r>
            <a:r>
              <a:rPr lang="en-US" dirty="0">
                <a:solidFill>
                  <a:srgbClr val="505060"/>
                </a:solidFill>
                <a:ea typeface="Pretendard" pitchFamily="34" charset="-122"/>
                <a:cs typeface="Pretendard" pitchFamily="34" charset="-120"/>
              </a:rPr>
              <a:t> </a:t>
            </a:r>
            <a:br>
              <a:rPr lang="en-US" dirty="0">
                <a:solidFill>
                  <a:srgbClr val="505060"/>
                </a:solidFill>
                <a:ea typeface="Pretendard" pitchFamily="34" charset="-122"/>
                <a:cs typeface="Pretendard" pitchFamily="34" charset="-120"/>
              </a:rPr>
            </a:br>
            <a:r>
              <a:rPr lang="en-US" dirty="0" err="1">
                <a:solidFill>
                  <a:srgbClr val="505060"/>
                </a:solidFill>
                <a:ea typeface="Pretendard" pitchFamily="34" charset="-122"/>
                <a:cs typeface="Pretendard" pitchFamily="34" charset="-120"/>
              </a:rPr>
              <a:t>자동</a:t>
            </a:r>
            <a:r>
              <a:rPr lang="en-US" dirty="0">
                <a:solidFill>
                  <a:srgbClr val="505060"/>
                </a:solidFill>
                <a:ea typeface="Pretendard" pitchFamily="34" charset="-122"/>
                <a:cs typeface="Pretendard" pitchFamily="34" charset="-120"/>
              </a:rPr>
              <a:t> 호출 끄기 설정으로 막고 </a:t>
            </a:r>
            <a:r>
              <a:rPr lang="en-US" dirty="0" err="1">
                <a:solidFill>
                  <a:srgbClr val="505060"/>
                </a:solidFill>
                <a:ea typeface="Pretendard" pitchFamily="34" charset="-122"/>
                <a:cs typeface="Pretendard" pitchFamily="34" charset="-120"/>
              </a:rPr>
              <a:t>사람이</a:t>
            </a:r>
            <a:r>
              <a:rPr lang="en-US" dirty="0">
                <a:solidFill>
                  <a:srgbClr val="505060"/>
                </a:solidFill>
                <a:ea typeface="Pretendard" pitchFamily="34" charset="-122"/>
                <a:cs typeface="Pretendard" pitchFamily="34" charset="-120"/>
              </a:rPr>
              <a:t> </a:t>
            </a:r>
            <a:br>
              <a:rPr lang="en-US" dirty="0">
                <a:solidFill>
                  <a:srgbClr val="505060"/>
                </a:solidFill>
                <a:ea typeface="Pretendard" pitchFamily="34" charset="-122"/>
                <a:cs typeface="Pretendard" pitchFamily="34" charset="-120"/>
              </a:rPr>
            </a:br>
            <a:r>
              <a:rPr lang="en-US" dirty="0" err="1">
                <a:solidFill>
                  <a:srgbClr val="505060"/>
                </a:solidFill>
                <a:ea typeface="Pretendard" pitchFamily="34" charset="-122"/>
                <a:cs typeface="Pretendard" pitchFamily="34" charset="-120"/>
              </a:rPr>
              <a:t>직접</a:t>
            </a:r>
            <a:r>
              <a:rPr lang="en-US" dirty="0">
                <a:solidFill>
                  <a:srgbClr val="505060"/>
                </a:solidFill>
                <a:ea typeface="Pretendard" pitchFamily="34" charset="-122"/>
                <a:cs typeface="Pretendard" pitchFamily="34" charset="-120"/>
              </a:rPr>
              <a:t> 호출</a:t>
            </a:r>
            <a:endParaRPr lang="en-US" dirty="0"/>
          </a:p>
        </p:txBody>
      </p:sp>
      <p:sp>
        <p:nvSpPr>
          <p:cNvPr id="17" name="Shape 15"/>
          <p:cNvSpPr/>
          <p:nvPr/>
        </p:nvSpPr>
        <p:spPr>
          <a:xfrm>
            <a:off x="457200" y="5166360"/>
            <a:ext cx="13716000" cy="640080"/>
          </a:xfrm>
          <a:prstGeom prst="roundRect">
            <a:avLst>
              <a:gd name="adj" fmla="val 11429"/>
            </a:avLst>
          </a:prstGeom>
          <a:solidFill>
            <a:srgbClr val="CCFBF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8" name="Text 16"/>
          <p:cNvSpPr/>
          <p:nvPr/>
        </p:nvSpPr>
        <p:spPr>
          <a:xfrm>
            <a:off x="640080" y="5166360"/>
            <a:ext cx="13350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6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프롬프트 인젝션(외부 문서·스킬 속 숨은 지시문이 Claude를 속이는 공격)을 경계 — 신뢰되지 않은 스킬 연결 금지.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3624560" y="786384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600">
                <a:solidFill>
                  <a:srgbClr val="6B6B7B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lang="en-US" b="0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457200" y="411480"/>
            <a:ext cx="13716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정리 · 회차 흐름 · 2주 과제 · 4회차 예고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069848"/>
            <a:ext cx="1371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0D948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 요약 / 흐름 / 할 일 / 다음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457200" y="1930246"/>
            <a:ext cx="6766560" cy="2148840"/>
          </a:xfrm>
          <a:prstGeom prst="roundRect">
            <a:avLst>
              <a:gd name="adj" fmla="val 3404"/>
            </a:avLst>
          </a:prstGeom>
          <a:solidFill>
            <a:srgbClr val="ECFDF5"/>
          </a:solidFill>
          <a:ln w="12700">
            <a:solidFill>
              <a:srgbClr val="05966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/>
          <p:nvPr/>
        </p:nvSpPr>
        <p:spPr>
          <a:xfrm>
            <a:off x="713232" y="2157413"/>
            <a:ext cx="6309360" cy="166449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 algn="l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Skill = 나만의 자동화 레시피: 반복 작업을 SKILL.md(설정 칸+본문)로 </a:t>
            </a:r>
            <a:br>
              <a:rPr lang="en-US" sz="1600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</a:br>
            <a:r>
              <a:rPr lang="en-US" sz="1600" dirty="0" err="1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승격</a:t>
            </a:r>
            <a:r>
              <a:rPr lang="en-US" sz="1600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· 필수는 name·description(무엇+언제, 3인칭)</a:t>
            </a:r>
            <a:endParaRPr lang="en-US" sz="1600" dirty="0"/>
          </a:p>
          <a:p>
            <a:pPr marL="177800" indent="-177800" algn="l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저장: 유저(내 모든 폴더) vs 프로젝트(그 폴더만) · 내장 스킬(/goal·/code-review·/security-review </a:t>
            </a:r>
            <a:r>
              <a:rPr lang="ko-KR" altLang="en-US" sz="1600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</a:t>
            </a:r>
            <a:r>
              <a:rPr lang="en-US" sz="1600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)은 바로 사용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589520" y="1508760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회차 흐름</a:t>
            </a:r>
            <a:endParaRPr lang="en-US" sz="17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589520" y="1920240"/>
          <a:ext cx="6583680" cy="2194560"/>
        </p:xfrm>
        <a:graphic>
          <a:graphicData uri="http://schemas.openxmlformats.org/drawingml/2006/table">
            <a:tbl>
              <a:tblPr/>
              <a:tblGrid>
                <a:gridCol w="1645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2C292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회차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2C292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핵심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2C292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한 줄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50506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2회차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50506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커넥터·루틴·Computer use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50506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외부 도구 연결 + 자동 반복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b="1" dirty="0">
                          <a:solidFill>
                            <a:srgbClr val="2C292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3회차(오늘)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b="1" dirty="0">
                          <a:solidFill>
                            <a:srgbClr val="2C292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Skill 기초(SKILL.md)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b="1" dirty="0">
                          <a:solidFill>
                            <a:srgbClr val="0596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반복 작업을 재사용 가능하게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50506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4회차(예고)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50506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Skill 심화 + 웹브라우저 MCP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50506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외부 연동 확장 + MCP 개발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457200" y="4160520"/>
            <a:ext cx="13716000" cy="777240"/>
          </a:xfrm>
          <a:prstGeom prst="roundRect">
            <a:avLst>
              <a:gd name="adj" fmla="val 9412"/>
            </a:avLst>
          </a:prstGeom>
          <a:solidFill>
            <a:srgbClr val="FEF3C7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1" name="Text 8"/>
          <p:cNvSpPr/>
          <p:nvPr/>
        </p:nvSpPr>
        <p:spPr>
          <a:xfrm>
            <a:off x="640080" y="4160520"/>
            <a:ext cx="13350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600" b="1" dirty="0">
                <a:solidFill>
                  <a:srgbClr val="92400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2주 과제 — 1회차에서 </a:t>
            </a:r>
            <a:r>
              <a:rPr lang="ko-KR" altLang="en-US" sz="1600" b="1" dirty="0">
                <a:solidFill>
                  <a:srgbClr val="92400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프롬프트로 만든 반복 작업 중 하나를 </a:t>
            </a:r>
            <a:r>
              <a:rPr lang="en-US" sz="1600" b="1" dirty="0" err="1">
                <a:solidFill>
                  <a:srgbClr val="92400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Skill로</a:t>
            </a:r>
            <a:r>
              <a:rPr lang="en-US" sz="1600" b="1" dirty="0">
                <a:solidFill>
                  <a:srgbClr val="92400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r>
              <a:rPr lang="ko-KR" altLang="en-US" sz="1600" b="1" dirty="0">
                <a:solidFill>
                  <a:srgbClr val="92400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구현</a:t>
            </a:r>
            <a:r>
              <a:rPr lang="en-US" sz="1600" b="1" dirty="0">
                <a:solidFill>
                  <a:srgbClr val="92400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: </a:t>
            </a:r>
          </a:p>
          <a:p>
            <a:pPr marL="0" indent="0" algn="l">
              <a:lnSpc>
                <a:spcPct val="105000"/>
              </a:lnSpc>
              <a:buNone/>
            </a:pPr>
            <a:r>
              <a:rPr lang="en-US" sz="1600" b="1" dirty="0">
                <a:solidFill>
                  <a:srgbClr val="92400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① 만들기(루틴 후보를 SKILL.md로) → ② 실사용(실제 업무 3회 이상) → ③ 개선(안 불려옴/오작동 등 개선점 기록 = 4회차 재료)</a:t>
            </a:r>
            <a:endParaRPr lang="en-US" sz="1600" dirty="0"/>
          </a:p>
        </p:txBody>
      </p:sp>
      <p:sp>
        <p:nvSpPr>
          <p:cNvPr id="9" name="Shape 9"/>
          <p:cNvSpPr/>
          <p:nvPr/>
        </p:nvSpPr>
        <p:spPr>
          <a:xfrm>
            <a:off x="457200" y="5120640"/>
            <a:ext cx="13716000" cy="777240"/>
          </a:xfrm>
          <a:prstGeom prst="roundRect">
            <a:avLst>
              <a:gd name="adj" fmla="val 9412"/>
            </a:avLst>
          </a:prstGeom>
          <a:solidFill>
            <a:srgbClr val="CCFBF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0"/>
          <p:cNvSpPr/>
          <p:nvPr/>
        </p:nvSpPr>
        <p:spPr>
          <a:xfrm>
            <a:off x="640080" y="5120640"/>
            <a:ext cx="13350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7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4회차 예고 — Skill 심화 + </a:t>
            </a:r>
            <a:r>
              <a:rPr lang="en-US" sz="1700" b="1" dirty="0" err="1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웹브라우저</a:t>
            </a:r>
            <a:r>
              <a:rPr lang="en-US" sz="17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MCP(</a:t>
            </a:r>
            <a:r>
              <a:rPr lang="en-US" sz="1700" b="1" dirty="0" err="1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Playwright·Claude</a:t>
            </a:r>
            <a:r>
              <a:rPr lang="en-US" sz="17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in Chrome)로 웹을 다루고 MCP를 직접 개발. </a:t>
            </a:r>
          </a:p>
          <a:p>
            <a:pPr marL="0" indent="0" algn="l">
              <a:lnSpc>
                <a:spcPct val="105000"/>
              </a:lnSpc>
              <a:buNone/>
            </a:pPr>
            <a:r>
              <a:rPr lang="en-US" sz="1700" b="1" dirty="0" err="1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</a:t>
            </a:r>
            <a:r>
              <a:rPr lang="en-US" sz="17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만든 지침만의 Skill에 외부 연동을 더해 확장합니다.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3624560" y="786384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600">
                <a:solidFill>
                  <a:srgbClr val="6B6B7B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lang="en-US" b="0"/>
              <a:t>12</a:t>
            </a:fld>
            <a:endParaRPr lang="en-US"/>
          </a:p>
        </p:txBody>
      </p:sp>
      <p:sp>
        <p:nvSpPr>
          <p:cNvPr id="14" name="Text 6">
            <a:extLst>
              <a:ext uri="{FF2B5EF4-FFF2-40B4-BE49-F238E27FC236}">
                <a16:creationId xmlns:a16="http://schemas.microsoft.com/office/drawing/2014/main" id="{3C650E6D-620F-B78B-938C-6F92D20EFECD}"/>
              </a:ext>
            </a:extLst>
          </p:cNvPr>
          <p:cNvSpPr/>
          <p:nvPr/>
        </p:nvSpPr>
        <p:spPr>
          <a:xfrm>
            <a:off x="457200" y="1508760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ko-KR" altLang="en-US" sz="17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 배운 것</a:t>
            </a:r>
            <a:endParaRPr lang="en-US" sz="1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Pretendard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retendard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525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E8C39F04-E985-4FB4-B8B7-D57E8D2669A6}">
  <we:reference id="wa200010001" version="1.0.0.1" store="en-US" storeType="OMEX"/>
  <we:alternateReferences>
    <we:reference id="WA200010001" version="1.0.0.1" store="" storeType="OMEX"/>
  </we:alternateReferences>
  <we:properties>
    <we:property name="claude.fileId" value="&quot;f3c0599d-ebe4-423e-ba80-976c1632990b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284</TotalTime>
  <Words>3017</Words>
  <Application>Microsoft Office PowerPoint</Application>
  <PresentationFormat>사용자 지정</PresentationFormat>
  <Paragraphs>273</Paragraphs>
  <Slides>12</Slides>
  <Notes>12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12</vt:i4>
      </vt:variant>
    </vt:vector>
  </HeadingPairs>
  <TitlesOfParts>
    <vt:vector size="17" baseType="lpstr">
      <vt:lpstr>Arial</vt:lpstr>
      <vt:lpstr>Consolas</vt:lpstr>
      <vt:lpstr>Pretendard</vt:lpstr>
      <vt:lpstr>Wingdings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ICTK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3회차 — Skill 기초</dc:title>
  <dc:subject>Claude Code 업무 자동화 부트캠프 3회차</dc:subject>
  <dc:creator>Unicorn / 이해경</dc:creator>
  <cp:lastModifiedBy>해경 이</cp:lastModifiedBy>
  <cp:revision>70</cp:revision>
  <dcterms:created xsi:type="dcterms:W3CDTF">2026-06-16T10:08:18Z</dcterms:created>
  <dcterms:modified xsi:type="dcterms:W3CDTF">2026-06-18T14:10:57Z</dcterms:modified>
</cp:coreProperties>
</file>