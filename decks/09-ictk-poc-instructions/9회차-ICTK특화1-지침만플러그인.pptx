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9회차. 1~8회차(연습)→9~11회차(자사 PoC). 오늘은 [지침만](외부 도구·MCP·API 없이 자연어 지침만). '배우는 날이 아니라 만드는 날'. 출처: curriculum-plan.md 2장·3-9절·1-4절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골든서클. 9회차=적용/제작 워크숍. 연습→실전. 효과 수치 단정 금지(베이스라인 측정). 출처: curriculum-plan.md 1-2절·2장·3-9절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[지침만] 4이유(외부 불필요·비용 0/보안 최소/즉시 시작/+한계=초안). curriculum-plan 3-3·3-9. 보안 최소=경로가 적다(위험 0 아님). 출처: curriculum-plan.md 3-3절·3-9절·1-4절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개발 3단계(①프롬프트 1~2회차 ②스킬+에이전트 3·5회차 ③패키징 6회차). 새 기술 없음·조합만. 초안→테스트→개선 반복. 출처: curriculum-plan.md 3-9절·2장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curriculum-plan 3-9절 조직별 [지침만] 표(6조직). 본인 소속·관심 1건 선택. 효과는 베이스라인 측정 후. PUF 자료는 격리 처리(슬9). 출처: curriculum-plan.md 3-9절(usecases.md 3장·5-1)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usecases.md 5-2 1단계(사내 지식베이스·용어집·표준 템플릿 마크다운 1차 구축). [지침만]은 입력 재료가 품질 좌우. PUF 자료는 격리. 출처: curriculum-plan.md 3-9절 실습 운영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하네스 엔지니어링='PoC가 잘 돌도록 주변(지침·재료·점검)을 다듬기'. 품질(description)·비용(본문 간결 500줄)·보안(민감정보 비기재). 출처: curriculum-plan.md 3-9절·3-3절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조별 실습 운영. 3역할(프롬프트/지침·템플릿/검토)은 5회차 역할 분리(사람 협업 차원). 목적=자동화 가능 범위 발견(완벽 PoC 아님). 출처: curriculum-plan.md 3-9절·3-5절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curriculum-plan 1-4 보안 거버넌스 4원칙: 데이터 격리(온프레미스·비학습)/사람 검수 게이트(초안·diff)/고위험 제외/정직한 측정. CLAUDE.md 정직한 보고와 부합. 출처: curriculum-plan.md 1-4절·3-9절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정리. 회차 흐름 8→9→10. 2주 과제(curriculum-plan 3-9: PoC 3회 실행·개선·베이스라인 기록). 정직한 측정 실천. 출처: curriculum-plan.md 3-9절·3-10절·2장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818120"/>
            <a:ext cx="1371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8638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B6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ⓒ ICTK · Unicorn — Claude Code 업무 자동화 부트캠프 9회차 · 무단전재 및 배포 금지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2788920"/>
          </a:xfrm>
          <a:prstGeom prst="rect">
            <a:avLst/>
          </a:prstGeom>
          <a:solidFill>
            <a:srgbClr val="2C29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2788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502920"/>
            <a:ext cx="1261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E7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업무 자동화 부트캠프 · 9회차 / 11회차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960120"/>
            <a:ext cx="1307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ICTK 특화 ① — 기본 플러그인 개발([지침만])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68680" y="1993392"/>
            <a:ext cx="1307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8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1~8회차에서 익힌 것을 우리 회사 실제 업무에 처음 적용 — 외부 도구 없이 지침만으로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4434840" cy="1600200"/>
          </a:xfrm>
          <a:prstGeom prst="roundRect">
            <a:avLst>
              <a:gd name="adj" fmla="val 4571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154680"/>
            <a:ext cx="4434840" cy="457200"/>
          </a:xfrm>
          <a:prstGeom prst="roundRect">
            <a:avLst>
              <a:gd name="adj" fmla="val 16000"/>
            </a:avLst>
          </a:prstGeom>
          <a:solidFill>
            <a:srgbClr val="3776A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1546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703320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ICTK 임직원 (비개발자 포함 입문자)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93208" y="3154680"/>
            <a:ext cx="4434840" cy="1600200"/>
          </a:xfrm>
          <a:prstGeom prst="roundRect">
            <a:avLst>
              <a:gd name="adj" fmla="val 4571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93208" y="3154680"/>
            <a:ext cx="4434840" cy="457200"/>
          </a:xfrm>
          <a:prstGeom prst="roundRect">
            <a:avLst>
              <a:gd name="adj" fmla="val 16000"/>
            </a:avLst>
          </a:prstGeom>
          <a:solidFill>
            <a:srgbClr val="1A5E7E"/>
          </a:solidFill>
          <a:ln/>
        </p:spPr>
      </p:sp>
      <p:sp>
        <p:nvSpPr>
          <p:cNvPr id="13" name="Text 11"/>
          <p:cNvSpPr/>
          <p:nvPr/>
        </p:nvSpPr>
        <p:spPr>
          <a:xfrm>
            <a:off x="5093208" y="31546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76088" y="3703320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데스크톱 앱 — "Code" 탭 (GUI)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729216" y="3154680"/>
            <a:ext cx="4434840" cy="1600200"/>
          </a:xfrm>
          <a:prstGeom prst="roundRect">
            <a:avLst>
              <a:gd name="adj" fmla="val 4571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29216" y="3154680"/>
            <a:ext cx="4434840" cy="457200"/>
          </a:xfrm>
          <a:prstGeom prst="roundRect">
            <a:avLst>
              <a:gd name="adj" fmla="val 16000"/>
            </a:avLst>
          </a:prstGeom>
          <a:solidFill>
            <a:srgbClr val="1A6E36"/>
          </a:solidFill>
          <a:ln/>
        </p:spPr>
      </p:sp>
      <p:sp>
        <p:nvSpPr>
          <p:cNvPr id="17" name="Text 15"/>
          <p:cNvSpPr/>
          <p:nvPr/>
        </p:nvSpPr>
        <p:spPr>
          <a:xfrm>
            <a:off x="9729216" y="31546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12096" y="3703320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1~8회차 복습 → 9회차 [지침만] PoC → 2주 과제 → 10회차 예고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5074920"/>
            <a:ext cx="13716000" cy="685800"/>
          </a:xfrm>
          <a:prstGeom prst="roundRect">
            <a:avLst>
              <a:gd name="adj" fmla="val 10667"/>
            </a:avLst>
          </a:prstGeom>
          <a:solidFill>
            <a:srgbClr val="CCFBF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074920"/>
            <a:ext cx="1335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오늘부터 3개 회차(9~11)는 자사 PoC 단계 — 오늘은 가장 안전한 [지침만]으로 우리 부서 반복 업무 1건을 플러그인으로 만듭니다. (ICTK = VIA PUF 기반 보안 IC 팹리스)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— 배운 것을 "우리 회사 진짜 업무"에 처음 쓴다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골든서클: WHY → HOW → WHAT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6858000" cy="3383280"/>
          </a:xfrm>
          <a:prstGeom prst="roundRect">
            <a:avLst>
              <a:gd name="adj" fmla="val 2162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8308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83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1764792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1~8회차는 일반 예제로 연습 — 이제 그 능력을 내 책상 위 반복 업무에 적용해야 진짜 가치가 생김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807208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80720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11680" y="2788920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1~8회차에서 익힌 Prompt·Skill·Agent·Plugin을 그대로 재사용 — 새 기술이 아니라 "만드는 날"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3831336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83133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11680" y="3813048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끝에는 우리 부서가 매번 손으로 하던 업무 1건이 동작하는 [지침만] 플러그인으로 남음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554480"/>
          <a:ext cx="65836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377440"/>
                <a:gridCol w="25603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1~8회차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9회차(오늘)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다루는 업무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일반 예제(요약·회의록)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조직의 실제 업무 1건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목표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도구 사용법 학습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현업에 바로 쓸 PoC 제작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산출물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연습용 Skill·Plugin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조별 [지침만] 플러그인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57200" y="5212080"/>
            <a:ext cx="13716000" cy="685800"/>
          </a:xfrm>
          <a:prstGeom prst="roundRect">
            <a:avLst>
              <a:gd name="adj" fmla="val 10667"/>
            </a:avLst>
          </a:prstGeom>
          <a:solidFill>
            <a:srgbClr val="CCFBF1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5212080"/>
            <a:ext cx="1335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기대치: 외부 도구·API 없이 지침만으로 동작하는 PoC를 만듦 — 산출물은 조별 [지침만] 플러그인 1개(우리 업무 초안 생성용).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[지침만]이 1번 타자인가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안전하고 빠른 시작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434840" cy="2331720"/>
          </a:xfrm>
          <a:prstGeom prst="roundRect">
            <a:avLst>
              <a:gd name="adj" fmla="val 3137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3776A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도구 불필요 · 비용 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450592"/>
            <a:ext cx="40325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MCP·API·웹 연동 없이 자연어 지침만으로 동작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설치·연결·요금 부담이 사실상 없음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93208" y="1828800"/>
            <a:ext cx="4434840" cy="2331720"/>
          </a:xfrm>
          <a:prstGeom prst="roundRect">
            <a:avLst>
              <a:gd name="adj" fmla="val 3137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93208" y="182880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1A6E36"/>
          </a:solidFill>
          <a:ln/>
        </p:spPr>
      </p:sp>
      <p:sp>
        <p:nvSpPr>
          <p:cNvPr id="11" name="Text 9"/>
          <p:cNvSpPr/>
          <p:nvPr/>
        </p:nvSpPr>
        <p:spPr>
          <a:xfrm>
            <a:off x="5093208" y="182880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 위험 최소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94376" y="2450592"/>
            <a:ext cx="40325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외부와 주고받는 통로가 없어 데이터 유출 경로 자체가 적음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 IC 기업 ICTK에 가장 잘 맞는 출발점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729216" y="1828800"/>
            <a:ext cx="4434840" cy="2331720"/>
          </a:xfrm>
          <a:prstGeom prst="roundRect">
            <a:avLst>
              <a:gd name="adj" fmla="val 3137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29216" y="182880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1A5E7E"/>
          </a:solidFill>
          <a:ln/>
        </p:spPr>
      </p:sp>
      <p:sp>
        <p:nvSpPr>
          <p:cNvPr id="15" name="Text 13"/>
          <p:cNvSpPr/>
          <p:nvPr/>
        </p:nvSpPr>
        <p:spPr>
          <a:xfrm>
            <a:off x="9729216" y="182880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시작 가능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30384" y="2450592"/>
            <a:ext cx="40325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3·5회차에서 만든 Skill / Skill+Agent를 그대로 재사용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바로 손으로 만들 수 있음</a:t>
            </a:r>
            <a:endParaRPr lang="en-US" sz="1600" dirty="0"/>
          </a:p>
        </p:txBody>
      </p:sp>
      <p:pic>
        <p:nvPicPr>
          <p:cNvPr id="17" name="Image 0" descr="C:\Users\hiond\plugins\courseware\output\ictk-automation-bootcamp\decks\09-ictk-poc-instructions\images\s3_instructions_onl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4343400"/>
            <a:ext cx="5943600" cy="169164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583680" y="4343400"/>
            <a:ext cx="7589520" cy="1691640"/>
          </a:xfrm>
          <a:prstGeom prst="roundRect">
            <a:avLst>
              <a:gd name="adj" fmla="val 4324"/>
            </a:avLst>
          </a:prstGeom>
          <a:solidFill>
            <a:srgbClr val="CCFBF1"/>
          </a:solidFill>
          <a:ln/>
        </p:spPr>
      </p:sp>
      <p:sp>
        <p:nvSpPr>
          <p:cNvPr id="19" name="Text 16"/>
          <p:cNvSpPr/>
          <p:nvPr/>
        </p:nvSpPr>
        <p:spPr>
          <a:xfrm>
            <a:off x="6766560" y="4343400"/>
            <a:ext cx="72237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한계: [지침만] 산출물은 항상 초안 — 사람 검수 게이트를 반드시 거쳐 현업에 반영(슬라이드 9에서 상술). '위험 0'이 아니라 '경로가 적다'.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3단계 — 프롬프트에서 플러그인까지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1~8회차에서 이미 해본 과정을 이어 붙이기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흐름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6675120" cy="822960"/>
          </a:xfrm>
          <a:prstGeom prst="roundRect">
            <a:avLst>
              <a:gd name="adj" fmla="val 6667"/>
            </a:avLst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1168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프롬프트 제작·테스트 (1~2회차)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5요소로 구조화 → 실제 입력으로 동작 확인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6675120" cy="822960"/>
          </a:xfrm>
          <a:prstGeom prst="roundRect">
            <a:avLst>
              <a:gd name="adj" fmla="val 6667"/>
            </a:avLst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97180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스킬 + 에이전트 전환 (3·5회차)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SKILL.md 승격 + 작성자·검토자 역할 분리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6675120" cy="822960"/>
          </a:xfrm>
          <a:prstGeom prst="roundRect">
            <a:avLst>
              <a:gd name="adj" fmla="val 6667"/>
            </a:avLst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93192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플러그인 패키징 (6회차)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동료가 설치·실행하게 하나로 묶음</a:t>
            </a:r>
            <a:endParaRPr lang="en-US" sz="1600" dirty="0"/>
          </a:p>
        </p:txBody>
      </p:sp>
      <p:pic>
        <p:nvPicPr>
          <p:cNvPr id="12" name="Image 0" descr="C:\Users\hiond\plugins\courseware\output\ictk-automation-bootcamp\decks\09-ictk-poc-instructions\images\s4_poc_three_step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0" y="2011680"/>
            <a:ext cx="6858000" cy="27432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57200" y="5440680"/>
            <a:ext cx="13716000" cy="731520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5440680"/>
            <a:ext cx="1335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핵심: 새로 배우는 단계는 없음 — 순서대로 이어 붙이면 우리 업무용 플러그인이 완성됩니다. 막히면 "초안 → 테스트 → 개선"을 반복.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조직별 [지침만] 유즈케이스 후보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본인 소속(또는 관심) 조직의 1건을 선택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37160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6400800"/>
                <a:gridCol w="48463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조직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[지침만] 유즈케이스 후보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구현 형태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영업·기술마케팅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RFP·제안서 초안 / PUF 다국어 영업자료 변환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Skill+Subagent(작성자·리스크 검토자)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PUF솔루션·SW개발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보안 SDK 코드리뷰 체크리스트 / 펌웨어 릴리스노트 초안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Skill(CWE·CERT C 규칙 내장)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품질·신뢰성·보안인증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CC/FIPS 증적문서 초안 / 신뢰성 시험보고서 통합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Skill(표준 목차·필수항목 매핑)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칩설계·개발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검증계획서·테스트시나리오 초안 / 회귀 실패 로그 Triage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Skill / Skill+Subagent(커버리지 리뷰어)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경영관리·재무·IR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이사회·경영보고서 템플릿 / 공시·계약 법무 1차 체크리스트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Skill(표준 구조·few-shot)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인사·총무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채용공고·JD 표준 초안 / 온보딩 체크리스트·안내문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Skill / Skill+Subagent(직군별 분기)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257800"/>
            <a:ext cx="13716000" cy="777240"/>
          </a:xfrm>
          <a:prstGeom prst="roundRect">
            <a:avLst>
              <a:gd name="adj" fmla="val 9412"/>
            </a:avLst>
          </a:prstGeom>
          <a:solidFill>
            <a:srgbClr val="CCFBF1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5257800"/>
            <a:ext cx="1335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고르는 기준: ① 매번 양식·체크리스트가 정해진 반복 업무 ② 외부 데이터 없이 내 자료·지침만으로 초안이 나오는 일 ③ 효과는 PoC로 베이스라인 측정 후 확인(임의 단정 금지).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선행 과업 — 우리 지식을 먼저 "마크다운"으로 정리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[지침만] PoC의 재료는 우리가 이미 가진 지식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434840" cy="2606040"/>
          </a:xfrm>
          <a:prstGeom prst="roundRect">
            <a:avLst>
              <a:gd name="adj" fmla="val 2807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3776A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2024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사내 지식베이스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542032"/>
            <a:ext cx="4032504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표준·규정·자주 묻는 질문 등 흩어진 노하우를 한 폴더의 마크다운으로 모음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93208" y="1920240"/>
            <a:ext cx="4434840" cy="2606040"/>
          </a:xfrm>
          <a:prstGeom prst="roundRect">
            <a:avLst>
              <a:gd name="adj" fmla="val 2807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93208" y="192024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1A6E36"/>
          </a:solidFill>
          <a:ln/>
        </p:spPr>
      </p:sp>
      <p:sp>
        <p:nvSpPr>
          <p:cNvPr id="11" name="Text 9"/>
          <p:cNvSpPr/>
          <p:nvPr/>
        </p:nvSpPr>
        <p:spPr>
          <a:xfrm>
            <a:off x="5093208" y="192024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용어집(Glossary)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94376" y="2542032"/>
            <a:ext cx="4032504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PUF·CC·FIPS·약어 등 우리 회사·업계 용어 정의를 정리 — Claude가 같은 의미로 이해하게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729216" y="1920240"/>
            <a:ext cx="4434840" cy="2606040"/>
          </a:xfrm>
          <a:prstGeom prst="roundRect">
            <a:avLst>
              <a:gd name="adj" fmla="val 2807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29216" y="192024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1A5E7E"/>
          </a:solidFill>
          <a:ln/>
        </p:spPr>
      </p:sp>
      <p:sp>
        <p:nvSpPr>
          <p:cNvPr id="15" name="Text 13"/>
          <p:cNvSpPr/>
          <p:nvPr/>
        </p:nvSpPr>
        <p:spPr>
          <a:xfrm>
            <a:off x="9729216" y="192024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표준 템플릿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30384" y="2542032"/>
            <a:ext cx="4032504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보고서·증적문서·체크리스트 등 자주 쓰는 양식을 마크다운으로 고정 — 초안 품질의 기준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4800600"/>
            <a:ext cx="13716000" cy="685800"/>
          </a:xfrm>
          <a:prstGeom prst="roundRect">
            <a:avLst>
              <a:gd name="adj" fmla="val 10667"/>
            </a:avLst>
          </a:prstGeom>
          <a:solidFill>
            <a:srgbClr val="CCFBF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800600"/>
            <a:ext cx="1335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먼저 하나: [지침만] PoC의 결과 품질은 재료(지식·용어·양식)의 품질에 좌우됨 — 재료가 좋아야 초안이 좋습니다.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하네스 엔지니어링 적용 — 품질·비용·보안 점검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만든 뒤 한 번 더 점검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434840" cy="2697480"/>
          </a:xfrm>
          <a:prstGeom prst="roundRect">
            <a:avLst>
              <a:gd name="adj" fmla="val 2712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3776A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2024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품질 · 의도대로 나오는가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542032"/>
            <a:ext cx="403250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description에 무엇+언제 키워드를 잘 넣었는지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지침이 누락 없이 초안을 만드는지 실제 입력으로 확인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93208" y="1920240"/>
            <a:ext cx="4434840" cy="2697480"/>
          </a:xfrm>
          <a:prstGeom prst="roundRect">
            <a:avLst>
              <a:gd name="adj" fmla="val 2712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93208" y="192024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1A6E36"/>
          </a:solidFill>
          <a:ln/>
        </p:spPr>
      </p:sp>
      <p:sp>
        <p:nvSpPr>
          <p:cNvPr id="11" name="Text 9"/>
          <p:cNvSpPr/>
          <p:nvPr/>
        </p:nvSpPr>
        <p:spPr>
          <a:xfrm>
            <a:off x="5093208" y="192024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비용 · 가볍게 도는가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94376" y="2542032"/>
            <a:ext cx="403250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SKILL.md 본문은 짧게(권장 500줄 이하)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길수록 매번 읽어 비용↑ — 불필요한 설명 제거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729216" y="1920240"/>
            <a:ext cx="4434840" cy="2697480"/>
          </a:xfrm>
          <a:prstGeom prst="roundRect">
            <a:avLst>
              <a:gd name="adj" fmla="val 2712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29216" y="192024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1A5E7E"/>
          </a:solidFill>
          <a:ln/>
        </p:spPr>
      </p:sp>
      <p:sp>
        <p:nvSpPr>
          <p:cNvPr id="15" name="Text 13"/>
          <p:cNvSpPr/>
          <p:nvPr/>
        </p:nvSpPr>
        <p:spPr>
          <a:xfrm>
            <a:off x="9729216" y="192024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보안 · 새는 곳은 없는가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30384" y="2542032"/>
            <a:ext cx="403250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민감정보(비밀번호·고객정보·PUF/암호 IP)를 SKILL.md에 그대로 적지 않기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파일은 공유·커밋될 수 있음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4846320"/>
            <a:ext cx="13716000" cy="640080"/>
          </a:xfrm>
          <a:prstGeom prst="roundRect">
            <a:avLst>
              <a:gd name="adj" fmla="val 11429"/>
            </a:avLst>
          </a:prstGeom>
          <a:solidFill>
            <a:srgbClr val="CCFBF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846320"/>
            <a:ext cx="1335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점검 리듬: "돌려보고 → 어긋난 곳 찾고 → 지침 고치고"를 반복 — 한 번에 완성하려 하지 마세요.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조별 실습 진행 방식 · 역할 분담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사람이 다 하지 않고 역할을 나눔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흐름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6858000" cy="841248"/>
          </a:xfrm>
          <a:prstGeom prst="roundRect">
            <a:avLst>
              <a:gd name="adj" fmla="val 6522"/>
            </a:avLst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11680"/>
            <a:ext cx="6858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주제 선정 — 슬라이드 5 표에서 조의 [지침만] 1건 합의 + 선행 재료 확인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6858000" cy="841248"/>
          </a:xfrm>
          <a:prstGeom prst="roundRect">
            <a:avLst>
              <a:gd name="adj" fmla="val 6522"/>
            </a:avLst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971800"/>
            <a:ext cx="6858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분담 개발 — 프롬프트 담당 / 지침·템플릿 담당 / 검토 담당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6858000" cy="841248"/>
          </a:xfrm>
          <a:prstGeom prst="roundRect">
            <a:avLst>
              <a:gd name="adj" fmla="val 6522"/>
            </a:avLst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931920"/>
            <a:ext cx="6858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통합·점검 — SKILL.md(+Agent)로 묶고 하네스 점검 후 짧게 공유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89520" y="2011680"/>
            <a:ext cx="6583680" cy="2971800"/>
          </a:xfrm>
          <a:prstGeom prst="roundRect">
            <a:avLst>
              <a:gd name="adj" fmla="val 2462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0" y="2121408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 3분담 (5회차 역할 분리 연결)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0" y="2606040"/>
            <a:ext cx="6217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담당: 5요소 작성·테스트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지침/템플릿 담당: 재료·용어집 정리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담당: 초안 점검·개선점 기록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5257800"/>
            <a:ext cx="13716000" cy="731520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257800"/>
            <a:ext cx="1335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핵심: 결과물보다 "우리 업무가 어디까지 자동화되나"를 함께 발견하는 것이 목적 — 완벽한 PoC가 아니어도 됩니다. 막히면 강사·동료에게 즉시 질문.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ICTK 보안 거버넌스 — PoC에도 흔들리지 않는 기본기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[지침만]이라도 반드시 지키는 게이트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4434840" cy="2743200"/>
          </a:xfrm>
          <a:prstGeom prst="roundRect">
            <a:avLst>
              <a:gd name="adj" fmla="val 2667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0312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1A6E3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031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데이터 격리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724912"/>
            <a:ext cx="403250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영업비밀(PUF·암호 IP) 포함 자료는 격리 환경에서만 처리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외부로 내보내지 않음(온프레미스·비학습 전제)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93208" y="2103120"/>
            <a:ext cx="4434840" cy="2743200"/>
          </a:xfrm>
          <a:prstGeom prst="roundRect">
            <a:avLst>
              <a:gd name="adj" fmla="val 2667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93208" y="210312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C0530A"/>
          </a:solidFill>
          <a:ln/>
        </p:spPr>
      </p:sp>
      <p:sp>
        <p:nvSpPr>
          <p:cNvPr id="11" name="Text 9"/>
          <p:cNvSpPr/>
          <p:nvPr/>
        </p:nvSpPr>
        <p:spPr>
          <a:xfrm>
            <a:off x="5093208" y="21031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사람 검수 게이트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94376" y="2724912"/>
            <a:ext cx="403250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PoC 산출물은 모두 초안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전문가·책임자가 diff로 Accept/Reject 후에만 현업 반영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729216" y="2103120"/>
            <a:ext cx="4434840" cy="2743200"/>
          </a:xfrm>
          <a:prstGeom prst="roundRect">
            <a:avLst>
              <a:gd name="adj" fmla="val 2667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29216" y="210312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8B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9729216" y="21031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고위험 단계 제외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30384" y="2724912"/>
            <a:ext cx="403250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테이프아웃 사인오프·인증서 발급·전표 입력 등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되돌리기 어려운 단계는 자동화 범위에서 의도적으로 제외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3716000" cy="640080"/>
          </a:xfrm>
          <a:prstGeom prst="roundRect">
            <a:avLst>
              <a:gd name="adj" fmla="val 11429"/>
            </a:avLst>
          </a:prstGeom>
          <a:solidFill>
            <a:srgbClr val="CCFBF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074920"/>
            <a:ext cx="1335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원칙 4 — 정직한 측정: 효과 수치는 방향성 기대치일 뿐, PoC로 내부 베이스라인을 측정한 뒤 확정합니다(임의 단정 금지).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정리 · 회차 흐름 · 2주 과제 · 10회차 예고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요약 / 흐름 / 할 일 / 다음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6766560" cy="2286000"/>
          </a:xfrm>
          <a:prstGeom prst="roundRect">
            <a:avLst>
              <a:gd name="adj" fmla="val 3200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184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한 것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13232" y="2075688"/>
            <a:ext cx="6309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자사 PoC 첫걸음: 1~8회차 역량을 재사용해 우리 부서의 [지침만] 업무 1건을 동작하는 플러그인으로 제작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3단계(프롬프트→스킬+에이전트→패키징) + 하네스 점검(품질·비용·보안) + 보안 게이트(격리·검수·고위험 제외·정직한 측정)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89520" y="1508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회차 흐름</a:t>
            </a:r>
            <a:endParaRPr lang="en-US" sz="1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920240"/>
          <a:ext cx="65836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회차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 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8회차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Local LLM 연동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외부 전송 없이 내 장비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9회차(오늘)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ICTK 특화 ① [지침만] PoC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배운 것을 우리 업무에 적용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10회차(예고)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ICTK 특화 ② [MCP·API]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외부 데이터·도구 연동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160520"/>
            <a:ext cx="1371600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4160520"/>
            <a:ext cx="1335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924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 과제 — [지침만] PoC를 실전에서 단련: ① 실행(실제 업무 입력으로 3회 돌려보기) → ② 개선(누락·오류 반영) → ③ 베이스라인 기록(소요시간·누락 건수 = 10회차 확장 재료)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5120640"/>
            <a:ext cx="13716000" cy="777240"/>
          </a:xfrm>
          <a:prstGeom prst="roundRect">
            <a:avLst>
              <a:gd name="adj" fmla="val 9412"/>
            </a:avLst>
          </a:prstGeom>
          <a:solidFill>
            <a:srgbClr val="CCFBF1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5120640"/>
            <a:ext cx="1335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10회차 예고 — ICTK 특화 ② [MCP·API]: 오늘 만든 [지침만] PoC에 OpenDART·koreanlaw 등 외부 데이터·도구를 연동해 자동화 범위를 넓힙니다(4·8회차 MCP 역량 적용).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ICTK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9회차 — ICTK 특화 ① 기본 플러그인 개발([지침만])</dc:title>
  <dc:subject>Claude Code 업무 자동화 부트캠프 9회차</dc:subject>
  <dc:creator>Unicorn / 이해경</dc:creator>
  <cp:lastModifiedBy>Unicorn / 이해경</cp:lastModifiedBy>
  <cp:revision>1</cp:revision>
  <dcterms:created xsi:type="dcterms:W3CDTF">2026-06-16T11:40:58Z</dcterms:created>
  <dcterms:modified xsi:type="dcterms:W3CDTF">2026-06-16T11:40:58Z</dcterms:modified>
</cp:coreProperties>
</file>