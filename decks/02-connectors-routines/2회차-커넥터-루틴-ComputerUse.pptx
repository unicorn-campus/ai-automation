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6"/>
    <p:sldId id="267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04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374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2회차 시작. 1회차(데스크톱 앱 설치·프롬프트 5요소로 '말'로 시키기) 상기 → 오늘은 외부 도구 연결(커넥터)·자동 반복(루틴)·화면 조작(Computer use)으로 확장. 데스크톱 앱 Code 탭(GUI), 터미널 아님. 유료 계정(Pro·Max·Team·Enterprise) 필요, 무료 불가. 출처: 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골든서클로 동기 부여. '다른 도구 데이터를 채팅에 복붙하고 있다면 그때가 커넥터를 연결할 시점'. 비개발자가 3개 개념을 한 번에 도약하는 부담을 낮추려 기대치 조정(맛보기·산출물 2건·Computer use 관찰만). 출처: https://code.claude.com/docs/en/mcp , 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개념. 용어 3종(커넥터/MCP/MCP서버)을 카드 3개로. MCP = modelcontextprotocol.io 'USB-C port for AI applications' 비유. 커넥터 = GUI 설정 흐름을 갖춘 MCP 서버. 연결 후엔 보통 서버 이름을 안 불러도 Claude가 알아서 도구를 고름(슬6에서 재언급). 출처: https://modelcontextprotocol.io/ , https://code.claude.com/docs/en/desktop , https://code.claude.com/docs/en/mcp-quickstart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 동선. '+' 버튼이 핵심 진입점(파일·스킬·커넥터·플러그인). 대표 커넥터 목록·순서는 공식 문서(Google Calendar, Slack, GitHub, Linear, Notion). OAuth는 '비밀번호 안 주고 허용만 누르는 방식'. 출처: https://code.claude.com/docs/en/desktop , https://code.claude.com/docs/en/mcp , https://code.claude.com/docs/en/mcp-quickstart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6E4A-86F2-E7FC-D86E-428A40971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D246C-6877-A44F-CB48-6F194624E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B064B-B1FD-DF2B-6D95-B9A502DB1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 동선. '+' 버튼이 핵심 진입점(파일·스킬·커넥터·플러그인). 대표 커넥터 목록·순서는 공식 문서(Google Calendar, Slack, GitHub, Linear, Notion). OAuth는 '비밀번호 안 주고 허용만 누르는 방식'. 출처: https://code.claude.com/docs/en/desktop , https://code.claude.com/docs/en/mcp , https://code.claude.com/docs/en/mcp-quickstart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FCC72-B222-AB02-4794-02FBC1D59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25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예시를 비개발자 친화(지도·캘린더·메신저)로, GitHub는 개발 직군 보조. Gmail/Calendar/MS365는 claude.ai에서 연결해야 Code에 자동 노출. 첫 도구 호출 시 권한 질문 → ICTK 사람 최종 승인 기조와 연결. 출처: https://code.claude.com/docs/en/mcp , 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입문자가 고를 2가지 질문(꺼도 돌아야 하면 Remote / 내 PC 파일 다루면 Local)으로 압축. 자율 실행(승인 없음)은 '사람 최종 승인' 원칙과 충돌하므로 별도 안전 박스로 분리해 '신뢰 작업만·범위 최소'. 주기 디테일(Remote 최소 1시간 등)은 생략. 출처: https://code.claude.com/docs/en/routines , https://code.claude.com/docs/en/desktop-scheduled-tasks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전문 도구명(Bash·Chrome 등)은 삭제하고 '빠르고 정밀한 방법이 먼저'만. 핵심 3가지(사람처럼 본다/느려서 최후 수단/로그인·결제는 사람이·Esc 중단). research preview·기본 OFF·Pro·Max 전용·실제 데스크톱·Esc 중단은 정확 팩트. 출처: https://code.claude.com/docs/en/computer-use , https://code.claude.com/docs/en/desktop , https://platform.claude.com/docs/en/agents-and-tools/tool-use/computer-use-tool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3종을 색상 헤더 카드로(패턴 E). 산출물 기준(커넥터 1건+루틴 1건). ③ Computer use는 예시 데이터 시연, 학습자는 승인·Esc 중단 관찰. 출처: https://code.claude.com/docs/en/routines , https://code.claude.com/docs/en/computer-use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3원칙(데이터 격리·최소권한·사람 최종 승인)을 색상 카드로(패턴 A). ICTK 보안 메시지 집약. 프롬프트 인젝션을 쉬운 말로. 출처: https://code.claude.com/docs/en/permissions , https://code.claude.com/docs/en/mcp , 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후 2주 과제(반복 작업 1개를 트리거·입력·출력으로 정의 = 3회차 Skill 재료). 학습 연속성: 1회차(말로 시키기)→2회차(연결·자동반복)→3회차(Skill로 재사용). 출처: https://code.claude.com/docs/en/routines , https://code.claude.com/docs/en/mcp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8120"/>
            <a:ext cx="1371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863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ⓒ ICTK · Unicorn — Claude Code 업무 자동화 부트캠프 2회차 · 무단전재 및 배포 금지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mcp.kakao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nicorn-campus/ictk/blob/main/prompts/2%ED%9A%8C%EC%B0%A8/09-AI%EB%89%B4%EC%8A%A4%EB%A0%88%ED%84%B0.m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697480"/>
          </a:xfrm>
          <a:prstGeom prst="rect">
            <a:avLst/>
          </a:prstGeom>
          <a:solidFill>
            <a:srgbClr val="2C29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2697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E7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업무 자동화 부트캠프 · 2회차 / 11회차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298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· 루틴 · Computer use 활용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D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 연결과 자동 반복으로 자동화 범위 확장  ·  데스크톱 앱 Code 탭(GUI)으로 진행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6126480" cy="320040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안내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3657600"/>
            <a:ext cx="5669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ICTK 임직원 (비개발자 포함 입문자)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도구: Claude Code 데스크톱 앱 — Chat·Cowork·Code 3개 탭 중 "Code" 탭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검은 명령창이 아닌 GUI 화면으로 진행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흐름: 1회차 복습 → 2회차 신규 → 2주 과제 → 3회차 예고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291840"/>
          <a:ext cx="7223760" cy="3063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1회차(직전)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설치·기본 사용·프롬프트 5요소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Claude에게 "말"로 시키기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커넥터·루틴·Computer use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도구 연결 + 자동 반복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3회차(예고)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기초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작업을 재사용 가능하게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"말"에서 "연결·자동화"로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골든서클: WHY → HOW →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6479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1회차는 프롬프트로 "말"만 했음. 매번 사람이 데이터를 복붙하고 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자동화를 위해서는 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도구에 직접 접근 필요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807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788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외부 도구 연결(커넥터)  ② 정해진 시각에 자동 반복(루틴)  ③ 화면 직접 조작(Computer use)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83133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8313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81304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GitHub·지도·캘린더에 연결하고, 매일 아침 뉴스레터를 자동으로 받는 자동화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554480"/>
          <a:ext cx="6675120" cy="298094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일하는 방식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사람이 복붙 후 지시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Claude가 도구에 직접 접근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시점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사람이 그때그때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정해진 시각 자동 실행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폴더 안 파일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서비스·화면까지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21208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40080" y="521208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기대치:  커넥터 1건 연결 + 루틴 1건 </a:t>
            </a: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Computer use </a:t>
            </a: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커넥터·MCP란?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도구를 잇는 표준 통로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= 클릭으로 외부 도구를 잇는 통로 — 검은 명령창 없이 Claude에 연결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434840" cy="2286000"/>
          </a:xfrm>
          <a:prstGeom prst="roundRect">
            <a:avLst>
              <a:gd name="adj" fmla="val 32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(Connector)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880360"/>
            <a:ext cx="40325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클릭만으로 외부 도구를 잇는 통로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코드·터미널 불필요 — 그래픽 설정 흐름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2240280"/>
            <a:ext cx="4434840" cy="2286000"/>
          </a:xfrm>
          <a:prstGeom prst="roundRect">
            <a:avLst>
              <a:gd name="adj" fmla="val 32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093208" y="224028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93208" y="22402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94376" y="2880360"/>
            <a:ext cx="40325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통로의 기술 표준 이름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비유 "AI를 위한 USB-C 포트" — 어떤 도구든 같은 방식으로 꽂음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2240280"/>
            <a:ext cx="4434840" cy="2286000"/>
          </a:xfrm>
          <a:prstGeom prst="roundRect">
            <a:avLst>
              <a:gd name="adj" fmla="val 32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729216" y="224028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729216" y="22402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30384" y="2880360"/>
            <a:ext cx="40325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연결되는 도구 하나하나(단위)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Claude에 도구·데이터 접근을 줌 (예: GitHub, 지도, Gmail)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연결하면 Claude가 캘린더 읽기, 메시지 전송, 이슈 생성 등 도구를 직접 다룰 수 있습니다.</a:t>
            </a:r>
            <a:endParaRPr lang="en-US" sz="1600" dirty="0"/>
          </a:p>
        </p:txBody>
      </p:sp>
      <p:pic>
        <p:nvPicPr>
          <p:cNvPr id="20" name="Image 0" descr="C:\Users\hiond\plugins\courseware\output\ictk-automation-bootcamp\decks\02-connectors-routines\images\s3_mcp_usb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5440" y="4617720"/>
            <a:ext cx="4937760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연결 방법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'+' 버튼과 ⚙️ Settings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탭에서 외부 도구 연결하기 (Google Drive/</a:t>
            </a:r>
            <a:r>
              <a:rPr lang="en-US" sz="18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Calendar·Slack·GitHub·PlayMCP·Notion</a:t>
            </a: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등)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플로우 (GUI)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Code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탭에서 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지정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’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커넥터 선택 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커넥터 둘러보기 선택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575304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할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정렬 기준을 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인기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’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순으로 하여 많이 사용하는 커넥터 확인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453128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4453128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[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로그인 창에서 연결 승인(OAuth)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토큰은 안전 저장·자동 갱신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5330952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5330952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설정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도구 그룹별로 항상 허용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필요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차단됨</a:t>
            </a:r>
            <a:endParaRPr lang="en-US" sz="16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475771A-F3F6-60D6-0CAB-AEFF1763977D}"/>
              </a:ext>
            </a:extLst>
          </p:cNvPr>
          <p:cNvGrpSpPr/>
          <p:nvPr/>
        </p:nvGrpSpPr>
        <p:grpSpPr>
          <a:xfrm>
            <a:off x="457200" y="6405087"/>
            <a:ext cx="6675120" cy="914400"/>
            <a:chOff x="7498080" y="5212080"/>
            <a:chExt cx="6675120" cy="914400"/>
          </a:xfrm>
        </p:grpSpPr>
        <p:sp>
          <p:nvSpPr>
            <p:cNvPr id="18" name="Shape 15"/>
            <p:cNvSpPr/>
            <p:nvPr/>
          </p:nvSpPr>
          <p:spPr>
            <a:xfrm>
              <a:off x="7498080" y="5212080"/>
              <a:ext cx="6675120" cy="914400"/>
            </a:xfrm>
            <a:prstGeom prst="roundRect">
              <a:avLst>
                <a:gd name="adj" fmla="val 8000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7680960" y="5212080"/>
              <a:ext cx="630936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OAuth(오어스): </a:t>
              </a: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보안을 강화한 인증 방식의 하나로 </a:t>
              </a:r>
              <a:r>
                <a:rPr lang="en-US" altLang="ko-KR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MCP</a:t>
              </a: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의 표준 인증 방식임</a:t>
              </a:r>
              <a:r>
                <a:rPr lang="en-US" altLang="ko-KR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.</a:t>
              </a: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커넥터로 연결된 서비스의 인증 토큰은 </a:t>
              </a:r>
              <a:r>
                <a:rPr lang="en-US" altLang="ko-KR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Claude </a:t>
              </a: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서버에서 안전하게 관리됨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068EE2B-9726-CDE3-D166-C921D8771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100" y="2606040"/>
            <a:ext cx="3836306" cy="176038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46F9219-0C5C-BA40-EC9D-40A739454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118" y="2606040"/>
            <a:ext cx="2902099" cy="198765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0A1FA40-006A-B138-CE00-1750968CA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199" y="4743105"/>
            <a:ext cx="3936207" cy="106138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9BD929F-C352-05EE-170C-84B816CDC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7156" y="4662006"/>
            <a:ext cx="2809719" cy="122358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56724BC-DC63-850E-77D5-2F7C4627A6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6022942"/>
            <a:ext cx="5300664" cy="1573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24A7-5086-02FA-67D2-592504A00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2EC9297-26FA-46BA-7A18-7B9ED3E9581B}"/>
              </a:ext>
            </a:extLst>
          </p:cNvPr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 </a:t>
            </a:r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PlayMCP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제공하는 </a:t>
            </a: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연결 방법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9C29C36-B2F9-B4FC-2A11-330C0124BA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1B1835F-8BED-29E4-0C93-2DCC141EEA05}"/>
              </a:ext>
            </a:extLst>
          </p:cNvPr>
          <p:cNvGrpSpPr/>
          <p:nvPr/>
        </p:nvGrpSpPr>
        <p:grpSpPr>
          <a:xfrm>
            <a:off x="585787" y="1358741"/>
            <a:ext cx="4293394" cy="1127284"/>
            <a:chOff x="457200" y="1508760"/>
            <a:chExt cx="13716000" cy="548640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77FCD9B6-34ED-83E9-BEFD-09E8D0225090}"/>
                </a:ext>
              </a:extLst>
            </p:cNvPr>
            <p:cNvSpPr/>
            <p:nvPr/>
          </p:nvSpPr>
          <p:spPr>
            <a:xfrm>
              <a:off x="457200" y="1508760"/>
              <a:ext cx="13716000" cy="548640"/>
            </a:xfrm>
            <a:prstGeom prst="roundRect">
              <a:avLst>
                <a:gd name="adj" fmla="val 13333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167B9155-7389-8EF8-B1CA-CB5DB30AB89A}"/>
                </a:ext>
              </a:extLst>
            </p:cNvPr>
            <p:cNvSpPr/>
            <p:nvPr/>
          </p:nvSpPr>
          <p:spPr>
            <a:xfrm>
              <a:off x="640080" y="1508760"/>
              <a:ext cx="133502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800" dirty="0">
                  <a:hlinkClick r:id="rId3"/>
                </a:rPr>
                <a:t>https://playmcp.kakao.com</a:t>
              </a:r>
              <a:r>
                <a:rPr lang="en-US" sz="1800" dirty="0"/>
                <a:t> </a:t>
              </a:r>
              <a:r>
                <a:rPr lang="ko-KR" altLang="en-US" sz="1800" dirty="0"/>
                <a:t>접근</a:t>
              </a:r>
              <a:endParaRPr lang="en-US" sz="1800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7E8DF3E-31AA-1B76-5484-B5252FC4401C}"/>
              </a:ext>
            </a:extLst>
          </p:cNvPr>
          <p:cNvGrpSpPr/>
          <p:nvPr/>
        </p:nvGrpSpPr>
        <p:grpSpPr>
          <a:xfrm>
            <a:off x="585787" y="3004185"/>
            <a:ext cx="4293394" cy="1127284"/>
            <a:chOff x="457200" y="1508760"/>
            <a:chExt cx="13716000" cy="548640"/>
          </a:xfrm>
        </p:grpSpPr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BF650779-CF88-A0B6-11A1-2CDDA01F435E}"/>
                </a:ext>
              </a:extLst>
            </p:cNvPr>
            <p:cNvSpPr/>
            <p:nvPr/>
          </p:nvSpPr>
          <p:spPr>
            <a:xfrm>
              <a:off x="457200" y="1508760"/>
              <a:ext cx="13716000" cy="548640"/>
            </a:xfrm>
            <a:prstGeom prst="roundRect">
              <a:avLst>
                <a:gd name="adj" fmla="val 13333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4">
              <a:extLst>
                <a:ext uri="{FF2B5EF4-FFF2-40B4-BE49-F238E27FC236}">
                  <a16:creationId xmlns:a16="http://schemas.microsoft.com/office/drawing/2014/main" id="{19DFAD74-0C5E-08AB-DC88-503D1D039545}"/>
                </a:ext>
              </a:extLst>
            </p:cNvPr>
            <p:cNvSpPr/>
            <p:nvPr/>
          </p:nvSpPr>
          <p:spPr>
            <a:xfrm>
              <a:off x="640080" y="1508760"/>
              <a:ext cx="133502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ko-KR" altLang="en-US" sz="1800" dirty="0"/>
                <a:t>추가할 </a:t>
              </a:r>
              <a:r>
                <a:rPr lang="en-US" altLang="ko-KR" sz="1800" dirty="0"/>
                <a:t>MCP </a:t>
              </a:r>
              <a:r>
                <a:rPr lang="ko-KR" altLang="en-US" sz="1800" dirty="0"/>
                <a:t>찾고 클릭</a:t>
              </a:r>
              <a:endParaRPr lang="en-US" altLang="ko-KR" sz="18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dirty="0"/>
                <a:t>(</a:t>
              </a:r>
              <a:r>
                <a:rPr lang="ko-KR" altLang="en-US" dirty="0"/>
                <a:t>추천순</a:t>
              </a:r>
              <a:r>
                <a:rPr lang="en-US" altLang="ko-KR" dirty="0"/>
                <a:t>, </a:t>
              </a:r>
              <a:r>
                <a:rPr lang="ko-KR" altLang="en-US" dirty="0" err="1"/>
                <a:t>툴콜</a:t>
              </a:r>
              <a:r>
                <a:rPr lang="ko-KR" altLang="en-US" dirty="0"/>
                <a:t> 순</a:t>
              </a:r>
              <a:r>
                <a:rPr lang="en-US" altLang="ko-KR" dirty="0"/>
                <a:t>, </a:t>
              </a:r>
              <a:r>
                <a:rPr lang="ko-KR" altLang="en-US" dirty="0"/>
                <a:t>최신 순 정렬 활용</a:t>
              </a:r>
              <a:r>
                <a:rPr lang="en-US" altLang="ko-KR" dirty="0"/>
                <a:t>)</a:t>
              </a:r>
              <a:endParaRPr lang="en-US" sz="18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73E6367-46CA-A311-EB69-E5AB7D3C470E}"/>
              </a:ext>
            </a:extLst>
          </p:cNvPr>
          <p:cNvGrpSpPr/>
          <p:nvPr/>
        </p:nvGrpSpPr>
        <p:grpSpPr>
          <a:xfrm>
            <a:off x="585787" y="4649629"/>
            <a:ext cx="4293394" cy="1127284"/>
            <a:chOff x="457200" y="1508760"/>
            <a:chExt cx="13716000" cy="548640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834EC2BD-E9B1-027E-3127-DE545F528219}"/>
                </a:ext>
              </a:extLst>
            </p:cNvPr>
            <p:cNvSpPr/>
            <p:nvPr/>
          </p:nvSpPr>
          <p:spPr>
            <a:xfrm>
              <a:off x="457200" y="1508760"/>
              <a:ext cx="13716000" cy="548640"/>
            </a:xfrm>
            <a:prstGeom prst="roundRect">
              <a:avLst>
                <a:gd name="adj" fmla="val 13333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4">
              <a:extLst>
                <a:ext uri="{FF2B5EF4-FFF2-40B4-BE49-F238E27FC236}">
                  <a16:creationId xmlns:a16="http://schemas.microsoft.com/office/drawing/2014/main" id="{BEB057D9-A267-C190-296E-E3625E75FFA2}"/>
                </a:ext>
              </a:extLst>
            </p:cNvPr>
            <p:cNvSpPr/>
            <p:nvPr/>
          </p:nvSpPr>
          <p:spPr>
            <a:xfrm>
              <a:off x="640080" y="1508760"/>
              <a:ext cx="133502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ko-KR" altLang="en-US" sz="1800" dirty="0" err="1"/>
                <a:t>도구함에</a:t>
              </a:r>
              <a:r>
                <a:rPr lang="ko-KR" altLang="en-US" sz="1800" dirty="0"/>
                <a:t> 추가</a:t>
              </a:r>
              <a:endParaRPr lang="en-US" altLang="ko-KR" sz="18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altLang="ko-KR" dirty="0"/>
                <a:t>(</a:t>
              </a:r>
              <a:r>
                <a:rPr lang="ko-KR" altLang="en-US" dirty="0"/>
                <a:t>카카오 인증 필요</a:t>
              </a:r>
              <a:r>
                <a:rPr lang="en-US" altLang="ko-KR" dirty="0"/>
                <a:t>)</a:t>
              </a:r>
              <a:endParaRPr lang="en-US" altLang="ko-KR" sz="18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8A5BAA7-5A58-881B-F166-36F46C085248}"/>
              </a:ext>
            </a:extLst>
          </p:cNvPr>
          <p:cNvGrpSpPr/>
          <p:nvPr/>
        </p:nvGrpSpPr>
        <p:grpSpPr>
          <a:xfrm>
            <a:off x="585787" y="6295072"/>
            <a:ext cx="4293394" cy="1127284"/>
            <a:chOff x="457200" y="1508760"/>
            <a:chExt cx="13716000" cy="548640"/>
          </a:xfrm>
        </p:grpSpPr>
        <p:sp>
          <p:nvSpPr>
            <p:cNvPr id="37" name="Shape 3">
              <a:extLst>
                <a:ext uri="{FF2B5EF4-FFF2-40B4-BE49-F238E27FC236}">
                  <a16:creationId xmlns:a16="http://schemas.microsoft.com/office/drawing/2014/main" id="{19F6D4DE-E09F-7AE4-FBB1-5733393047F5}"/>
                </a:ext>
              </a:extLst>
            </p:cNvPr>
            <p:cNvSpPr/>
            <p:nvPr/>
          </p:nvSpPr>
          <p:spPr>
            <a:xfrm>
              <a:off x="457200" y="1508760"/>
              <a:ext cx="13716000" cy="548640"/>
            </a:xfrm>
            <a:prstGeom prst="roundRect">
              <a:avLst>
                <a:gd name="adj" fmla="val 13333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4">
              <a:extLst>
                <a:ext uri="{FF2B5EF4-FFF2-40B4-BE49-F238E27FC236}">
                  <a16:creationId xmlns:a16="http://schemas.microsoft.com/office/drawing/2014/main" id="{1B764E38-993F-5CDE-DE2C-36C7E79BA09A}"/>
                </a:ext>
              </a:extLst>
            </p:cNvPr>
            <p:cNvSpPr/>
            <p:nvPr/>
          </p:nvSpPr>
          <p:spPr>
            <a:xfrm>
              <a:off x="640080" y="1508760"/>
              <a:ext cx="133502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altLang="ko-KR" sz="1800" dirty="0"/>
                <a:t>Claude Code</a:t>
              </a:r>
              <a:r>
                <a:rPr lang="ko-KR" altLang="en-US" sz="1800" dirty="0"/>
                <a:t>에서 확인</a:t>
              </a:r>
              <a:endParaRPr lang="en-US" altLang="ko-KR" sz="18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altLang="ko-KR" dirty="0"/>
                <a:t>(</a:t>
              </a:r>
              <a:r>
                <a:rPr lang="en-US" altLang="ko-KR" dirty="0" err="1"/>
                <a:t>PlayMCP</a:t>
              </a:r>
              <a:r>
                <a:rPr lang="en-US" altLang="ko-KR" dirty="0"/>
                <a:t> </a:t>
              </a:r>
              <a:r>
                <a:rPr lang="ko-KR" altLang="en-US" dirty="0"/>
                <a:t>클릭</a:t>
              </a:r>
              <a:r>
                <a:rPr lang="en-US" altLang="ko-KR" dirty="0">
                  <a:sym typeface="Wingdings" panose="05000000000000000000" pitchFamily="2" charset="2"/>
                </a:rPr>
                <a:t></a:t>
              </a:r>
              <a:r>
                <a:rPr lang="ko-KR" altLang="en-US" dirty="0">
                  <a:sym typeface="Wingdings" panose="05000000000000000000" pitchFamily="2" charset="2"/>
                </a:rPr>
                <a:t>도구 목록 새로 </a:t>
              </a:r>
              <a:r>
                <a:rPr lang="ko-KR" altLang="en-US" dirty="0" err="1">
                  <a:sym typeface="Wingdings" panose="05000000000000000000" pitchFamily="2" charset="2"/>
                </a:rPr>
                <a:t>고침하여</a:t>
              </a:r>
              <a:r>
                <a:rPr lang="ko-KR" altLang="en-US" dirty="0">
                  <a:sym typeface="Wingdings" panose="05000000000000000000" pitchFamily="2" charset="2"/>
                </a:rPr>
                <a:t> </a:t>
              </a:r>
              <a:r>
                <a:rPr lang="en-US" altLang="ko-KR" dirty="0"/>
                <a:t>MCP </a:t>
              </a:r>
              <a:r>
                <a:rPr lang="ko-KR" altLang="en-US" dirty="0"/>
                <a:t>추가 확인</a:t>
              </a:r>
              <a:r>
                <a:rPr lang="en-US" altLang="ko-KR" dirty="0"/>
                <a:t>)</a:t>
              </a:r>
              <a:endParaRPr lang="en-US" altLang="ko-KR" sz="1800" dirty="0"/>
            </a:p>
          </p:txBody>
        </p:sp>
      </p:grp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89E38E8-58F9-810E-DF98-C29DD03534D2}"/>
              </a:ext>
            </a:extLst>
          </p:cNvPr>
          <p:cNvCxnSpPr>
            <a:stCxn id="23" idx="2"/>
            <a:endCxn id="30" idx="0"/>
          </p:cNvCxnSpPr>
          <p:nvPr/>
        </p:nvCxnSpPr>
        <p:spPr>
          <a:xfrm>
            <a:off x="2732484" y="2486025"/>
            <a:ext cx="0" cy="518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C893FFD-9079-B471-2888-64591E99D9CB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>
            <a:off x="2732484" y="4131469"/>
            <a:ext cx="0" cy="518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D5EB021-BFDF-B4DC-E60F-633A14F8E558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>
            <a:off x="2732484" y="5776913"/>
            <a:ext cx="0" cy="518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6DA1B151-3FBE-F2E2-9D6B-7C78CB34D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4" y="1368267"/>
            <a:ext cx="7379496" cy="268753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6CF0034F-30D1-1947-272C-CEE5C49AE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824" y="4183001"/>
            <a:ext cx="7369924" cy="1886234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72C1594-ECF2-D5E8-B39A-02D431907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2193" y="6295072"/>
            <a:ext cx="6260530" cy="14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35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후 — 무엇을 시킬 수 있나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· 권한까지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연결하면 자연어로 바로 지시 (비개발자 친화 예시 중심)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469937"/>
              </p:ext>
            </p:extLst>
          </p:nvPr>
        </p:nvGraphicFramePr>
        <p:xfrm>
          <a:off x="457200" y="2240279"/>
          <a:ext cx="13716000" cy="458914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5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시키나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자연어 지시 예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지도 (경로·맛집)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"○○역에서 △△까지 경로와 주변 맛집 추천"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캘린더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"오늘 내 일정 정리해서 보여줘"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메신저 (Slack)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"이 요약을 팀 채널에 보내줘"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GitHub (개발 직군 보조)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"PR #456 리뷰", "내게 할당된 열린 PR 보여줘"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GitHub (이슈 요약)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"블로커 7일 기준으로 감지해 주간 보고로 정리해줘"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100016"/>
                  </a:ext>
                </a:extLst>
              </a:tr>
              <a:tr h="498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Gmail (메일 정리)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"받은 메일을 긴급·일반·검토 3단계로 분류해줘"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535372"/>
                  </a:ext>
                </a:extLst>
              </a:tr>
              <a:tr h="498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Google Drive (문서 검색)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"관련 문서를 HIGH/MED/LOW 등급으로 요약해줘"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828943"/>
                  </a:ext>
                </a:extLst>
              </a:tr>
              <a:tr h="498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공연 추천 (ArtBridge)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"무료·매진 표시해서 공연 TOP3·예비 2개 추천해줘"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6227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AC3716F-0509-59B8-C3E2-0D142D7D10A1}"/>
              </a:ext>
            </a:extLst>
          </p:cNvPr>
          <p:cNvGrpSpPr/>
          <p:nvPr/>
        </p:nvGrpSpPr>
        <p:grpSpPr>
          <a:xfrm>
            <a:off x="457200" y="7065169"/>
            <a:ext cx="13716000" cy="540068"/>
            <a:chOff x="7498080" y="5212080"/>
            <a:chExt cx="6675120" cy="914400"/>
          </a:xfrm>
        </p:grpSpPr>
        <p:sp>
          <p:nvSpPr>
            <p:cNvPr id="10" name="Shape 15">
              <a:extLst>
                <a:ext uri="{FF2B5EF4-FFF2-40B4-BE49-F238E27FC236}">
                  <a16:creationId xmlns:a16="http://schemas.microsoft.com/office/drawing/2014/main" id="{FA428C8E-681D-4397-F7A5-562FE04C98E3}"/>
                </a:ext>
              </a:extLst>
            </p:cNvPr>
            <p:cNvSpPr/>
            <p:nvPr/>
          </p:nvSpPr>
          <p:spPr>
            <a:xfrm>
              <a:off x="7498080" y="5212080"/>
              <a:ext cx="6675120" cy="914400"/>
            </a:xfrm>
            <a:prstGeom prst="roundRect">
              <a:avLst>
                <a:gd name="adj" fmla="val 8000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16">
              <a:extLst>
                <a:ext uri="{FF2B5EF4-FFF2-40B4-BE49-F238E27FC236}">
                  <a16:creationId xmlns:a16="http://schemas.microsoft.com/office/drawing/2014/main" id="{969EC1CD-1F28-DC38-2077-355D0567C7D4}"/>
                </a:ext>
              </a:extLst>
            </p:cNvPr>
            <p:cNvSpPr/>
            <p:nvPr/>
          </p:nvSpPr>
          <p:spPr>
            <a:xfrm>
              <a:off x="7538131" y="5212080"/>
              <a:ext cx="6452189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altLang="ko-KR" sz="1600" dirty="0"/>
                <a:t>※ MCP</a:t>
              </a:r>
              <a:r>
                <a:rPr lang="ko-KR" altLang="en-US" sz="1600" dirty="0"/>
                <a:t>로 무엇을 할 수 있는지 </a:t>
              </a:r>
              <a:r>
                <a:rPr lang="en-US" altLang="ko-KR" sz="1600" dirty="0"/>
                <a:t>Claude</a:t>
              </a:r>
              <a:r>
                <a:rPr lang="ko-KR" altLang="en-US" sz="1600" dirty="0"/>
                <a:t>에 문의하여 활용</a:t>
              </a:r>
              <a:r>
                <a:rPr lang="en-US" altLang="ko-KR" sz="1600" dirty="0"/>
                <a:t>: “</a:t>
              </a:r>
              <a:r>
                <a:rPr lang="en-US" altLang="ko-KR" sz="1600" dirty="0" err="1"/>
                <a:t>ArtBridge</a:t>
              </a:r>
              <a:r>
                <a:rPr lang="en-US" altLang="ko-KR" sz="1600" dirty="0"/>
                <a:t>” MCP</a:t>
              </a:r>
              <a:r>
                <a:rPr lang="ko-KR" altLang="en-US" sz="1600" dirty="0"/>
                <a:t>로 무엇을 할 수 있나요</a:t>
              </a:r>
              <a:r>
                <a:rPr lang="en-US" altLang="ko-KR" sz="1600" dirty="0"/>
                <a:t>?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59170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루틴(Routine) — 정해진 시각에 자동 실행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묶어 두면 알아서 돌아감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 = 프롬프트 + (저장소) + 커넥터를 한 번 묶어, 정해진 시각에 자동으로 실행하는 단위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흐름(GUI): 좌측 사이드바 Routines → New routine → Remote/Local 선택 → 이름·프롬프트·주기 입력 → Run now로 시험 실행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중 무엇을 고를까 — 단 2가지 질문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7863840" cy="173736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상황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컴퓨터를 꺼도 자동으로 돌아야 한다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Remote (클라우드 루틴)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PC 안의 파일을 직접 다뤄야 한다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Local (데스크톱 예약 작업)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51206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예: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SzPct val="100000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"아침 캘린더·받은편지함 브리핑"(로컬 파일 접근)=Local 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SzPct val="100000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"주간 PR·백로그 요약"=Remote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95360" y="274320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796528" y="292608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796528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안전 박스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33104" y="352044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루틴(Remote)은 실행 중 승인 프롬프트 없이 자율 실행됨</a:t>
            </a:r>
            <a:endParaRPr lang="en-US" sz="1600" dirty="0"/>
          </a:p>
          <a:p>
            <a:pPr algn="l">
              <a:lnSpc>
                <a:spcPct val="105000"/>
              </a:lnSpc>
              <a:spcAft>
                <a:spcPts val="1200"/>
              </a:spcAft>
              <a:buSzPct val="100000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승인한 신뢰 작업만, 커넥터 범위는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최소로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데스크톱 루틴(Local)은 작업별 권한 모드(Ask 시 승인 대기)를 따름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Computer use — 화면을 보고 직접 조작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개념과 왜 조심해야 하나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Claude가 화면을 스크린샷으로 보고 마우스·키보드로 GUI를 조작 — 사람이 하듯 앱을 다룸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 (반복 순환)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화면을 본다(스크린샷)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45536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클릭·타이핑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822192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앱이 실행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49884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결과 확인 → 반복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057400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138928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기억할 3가지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75504" y="2651760"/>
            <a:ext cx="4114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사람처럼 화면을 본다: 스크린샷으로 보고 마우스·키보드로 조작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느려서 마지막 수단: 빠르고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정밀한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b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(커넥터)이 먼저 — 그 무엇도 안 될 때만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위험한 건 사람이·언제든 멈춤: 로그인·결제·약관 동의는 사람이, 어디서든 Esc로 즉시 중단</a:t>
            </a:r>
            <a:endParaRPr lang="en-US" sz="1600" dirty="0"/>
          </a:p>
        </p:txBody>
      </p:sp>
      <p:pic>
        <p:nvPicPr>
          <p:cNvPr id="18" name="Image 0" descr="C:\Users\hiond\plugins\courseware\output\ictk-automation-bootcamp\decks\02-connectors-routines\images\s8_computer_use_lo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84080" y="2103120"/>
            <a:ext cx="4389120" cy="32004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57200" y="557784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40080" y="557784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현재 연구 프리뷰 · 기본 OFF · Pro·Max 전용(Team·Enterprise 불가). 샌드박스가 아닌 진짜 데스크톱에서 동작 → 고위험 조작은 실습하지 않고 데모·관찰만.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3종 — 연결하고, 자동화하고, 관찰하기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손으로 해보기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이동경로 추천 및 맛집 찾기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카카오맵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240280"/>
            <a:ext cx="403250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PlayMCP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커넥터 연결 후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표준 가이드에 따라 </a:t>
            </a:r>
            <a:r>
              <a:rPr lang="ko-KR" alt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프롬프팅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실행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커넥터 사용 체감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1600200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93208" y="16002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93208" y="16002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루틴 · 아침 뉴스레터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240280"/>
            <a:ext cx="4032504" cy="2017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표준 가이드에 따라 프롬프트 작성　</a:t>
            </a:r>
            <a:b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예제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참고하여 수행</a:t>
            </a:r>
            <a:b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주제에 맞는 신뢰도 높은 사이트 제공</a:t>
            </a:r>
            <a:b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건수 등 제약 </a:t>
            </a:r>
            <a:endParaRPr lang="en-US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/>
              <a:t>수행모드</a:t>
            </a:r>
            <a:r>
              <a:rPr lang="en-US" altLang="ko-KR" sz="1600" dirty="0"/>
              <a:t>, </a:t>
            </a:r>
            <a:r>
              <a:rPr lang="ko-KR" altLang="en-US" sz="1600" dirty="0"/>
              <a:t>모델</a:t>
            </a:r>
            <a:r>
              <a:rPr lang="en-US" altLang="ko-KR" sz="1600" dirty="0"/>
              <a:t>, </a:t>
            </a:r>
            <a:r>
              <a:rPr lang="ko-KR" altLang="en-US" sz="1600" dirty="0"/>
              <a:t>폴더 선택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주기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설정 후 Run now로 시험 실행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1600200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729216" y="16002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29216" y="16002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Computer use · 관찰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240280"/>
            <a:ext cx="403250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예시 데이터로 화면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조작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</a:t>
            </a:r>
            <a:b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홈택스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실행하여 </a:t>
            </a:r>
            <a:r>
              <a:rPr lang="ko-KR" alt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국세완납증명서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세금계산서 발급</a:t>
            </a:r>
            <a:b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메모리에 기억 시키기</a:t>
            </a:r>
            <a:b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Codex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수행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간단 실습</a:t>
            </a:r>
            <a:b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MS Word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실행하여 시나 노래 만들게 하기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12064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산출물: 커넥터 1건 연결 + 루틴 1건 생성   ·   모두 "내가 선택한 폴더 안에서 / 사람이 승인하며" 진행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1" name="직사각형 20">
            <a:hlinkClick r:id="rId3"/>
            <a:extLst>
              <a:ext uri="{FF2B5EF4-FFF2-40B4-BE49-F238E27FC236}">
                <a16:creationId xmlns:a16="http://schemas.microsoft.com/office/drawing/2014/main" id="{547D8E71-ECDD-5AED-7494-F719446D6313}"/>
              </a:ext>
            </a:extLst>
          </p:cNvPr>
          <p:cNvSpPr/>
          <p:nvPr/>
        </p:nvSpPr>
        <p:spPr>
          <a:xfrm>
            <a:off x="5350669" y="4257675"/>
            <a:ext cx="3976211" cy="4514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algn="ctr">
              <a:lnSpc>
                <a:spcPct val="105000"/>
              </a:lnSpc>
              <a:spcAft>
                <a:spcPts val="1000"/>
              </a:spcAft>
              <a:buSzPct val="100000"/>
            </a:pPr>
            <a:r>
              <a:rPr lang="ko-KR" altLang="en-US" sz="1600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예제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</a:t>
            </a:r>
            <a:endParaRPr lang="ko-KR" altLang="en-US" sz="1600" dirty="0">
              <a:solidFill>
                <a:schemeClr val="tx1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안전 수칙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격리 · 최소권한 · 사람 최종 승인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IC(PUF) 기업 ICTK의 자동화 기본기 — 외부 연결·자동 반복에도 흔들리지 않는 3원칙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데이터 격리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880360"/>
            <a:ext cx="4032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작업은 내가 선택한 폴더 안에서만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폴더는 명시 허용해야 접근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루틴은 선택한 저장소·커넥터 범위로 한정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224028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093208" y="224028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93208" y="22402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최소권한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94376" y="2880360"/>
            <a:ext cx="4032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전 그 서버를 신뢰하는지 확인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(외부 콘텐츠는 프롬프트 인젝션 위험)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불필요한 커넥터는 제거 · Computer use는 앱별로 좁게 승인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224028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729216" y="224028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729216" y="22402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사람 최종 승인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30384" y="2880360"/>
            <a:ext cx="4032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 latinLnBrk="1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수행모드를 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요청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’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하여 </a:t>
            </a:r>
            <a:b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편집·실행·도구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첫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Accept/Reject</a:t>
            </a:r>
            <a:endParaRPr lang="en-US" sz="1600" dirty="0"/>
          </a:p>
          <a:p>
            <a:pPr marL="177800" indent="-177800" algn="l" latinLnBrk="1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로그인·결제·발급·제출 등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고위험은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b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5120640"/>
            <a:ext cx="1371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인젝션: 외부 문서·화면 속 숨은 지시문이 Claude를 속여 엉뚱한 동작을 시키는 공격 — 신뢰되지 않은 서버 연결을 경계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</a:t>
            </a:r>
            <a:r>
              <a:rPr lang="en-US" sz="16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모드는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요청</a:t>
            </a:r>
            <a:r>
              <a:rPr lang="en-US" altLang="ko-KR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 permissions): Claude가 변경 전 묻고, 사람이 각 변경을 승인/거부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· 2주 과제 · 3회차 예고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요약 / 할 일 / 다음 미리보기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766560" cy="25603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084832"/>
            <a:ext cx="6309360" cy="1587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커넥터/MCP: 화면 클릭으로 외부 도구 연결("AI의 USB-C")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루틴: 정해진 시각 자동 실행 — Remote(클라우드)/Local(데스크톱)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Computer use: 화면 보고 직접 조작 — 느린 최후 수단·로그인/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결제는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b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사람이·Esc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중단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15087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과제 — </a:t>
            </a: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관련 </a:t>
            </a: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(3회차 Skill 구현 재료)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965960"/>
          <a:ext cx="6675120" cy="2103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정의 항목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적을 내용(예)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트리거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언제 실행? (매일 아침 9시 / 매주 월요일)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받나? (특정 주제·메일함·캘린더)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만드나? (요약 메일 1통 / Slack 메시지)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44068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예고 — Skill 기초: 반복 프롬프트·작업을 재사용 가능한 SKILL.md로 승격. </a:t>
            </a: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과제로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설계한 루틴 후보가 곧 3회차 Skill의 재료가 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CB0DB0-B546-40A6-BB24-70F397A8EB3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e2681e4-a6bf-474b-a33f-69b9da0880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2418</Words>
  <Application>Microsoft Office PowerPoint</Application>
  <PresentationFormat>사용자 지정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Pretendard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ICTK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2회차 — 커넥터·루틴·Computer use 활용</dc:title>
  <dc:subject>Claude Code 업무 자동화 부트캠프 2회차</dc:subject>
  <dc:creator>Unicorn / 이해경</dc:creator>
  <cp:lastModifiedBy>해경 이</cp:lastModifiedBy>
  <cp:revision>36</cp:revision>
  <dcterms:created xsi:type="dcterms:W3CDTF">2026-06-16T07:05:20Z</dcterms:created>
  <dcterms:modified xsi:type="dcterms:W3CDTF">2026-06-17T06:41:24Z</dcterms:modified>
</cp:coreProperties>
</file>