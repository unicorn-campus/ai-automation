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452" r:id="rId9"/>
    <p:sldId id="355" r:id="rId10"/>
    <p:sldId id="453" r:id="rId11"/>
    <p:sldId id="454" r:id="rId12"/>
    <p:sldId id="455" r:id="rId13"/>
    <p:sldId id="262" r:id="rId14"/>
    <p:sldId id="264" r:id="rId15"/>
    <p:sldId id="266" r:id="rId16"/>
  </p:sld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2007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4회차 시작. 3회차(SKILL.md 재사용) 상기 → 오늘은 MCP로 웹브라우저·도우미·자작 도구를 결합. 데스크톱 앱 Code 탭(GUI). 유료 계정 필요. 출처: https://code.claude.com/docs/en/mcp , https://code.claude.com/docs/en/chrome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골든서클. MCP 공식 정의(open standard for AI-tool integrations)를 '표준 콘센트' 비유로. 보안 메시지(폴더 격리·사람 승인). 출처: https://code.claude.com/docs/en/mcp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분기점. Playwright MCP=별도 자동화 브라우저(접근성 트리 기반, 계정 불필요), Claude in Chrome=실제 브라우저 공유(beta, Chrome/Edge, 직접 Anthropic 플랜). 출처: https://github.com/microsoft/playwright-mcp , https://code.claude.com/docs/en/chrome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Playwright MCP. 공식 README: accessibility tree 기반(픽셀 아님), 빠르고 deterministic, 계정 불필요, 브라우저 창 보임. 설정 예시는 README config(데스크톱은 프롬프트로 추가 후 diff 승인). Node 18+. 출처: https://github.com/microsoft/playwright-mcp , https://code.claude.com/docs/en/mcp-quickstart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Claude in Chrome: beta, Chrome/Edge만, 직접 Anthropic 플랜, 내 로그인 공유, login/CAPTCHA 시 사람에게 멈춰 물음, 사이트별 권한. 출처: https://code.claude.com/docs/en/chrome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context7=upstash(최신 버전별 공식문서 주입, 'use context7'), sequential thinking=modelcontextprotocol servers(문제를 단계적 사고로 분해·수정·분기). 출처: https://github.com/upstash/context7 , https://github.com/modelcontextprotocol/servers/tree/main/src/sequentialthinking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7D8F3-55DA-C5B9-2D25-6B4AA9714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B4AFD2-22B2-0186-9F8A-DC6490B5DF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314643-0021-64B9-F08F-04E6A4E75F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66833" tIns="33417" rIns="66833" bIns="33417"/>
          <a:lstStyle/>
          <a:p>
            <a:endParaRPr lang="en-US" dirty="0">
              <a:latin typeface="Pretendard" panose="02000503000000020004" pitchFamily="50" charset="-12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2F950C-5144-2DF4-F5B4-2012682646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66833" tIns="33417" rIns="66833" bIns="33417"/>
          <a:lstStyle/>
          <a:p>
            <a:pPr defTabSz="668335">
              <a:defRPr/>
            </a:pPr>
            <a:fld id="{F7021451-1387-4CA6-816F-3879F97B5CBC}" type="slidenum">
              <a:rPr lang="en-US" sz="1300">
                <a:solidFill>
                  <a:prstClr val="black"/>
                </a:solidFill>
                <a:latin typeface="Pretendard" panose="02000503000000020004" pitchFamily="50" charset="-127"/>
              </a:rPr>
              <a:pPr defTabSz="668335">
                <a:defRPr/>
              </a:pPr>
              <a:t>7</a:t>
            </a:fld>
            <a:endParaRPr lang="en-US" sz="1300">
              <a:solidFill>
                <a:prstClr val="black"/>
              </a:solidFill>
              <a:latin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932027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77DED-0342-5DE0-A63C-98E98EEE5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C9C7E5-69ED-9B5E-4AE6-2B49C95E05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9C154E-DBCC-3BCA-4074-30348D9DBA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66833" tIns="33417" rIns="66833" bIns="33417"/>
          <a:lstStyle/>
          <a:p>
            <a:endParaRPr lang="en-US" dirty="0">
              <a:latin typeface="Pretendard" panose="02000503000000020004" pitchFamily="50" charset="-12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792954-51E8-F590-23A0-1C3F064CAD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66833" tIns="33417" rIns="66833" bIns="33417"/>
          <a:lstStyle/>
          <a:p>
            <a:pPr defTabSz="668335">
              <a:defRPr/>
            </a:pPr>
            <a:fld id="{F7021451-1387-4CA6-816F-3879F97B5CBC}" type="slidenum">
              <a:rPr lang="en-US" sz="1300">
                <a:solidFill>
                  <a:prstClr val="black"/>
                </a:solidFill>
                <a:latin typeface="Pretendard" panose="02000503000000020004" pitchFamily="50" charset="-127"/>
              </a:rPr>
              <a:pPr defTabSz="668335">
                <a:defRPr/>
              </a:pPr>
              <a:t>8</a:t>
            </a:fld>
            <a:endParaRPr lang="en-US" sz="1300">
              <a:solidFill>
                <a:prstClr val="black"/>
              </a:solidFill>
              <a:latin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669433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89289-0278-170C-D9B8-1B933AF08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FF5044-FD46-684A-5C09-5E4F03C1B3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0F8713-3B45-B9FD-EAB0-C3EA4ED964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66833" tIns="33417" rIns="66833" bIns="33417"/>
          <a:lstStyle/>
          <a:p>
            <a:endParaRPr lang="en-US" dirty="0">
              <a:latin typeface="Pretendard" panose="02000503000000020004" pitchFamily="50" charset="-12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0D04A1-310D-84C2-92EC-6F40D43EF0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66833" tIns="33417" rIns="66833" bIns="33417"/>
          <a:lstStyle/>
          <a:p>
            <a:pPr defTabSz="668335">
              <a:defRPr/>
            </a:pPr>
            <a:fld id="{F7021451-1387-4CA6-816F-3879F97B5CBC}" type="slidenum">
              <a:rPr lang="en-US" sz="1300">
                <a:solidFill>
                  <a:prstClr val="black"/>
                </a:solidFill>
                <a:latin typeface="Pretendard" panose="02000503000000020004" pitchFamily="50" charset="-127"/>
              </a:rPr>
              <a:pPr defTabSz="668335">
                <a:defRPr/>
              </a:pPr>
              <a:t>9</a:t>
            </a:fld>
            <a:endParaRPr lang="en-US" sz="1300">
              <a:solidFill>
                <a:prstClr val="black"/>
              </a:solidFill>
              <a:latin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764659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86507-D4CF-D125-2731-826554272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944274-722F-FD0C-07F8-ACE455D5B3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F97722-B700-617D-72B4-C7A582EA81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66833" tIns="33417" rIns="66833" bIns="33417"/>
          <a:lstStyle/>
          <a:p>
            <a:endParaRPr lang="en-US" dirty="0">
              <a:latin typeface="Pretendard" panose="02000503000000020004" pitchFamily="50" charset="-12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13A230-5674-966B-EDB6-C70D6B01A9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66833" tIns="33417" rIns="66833" bIns="33417"/>
          <a:lstStyle/>
          <a:p>
            <a:pPr defTabSz="668335">
              <a:defRPr/>
            </a:pPr>
            <a:fld id="{F7021451-1387-4CA6-816F-3879F97B5CBC}" type="slidenum">
              <a:rPr lang="en-US" sz="1300">
                <a:solidFill>
                  <a:prstClr val="black"/>
                </a:solidFill>
                <a:latin typeface="Pretendard" panose="02000503000000020004" pitchFamily="50" charset="-127"/>
              </a:rPr>
              <a:pPr defTabSz="668335">
                <a:defRPr/>
              </a:pPr>
              <a:t>10</a:t>
            </a:fld>
            <a:endParaRPr lang="en-US" sz="1300">
              <a:solidFill>
                <a:prstClr val="black"/>
              </a:solidFill>
              <a:latin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568131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FF876-F633-973E-97C4-53B273921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D18846-3194-CFC6-D9E5-8FCE00136C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2C3E01-5EC5-8A5B-6E1C-7B3AD73934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66833" tIns="33417" rIns="66833" bIns="33417"/>
          <a:lstStyle/>
          <a:p>
            <a:endParaRPr lang="en-US" dirty="0">
              <a:latin typeface="Pretendard" panose="02000503000000020004" pitchFamily="50" charset="-12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FB099-ED94-497D-9D1F-40C4F6D0DB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66833" tIns="33417" rIns="66833" bIns="33417"/>
          <a:lstStyle/>
          <a:p>
            <a:pPr defTabSz="668335">
              <a:defRPr/>
            </a:pPr>
            <a:fld id="{F7021451-1387-4CA6-816F-3879F97B5CBC}" type="slidenum">
              <a:rPr lang="en-US" sz="1300">
                <a:solidFill>
                  <a:prstClr val="black"/>
                </a:solidFill>
                <a:latin typeface="Pretendard" panose="02000503000000020004" pitchFamily="50" charset="-127"/>
              </a:rPr>
              <a:pPr defTabSz="668335">
                <a:defRPr/>
              </a:pPr>
              <a:t>11</a:t>
            </a:fld>
            <a:endParaRPr lang="en-US" sz="1300">
              <a:solidFill>
                <a:prstClr val="black"/>
              </a:solidFill>
              <a:latin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675566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725EC-9058-A0EF-3979-18C774A81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3F26AD-308E-5B6C-21FF-D7F523C8BF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CBBB41-97AA-8D4F-FB2F-659270F454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66833" tIns="33417" rIns="66833" bIns="33417"/>
          <a:lstStyle/>
          <a:p>
            <a:endParaRPr lang="en-US" dirty="0">
              <a:latin typeface="Pretendard" panose="02000503000000020004" pitchFamily="50" charset="-12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5D72B0-D25F-E11B-4872-6FEA2CCBD8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66833" tIns="33417" rIns="66833" bIns="33417"/>
          <a:lstStyle/>
          <a:p>
            <a:pPr defTabSz="668335">
              <a:defRPr/>
            </a:pPr>
            <a:fld id="{F7021451-1387-4CA6-816F-3879F97B5CBC}" type="slidenum">
              <a:rPr lang="en-US" sz="1300">
                <a:solidFill>
                  <a:prstClr val="black"/>
                </a:solidFill>
                <a:latin typeface="Pretendard" panose="02000503000000020004" pitchFamily="50" charset="-127"/>
              </a:rPr>
              <a:pPr defTabSz="668335">
                <a:defRPr/>
              </a:pPr>
              <a:t>12</a:t>
            </a:fld>
            <a:endParaRPr lang="en-US" sz="1300">
              <a:solidFill>
                <a:prstClr val="black"/>
              </a:solidFill>
              <a:latin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640342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MCP 서버 3대 능력: Resources/Tools(사람 승인 후 실행)/Prompts. Python(3.10+, mcp[cli]) 또는 Node SDK. Claude Code가 코드 scaffold/설명. 출처: https://modelcontextprotocol.io/docs/develop/build-server , https://code.claude.com/docs/en/mcp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실습 3종(커리큘럼 그대로). ①③ 직접 실습(산출물), ② beta·로그인 필요라 데모. 출처: https://github.com/microsoft/playwright-mcp , https://code.claude.com/docs/en/chrome , https://code.claude.com/docs/en/mcp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종합 정리. 회차 흐름 3→4→5. 2주 과제(웹 주기 정보를 Playwright MCP 조회 Skill로, 5회차 재료). 출처: https://code.claude.com/docs/en/mcp , https://code.claude.com/docs/en/skills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818120"/>
            <a:ext cx="13716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786384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B6B7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ⓒ ICTK · Unicorn — Claude Code 업무 자동화 부트캠프 4회차 · 무단전재 및 배포 금지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624560" y="78638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내용_단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1F567C2C-E8FD-074C-9A88-0B27279F61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9567" y="99294"/>
            <a:ext cx="13738860" cy="828899"/>
          </a:xfrm>
          <a:prstGeom prst="rect">
            <a:avLst/>
          </a:prstGeom>
        </p:spPr>
        <p:txBody>
          <a:bodyPr wrap="square" lIns="0" tIns="180000" rIns="0" bIns="180000">
            <a:spAutoFit/>
          </a:bodyPr>
          <a:lstStyle>
            <a:lvl1pPr>
              <a:defRPr sz="3200" b="1" i="0" baseline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r>
              <a:rPr kumimoji="1" lang="ko-KR" altLang="en-US" dirty="0" err="1"/>
              <a:t>파트별</a:t>
            </a:r>
            <a:r>
              <a:rPr kumimoji="1" lang="ko-KR" altLang="en-US" dirty="0"/>
              <a:t> 소제목</a:t>
            </a:r>
            <a:endParaRPr kumimoji="1" lang="ko-Kore-KR" altLang="en-US" dirty="0"/>
          </a:p>
        </p:txBody>
      </p:sp>
      <p:sp>
        <p:nvSpPr>
          <p:cNvPr id="2" name="슬라이드 번호 개체 틀 5">
            <a:extLst>
              <a:ext uri="{FF2B5EF4-FFF2-40B4-BE49-F238E27FC236}">
                <a16:creationId xmlns:a16="http://schemas.microsoft.com/office/drawing/2014/main" id="{3DDA118C-05D5-6480-770D-EAA836890B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2790" y="7787640"/>
            <a:ext cx="3291840" cy="228288"/>
          </a:xfrm>
          <a:prstGeom prst="rect">
            <a:avLst/>
          </a:prstGeom>
        </p:spPr>
        <p:txBody>
          <a:bodyPr vert="horz" lIns="0" tIns="36000" rIns="0" bIns="0" rtlCol="0" anchor="ctr">
            <a:spAutoFit/>
          </a:bodyPr>
          <a:lstStyle>
            <a:lvl1pPr algn="r">
              <a:defRPr sz="1200" b="0" i="0">
                <a:solidFill>
                  <a:schemeClr val="bg2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fld id="{5D069905-AE10-E849-B625-D412908E376F}" type="slidenum">
              <a:rPr kumimoji="1" lang="ko-Kore-KR" altLang="en-US" smtClean="0"/>
              <a:pPr/>
              <a:t>‹#›</a:t>
            </a:fld>
            <a:endParaRPr kumimoji="1" lang="ko-Kore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407103BA-706F-CD5E-5D8C-CDBB2EFB70F6}"/>
              </a:ext>
            </a:extLst>
          </p:cNvPr>
          <p:cNvSpPr/>
          <p:nvPr userDrawn="1"/>
        </p:nvSpPr>
        <p:spPr>
          <a:xfrm>
            <a:off x="508406" y="868680"/>
            <a:ext cx="13613587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04520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  <p15:guide id="2" orient="horz" pos="778">
          <p15:clr>
            <a:srgbClr val="FBAE40"/>
          </p15:clr>
        </p15:guide>
        <p15:guide id="3" pos="4608">
          <p15:clr>
            <a:srgbClr val="FBAE40"/>
          </p15:clr>
        </p15:guide>
        <p15:guide id="4" pos="299">
          <p15:clr>
            <a:srgbClr val="FBAE40"/>
          </p15:clr>
        </p15:guide>
        <p15:guide id="5" pos="889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624560" y="78638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aum.net/" TargetMode="Externa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glama.ai/mcp/servers" TargetMode="External"/><Relationship Id="rId3" Type="http://schemas.openxmlformats.org/officeDocument/2006/relationships/image" Target="../media/image3.png"/><Relationship Id="rId7" Type="http://schemas.openxmlformats.org/officeDocument/2006/relationships/hyperlink" Target="https://smithery.ai/servers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cna-bootcamp/aistudy/blob/main/agentic-ai/textbook/15.MCP.md#13-%EC%A3%BC%EC%9A%94-%EC%9D%B8%EA%B8%B0-mcp" TargetMode="Externa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hyperlink" Target="https://mcp.so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cna-bootcamp/aistudy/blob/main/agentic-ai/textbook/15.MCP.md#23-%ED%95%B5%EC%8B%AC-%EA%B8%B0%EB%8A%A5-primitives" TargetMode="External"/><Relationship Id="rId4" Type="http://schemas.openxmlformats.org/officeDocument/2006/relationships/hyperlink" Target="https://github.com/cna-bootcamp/aistudy/blob/main/agentic-ai/textbook/15.MCP.md#%EC%97%B0%EA%B2%B0-%EC%88%98%EB%AA%85%EC%A3%BC%EA%B8%B0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na-bootcamp/aistudy/blob/main/agentic-ai/textbook/15.MCP.md#tools-%EB%8F%84%EA%B5%AC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cna-bootcamp/aistudy/blob/main/agentic-ai/textbook/15.MCP.md#prompts-%ED%94%84%EB%A1%AC%ED%94%84%ED%8A%B8" TargetMode="External"/><Relationship Id="rId4" Type="http://schemas.openxmlformats.org/officeDocument/2006/relationships/hyperlink" Target="https://github.com/cna-bootcamp/aistudy/blob/main/agentic-ai/textbook/15.MCP.md#resources-%EB%A6%AC%EC%86%8C%EC%8A%A4" TargetMode="Externa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cna-bootcamp/aistudy/blob/main/agentic-ai/textbook/15.MCP.md#elicitation---%EC%82%AC%EC%9A%A9%EC%9E%90%EC%97%90%EA%B2%8C-%EC%9A%94%EC%B2%AD" TargetMode="External"/><Relationship Id="rId3" Type="http://schemas.openxmlformats.org/officeDocument/2006/relationships/image" Target="../media/image7.png"/><Relationship Id="rId7" Type="http://schemas.openxmlformats.org/officeDocument/2006/relationships/hyperlink" Target="https://github.com/cna-bootcamp/aistudy/blob/main/agentic-ai/textbook/15.MCP.md#roots-%EB%A3%A8%ED%8A%B8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cna-bootcamp/aistudy/blob/main/agentic-ai/textbook/15.MCP.md#sampling---llm%EC%97%90%EA%B2%8C-%EC%9A%94%EC%B2%AD" TargetMode="External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hyperlink" Target="https://github.com/cna-bootcamp/aistudy/blob/main/agentic-ai/textbook/15.MCP.md#confidential-client-%EB%B0%A9%EC%8B%9D-client-credentials-grant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cna-bootcamp/aistudy/blob/main/agentic-ai/textbook/15.MCP.md#public-client-%EB%B0%A9%EC%8B%9D-authorization-code-grant--pkce" TargetMode="Externa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unicorn-campus/ictk/blob/main/prompts/4%ED%9A%8C%EC%B0%A8/gpt-image-mcp.md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unicorn-campus/ictk/blob/main/prompts/4%ED%9A%8C%EC%B0%A8/claude-in-chrome-api%ED%82%A4%EB%B0%9C%EA%B8%89.md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unicorn-campus/corp-research/blob/main/.claude/skills/research/SKILL.md" TargetMode="External"/><Relationship Id="rId4" Type="http://schemas.openxmlformats.org/officeDocument/2006/relationships/hyperlink" Target="https://github.com/unicorn-campus/ictk/blob/main/prompts/4%ED%9A%8C%EC%B0%A8/playwright-%EB%85%BC%EB%AC%B8%EA%B2%80%EC%83%89%EC%9A%94%EC%95%BD.md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2788920"/>
          </a:xfrm>
          <a:prstGeom prst="rect">
            <a:avLst/>
          </a:prstGeom>
          <a:solidFill>
            <a:srgbClr val="2C29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56032" cy="278892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868680" y="502920"/>
            <a:ext cx="1234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FE7C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 Code 업무 자동화 부트캠프 · 4회차 / 11회차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68680" y="960120"/>
            <a:ext cx="13075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Skill 심화 + 웹브라우저 MCP + MCP 개발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68680" y="1993392"/>
            <a:ext cx="1307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8D8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지침만의 Skill에 "웹·외부·자작 도구"를 결합해 할 수 있는 일의 범위를 넓힘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3154680"/>
            <a:ext cx="4434840" cy="1600200"/>
          </a:xfrm>
          <a:prstGeom prst="roundRect">
            <a:avLst>
              <a:gd name="adj" fmla="val 4571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4434840" cy="457200"/>
          </a:xfrm>
          <a:prstGeom prst="roundRect">
            <a:avLst>
              <a:gd name="adj" fmla="val 16000"/>
            </a:avLst>
          </a:prstGeom>
          <a:solidFill>
            <a:srgbClr val="3776A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57200" y="315468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대상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3703320"/>
            <a:ext cx="40690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ICTK 임직원 (비개발자 포함 입문자)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93208" y="3154680"/>
            <a:ext cx="4434840" cy="1600200"/>
          </a:xfrm>
          <a:prstGeom prst="roundRect">
            <a:avLst>
              <a:gd name="adj" fmla="val 4571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5093208" y="3154680"/>
            <a:ext cx="4434840" cy="457200"/>
          </a:xfrm>
          <a:prstGeom prst="roundRect">
            <a:avLst>
              <a:gd name="adj" fmla="val 16000"/>
            </a:avLst>
          </a:prstGeom>
          <a:solidFill>
            <a:srgbClr val="1A5E7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093208" y="315468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도구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76088" y="3703320"/>
            <a:ext cx="40690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 Code 데스크톱 앱 — "Code" 탭 (GUI)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729216" y="3154680"/>
            <a:ext cx="4434840" cy="1600200"/>
          </a:xfrm>
          <a:prstGeom prst="roundRect">
            <a:avLst>
              <a:gd name="adj" fmla="val 4571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9729216" y="3154680"/>
            <a:ext cx="4434840" cy="457200"/>
          </a:xfrm>
          <a:prstGeom prst="roundRect">
            <a:avLst>
              <a:gd name="adj" fmla="val 16000"/>
            </a:avLst>
          </a:prstGeom>
          <a:solidFill>
            <a:srgbClr val="1A6E3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9729216" y="315468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흐름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912096" y="3703320"/>
            <a:ext cx="40690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3회차 복습 → 4회차 웹·MCP → 2주 과제 → 5회차 예고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5074920"/>
            <a:ext cx="13716000" cy="685800"/>
          </a:xfrm>
          <a:prstGeom prst="roundRect">
            <a:avLst>
              <a:gd name="adj" fmla="val 10667"/>
            </a:avLst>
          </a:prstGeom>
          <a:solidFill>
            <a:srgbClr val="CCFBF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40080" y="5074920"/>
            <a:ext cx="1335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핵심: MCP(외부 도구를 잇는 표준 콘센트)로 </a:t>
            </a:r>
            <a:r>
              <a:rPr lang="en-US" sz="1800" b="1" dirty="0" err="1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웹브라우저</a:t>
            </a:r>
            <a:r>
              <a:rPr lang="en-US" sz="18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8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조작</a:t>
            </a:r>
            <a:r>
              <a:rPr lang="en-US" sz="18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</a:t>
            </a:r>
            <a:r>
              <a:rPr lang="en-US" sz="1800" b="1" dirty="0" err="1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자작</a:t>
            </a:r>
            <a:r>
              <a:rPr lang="en-US" sz="18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도구를 Skill에 꽂아 확장합니다.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624560" y="78638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411480"/>
            <a:ext cx="1371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WHY — Skill에 "손과 눈"을 달면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69848"/>
            <a:ext cx="1371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골든서클: WHY → HOW → WHAT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6858000" cy="3383280"/>
          </a:xfrm>
          <a:prstGeom prst="roundRect">
            <a:avLst>
              <a:gd name="adj" fmla="val 2162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85800" y="1783080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85800" y="17830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011680" y="1764792"/>
            <a:ext cx="51206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3회차 Skill은 "</a:t>
            </a:r>
            <a:r>
              <a:rPr lang="en-US" sz="1600" dirty="0" err="1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지침</a:t>
            </a:r>
            <a:r>
              <a:rPr lang="en-US" sz="16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”</a:t>
            </a:r>
            <a:r>
              <a:rPr lang="ko-KR" altLang="en-US" sz="16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 </a:t>
            </a:r>
            <a:r>
              <a:rPr lang="en-US" altLang="ko-KR" sz="16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</a:t>
            </a:r>
            <a:r>
              <a:rPr lang="ko-KR" altLang="en-US" sz="16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도구를 연결한</a:t>
            </a:r>
            <a:r>
              <a:rPr lang="en-US" altLang="ko-KR" sz="16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6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커넥터</a:t>
            </a:r>
            <a:r>
              <a:rPr lang="en-US" altLang="ko-KR" sz="16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”</a:t>
            </a:r>
            <a:r>
              <a:rPr lang="ko-KR" altLang="en-US" sz="16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</a:t>
            </a:r>
            <a:r>
              <a:rPr lang="en-US" sz="16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6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제한된 수행만 가능</a:t>
            </a:r>
            <a:r>
              <a:rPr lang="en-US" sz="16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</a:t>
            </a:r>
            <a:br>
              <a:rPr lang="en-US" sz="16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</a:br>
            <a:r>
              <a:rPr lang="en-US" sz="16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 </a:t>
            </a:r>
            <a:r>
              <a:rPr lang="ko-KR" altLang="en-US" sz="16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브라우저 조작</a:t>
            </a:r>
            <a:r>
              <a:rPr lang="en-US" sz="16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</a:t>
            </a:r>
            <a:r>
              <a:rPr lang="ko-KR" altLang="en-US" sz="16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커넥터에 </a:t>
            </a:r>
            <a:r>
              <a:rPr lang="en-US" sz="1600" dirty="0" err="1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없는</a:t>
            </a:r>
            <a:r>
              <a:rPr lang="en-US" sz="16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기능은 못 씀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5800" y="2807208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D9770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85800" y="2807208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HOW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011680" y="2788920"/>
            <a:ext cx="51206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MCP(Claude에 외부 도구를 잇는 "표준 콘센트")로 </a:t>
            </a:r>
            <a:br>
              <a:rPr lang="en-US" sz="16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</a:br>
            <a:r>
              <a:rPr lang="en-US" sz="1600" dirty="0" err="1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웹브라우저</a:t>
            </a:r>
            <a:r>
              <a:rPr lang="ko-KR" altLang="en-US" sz="16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를 조작하고 필요한 기능을 직접 개발하여 </a:t>
            </a:r>
            <a:br>
              <a:rPr lang="en-US" altLang="ko-KR" sz="16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</a:br>
            <a:r>
              <a:rPr lang="ko-KR" altLang="en-US" sz="16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스킬에</a:t>
            </a:r>
            <a:r>
              <a:rPr lang="en-US" sz="16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꽂아 줌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5800" y="3831336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85800" y="3831336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WHAT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011680" y="3813048"/>
            <a:ext cx="51206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Skill이 웹을 조회·조작하고, </a:t>
            </a:r>
            <a:r>
              <a:rPr lang="en-US" sz="1600" dirty="0" err="1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나만의</a:t>
            </a:r>
            <a:r>
              <a:rPr lang="en-US" sz="16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기능(</a:t>
            </a:r>
            <a:r>
              <a:rPr lang="en-US" sz="1600" dirty="0" err="1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</a:t>
            </a:r>
            <a:r>
              <a:rPr lang="en-US" sz="16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600" dirty="0" err="1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생성</a:t>
            </a:r>
            <a:r>
              <a:rPr lang="en-US" sz="16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6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</a:t>
            </a:r>
            <a:r>
              <a:rPr lang="en-US" sz="16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)</a:t>
            </a:r>
            <a:r>
              <a:rPr lang="en-US" sz="1600" dirty="0" err="1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까지</a:t>
            </a:r>
            <a:r>
              <a:rPr lang="en-US" sz="16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호출</a:t>
            </a:r>
            <a:endParaRPr lang="en-US" sz="1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0273043"/>
              </p:ext>
            </p:extLst>
          </p:nvPr>
        </p:nvGraphicFramePr>
        <p:xfrm>
          <a:off x="7589520" y="1554480"/>
          <a:ext cx="6583680" cy="2980944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구분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3회차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4회차(오늘)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Skill이 쓰는 도구</a:t>
                      </a:r>
                      <a:endParaRPr lang="en-US" sz="1600" dirty="0">
                        <a:solidFill>
                          <a:schemeClr val="tx1"/>
                        </a:solidFill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지침(자연어)만</a:t>
                      </a:r>
                      <a:endParaRPr lang="en-US" sz="1600" dirty="0">
                        <a:solidFill>
                          <a:schemeClr val="tx1"/>
                        </a:solidFill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지침 + MCP로 연결한 외부 도구</a:t>
                      </a:r>
                      <a:endParaRPr lang="en-US" sz="1600" dirty="0">
                        <a:solidFill>
                          <a:schemeClr val="tx1"/>
                        </a:solidFill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600" dirty="0">
                          <a:solidFill>
                            <a:schemeClr val="tx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도구 범위</a:t>
                      </a:r>
                      <a:endParaRPr lang="en-US" sz="1600" dirty="0">
                        <a:solidFill>
                          <a:schemeClr val="tx1"/>
                        </a:solidFill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600" dirty="0">
                          <a:solidFill>
                            <a:schemeClr val="tx1"/>
                          </a:solidFill>
                          <a:latin typeface="Pretendard" charset="0"/>
                          <a:ea typeface="Pretendard" charset="0"/>
                          <a:cs typeface="Pretendard" charset="0"/>
                        </a:rPr>
                        <a:t>커넥터에서 제공하는 도구 한정</a:t>
                      </a:r>
                      <a:endParaRPr lang="en-US" sz="1600" dirty="0">
                        <a:solidFill>
                          <a:schemeClr val="tx1"/>
                        </a:solidFill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웹 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브라우저 조작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·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자작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도구까지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사용</a:t>
                      </a:r>
                      <a:endParaRPr lang="en-US" sz="1600" dirty="0">
                        <a:solidFill>
                          <a:schemeClr val="tx1"/>
                        </a:solidFill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산출물</a:t>
                      </a:r>
                      <a:endParaRPr lang="en-US" sz="1600" dirty="0">
                        <a:solidFill>
                          <a:schemeClr val="tx1"/>
                        </a:solidFill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지침만 SKILL.md</a:t>
                      </a:r>
                      <a:endParaRPr lang="en-US" sz="1600" dirty="0">
                        <a:solidFill>
                          <a:schemeClr val="tx1"/>
                        </a:solidFill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웹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조회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Skill + 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MCP </a:t>
                      </a:r>
                      <a:r>
                        <a:rPr lang="en-US" altLang="ko-KR" sz="1600" dirty="0" err="1">
                          <a:solidFill>
                            <a:schemeClr val="tx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연동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Skill</a:t>
                      </a:r>
                      <a:endParaRPr lang="en-US" sz="1600" dirty="0">
                        <a:solidFill>
                          <a:schemeClr val="tx1"/>
                        </a:solidFill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457200" y="5212080"/>
            <a:ext cx="13716000" cy="713232"/>
          </a:xfrm>
          <a:prstGeom prst="roundRect">
            <a:avLst>
              <a:gd name="adj" fmla="val 10256"/>
            </a:avLst>
          </a:prstGeom>
          <a:solidFill>
            <a:srgbClr val="CCFBF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640080" y="5212080"/>
            <a:ext cx="13350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🔒 </a:t>
            </a:r>
            <a:r>
              <a:rPr lang="en-US" sz="1600" b="1" dirty="0" err="1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범위가</a:t>
            </a:r>
            <a:r>
              <a:rPr lang="en-US" sz="16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넓어질수록 </a:t>
            </a:r>
            <a:r>
              <a:rPr lang="en-US" sz="1600" b="1" dirty="0" err="1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기본기가</a:t>
            </a:r>
            <a:r>
              <a:rPr lang="en-US" sz="16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600" b="1" dirty="0" err="1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중요</a:t>
            </a:r>
            <a:endParaRPr lang="en-US" sz="1600" b="1" dirty="0">
              <a:solidFill>
                <a:srgbClr val="2C2926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 err="1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Claude는</a:t>
            </a:r>
            <a:r>
              <a:rPr lang="en-US" sz="16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내가 고른 폴더 안에서만 작업하고, 웹 조작·편집·실행은 </a:t>
            </a:r>
            <a:r>
              <a:rPr lang="en-US" sz="1600" b="1" dirty="0" err="1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사람이</a:t>
            </a:r>
            <a:r>
              <a:rPr lang="en-US" sz="16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Accept/Reject 후에만 진행(데이터 격리·사람 최종 승인).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624560" y="78638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411480"/>
            <a:ext cx="1371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 자동화 2종 — Playwright MCP vs Claude in Chrome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69848"/>
            <a:ext cx="1371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"웹"이지만 브라우저가 다름</a:t>
            </a:r>
            <a:endParaRPr lang="en-US" sz="2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9395206"/>
              </p:ext>
            </p:extLst>
          </p:nvPr>
        </p:nvGraphicFramePr>
        <p:xfrm>
          <a:off x="457200" y="1600200"/>
          <a:ext cx="13716000" cy="2938371"/>
        </p:xfrm>
        <a:graphic>
          <a:graphicData uri="http://schemas.openxmlformats.org/drawingml/2006/table">
            <a:tbl>
              <a:tblPr/>
              <a:tblGrid>
                <a:gridCol w="19859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00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293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49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구분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Playwright MCP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Claude in Chrome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01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+mn-lt"/>
                          <a:ea typeface="Pretendard" pitchFamily="34" charset="-122"/>
                          <a:cs typeface="Pretendard" pitchFamily="34" charset="-120"/>
                        </a:rPr>
                        <a:t>어떤 브라우저?</a:t>
                      </a:r>
                      <a:endParaRPr lang="en-US" sz="1600" dirty="0">
                        <a:solidFill>
                          <a:schemeClr val="tx1"/>
                        </a:solidFill>
                        <a:latin typeface="+mn-lt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+mn-lt"/>
                          <a:ea typeface="Pretendard" pitchFamily="34" charset="-122"/>
                          <a:cs typeface="Pretendard" pitchFamily="34" charset="-120"/>
                        </a:rPr>
                        <a:t>별도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+mn-lt"/>
                          <a:ea typeface="Pretendard" pitchFamily="34" charset="-122"/>
                          <a:cs typeface="Pretendard" pitchFamily="34" charset="-120"/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+mn-lt"/>
                          <a:ea typeface="Pretendard" pitchFamily="34" charset="-122"/>
                          <a:cs typeface="Pretendard" pitchFamily="34" charset="-120"/>
                        </a:rPr>
                        <a:t>브라우저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+mn-lt"/>
                          <a:ea typeface="Pretendard" pitchFamily="34" charset="-122"/>
                          <a:cs typeface="Pretendard" pitchFamily="34" charset="-120"/>
                        </a:rPr>
                        <a:t> </a:t>
                      </a:r>
                      <a:r>
                        <a:rPr lang="ko-KR" altLang="en-US" sz="1600" b="1" dirty="0">
                          <a:solidFill>
                            <a:schemeClr val="tx1"/>
                          </a:solidFill>
                          <a:latin typeface="+mn-lt"/>
                          <a:ea typeface="Pretendard" pitchFamily="34" charset="-122"/>
                          <a:cs typeface="Pretendard" pitchFamily="34" charset="-120"/>
                        </a:rPr>
                        <a:t>창 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+mn-lt"/>
                          <a:ea typeface="Pretendard" pitchFamily="34" charset="-122"/>
                          <a:cs typeface="Pretendard" pitchFamily="34" charset="-120"/>
                        </a:rPr>
                        <a:t>(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  <a:latin typeface="+mn-lt"/>
                          <a:ea typeface="Pretendard" pitchFamily="34" charset="-122"/>
                          <a:cs typeface="Pretendard" pitchFamily="34" charset="-120"/>
                        </a:rPr>
                        <a:t>사용자가 설정한 기본 </a:t>
                      </a:r>
                      <a:r>
                        <a:rPr lang="ko-KR" altLang="en-US" sz="1600" dirty="0" err="1">
                          <a:solidFill>
                            <a:schemeClr val="tx1"/>
                          </a:solidFill>
                          <a:latin typeface="+mn-lt"/>
                          <a:ea typeface="Pretendard" pitchFamily="34" charset="-122"/>
                          <a:cs typeface="Pretendard" pitchFamily="34" charset="-120"/>
                        </a:rPr>
                        <a:t>웹브라우저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  <a:latin typeface="+mn-lt"/>
                          <a:ea typeface="Pretendard" pitchFamily="34" charset="-122"/>
                          <a:cs typeface="Pretendard" pitchFamily="34" charset="-120"/>
                        </a:rPr>
                        <a:t> 창 사용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  <a:latin typeface="+mn-lt"/>
                          <a:ea typeface="Pretendard" pitchFamily="34" charset="-122"/>
                          <a:cs typeface="Pretendard" pitchFamily="34" charset="-120"/>
                        </a:rPr>
                        <a:t>)</a:t>
                      </a:r>
                      <a:endParaRPr lang="en-US" sz="1600" dirty="0">
                        <a:solidFill>
                          <a:schemeClr val="tx1"/>
                        </a:solidFill>
                        <a:latin typeface="+mn-lt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600" b="1" dirty="0">
                          <a:solidFill>
                            <a:schemeClr val="tx1"/>
                          </a:solidFill>
                          <a:latin typeface="+mn-lt"/>
                          <a:ea typeface="Pretendard" pitchFamily="34" charset="-122"/>
                          <a:cs typeface="Pretendard" pitchFamily="34" charset="-120"/>
                        </a:rPr>
                        <a:t>현재 사용하고 있는 브라우저창의 새 탭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  <a:latin typeface="+mn-lt"/>
                          <a:ea typeface="Pretendard" pitchFamily="34" charset="-122"/>
                          <a:cs typeface="Pretendard" pitchFamily="34" charset="-120"/>
                        </a:rPr>
                        <a:t>으로 수행</a:t>
                      </a:r>
                      <a:endParaRPr lang="en-US" sz="1600" dirty="0">
                        <a:solidFill>
                          <a:schemeClr val="tx1"/>
                        </a:solidFill>
                        <a:latin typeface="+mn-lt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01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+mn-lt"/>
                          <a:ea typeface="Pretendard" pitchFamily="34" charset="-122"/>
                          <a:cs typeface="Pretendard" pitchFamily="34" charset="-120"/>
                        </a:rPr>
                        <a:t>내 로그인 상태</a:t>
                      </a:r>
                      <a:endParaRPr lang="en-US" sz="1600" dirty="0">
                        <a:solidFill>
                          <a:schemeClr val="tx1"/>
                        </a:solidFill>
                        <a:latin typeface="+mn-lt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+mn-lt"/>
                          <a:ea typeface="Pretendard" pitchFamily="34" charset="-122"/>
                          <a:cs typeface="Pretendard" pitchFamily="34" charset="-120"/>
                        </a:rPr>
                        <a:t>분리(깨끗) — 내 세션과 별개</a:t>
                      </a:r>
                      <a:endParaRPr lang="en-US" sz="1600" dirty="0">
                        <a:solidFill>
                          <a:schemeClr val="tx1"/>
                        </a:solidFill>
                        <a:latin typeface="+mn-lt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+mn-lt"/>
                          <a:ea typeface="Pretendard" pitchFamily="34" charset="-122"/>
                          <a:cs typeface="Pretendard" pitchFamily="34" charset="-120"/>
                        </a:rPr>
                        <a:t>공유 —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+mn-lt"/>
                          <a:ea typeface="Pretendard" pitchFamily="34" charset="-122"/>
                          <a:cs typeface="Pretendard" pitchFamily="34" charset="-120"/>
                        </a:rPr>
                        <a:t>이미 로그인한 사이트 접근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+mn-lt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01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+mn-lt"/>
                          <a:ea typeface="Pretendard" pitchFamily="34" charset="-122"/>
                          <a:cs typeface="Pretendard" pitchFamily="34" charset="-120"/>
                        </a:rPr>
                        <a:t>잘 맞는 일</a:t>
                      </a:r>
                      <a:endParaRPr lang="en-US" sz="1600" dirty="0">
                        <a:solidFill>
                          <a:schemeClr val="tx1"/>
                        </a:solidFill>
                        <a:latin typeface="+mn-lt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+mn-lt"/>
                          <a:ea typeface="Pretendard" pitchFamily="34" charset="-122"/>
                          <a:cs typeface="Pretendard" pitchFamily="34" charset="-120"/>
                        </a:rPr>
                        <a:t>공개 웹 정보 조회·정리</a:t>
                      </a:r>
                      <a:endParaRPr lang="en-US" sz="1600" dirty="0">
                        <a:solidFill>
                          <a:schemeClr val="tx1"/>
                        </a:solidFill>
                        <a:latin typeface="+mn-lt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+mn-lt"/>
                          <a:ea typeface="Pretendard" pitchFamily="34" charset="-122"/>
                          <a:cs typeface="Pretendard" pitchFamily="34" charset="-120"/>
                        </a:rPr>
                        <a:t>로그인이 필요한 내 계정 작업</a:t>
                      </a:r>
                      <a:endParaRPr lang="en-US" sz="1600" dirty="0">
                        <a:solidFill>
                          <a:schemeClr val="tx1"/>
                        </a:solidFill>
                        <a:latin typeface="+mn-lt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011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600" dirty="0">
                          <a:solidFill>
                            <a:schemeClr val="tx1"/>
                          </a:solidFill>
                          <a:latin typeface="+mn-lt"/>
                          <a:ea typeface="Pretendard" pitchFamily="34" charset="-122"/>
                          <a:cs typeface="Pretendard" pitchFamily="34" charset="-120"/>
                        </a:rPr>
                        <a:t>설치</a:t>
                      </a:r>
                      <a:endParaRPr lang="en-US" sz="1600" dirty="0">
                        <a:solidFill>
                          <a:schemeClr val="tx1"/>
                        </a:solidFill>
                        <a:latin typeface="+mn-lt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+mn-lt"/>
                          <a:ea typeface="Pretendard" pitchFamily="34" charset="-122"/>
                          <a:cs typeface="Pretendard" pitchFamily="34" charset="-120"/>
                        </a:rPr>
                        <a:t>Playwright MCP 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  <a:latin typeface="+mn-lt"/>
                          <a:ea typeface="Pretendard" pitchFamily="34" charset="-122"/>
                          <a:cs typeface="Pretendard" pitchFamily="34" charset="-120"/>
                        </a:rPr>
                        <a:t>설치 필요</a:t>
                      </a:r>
                      <a:endParaRPr lang="en-US" sz="1600" dirty="0">
                        <a:solidFill>
                          <a:schemeClr val="tx1"/>
                        </a:solidFill>
                        <a:latin typeface="+mn-lt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600" dirty="0">
                          <a:solidFill>
                            <a:schemeClr val="tx1"/>
                          </a:solidFill>
                          <a:latin typeface="+mn-lt"/>
                          <a:ea typeface="Pretendard" pitchFamily="34" charset="-122"/>
                          <a:cs typeface="Pretendard" pitchFamily="34" charset="-120"/>
                        </a:rPr>
                        <a:t>설정에서 활성화 필요</a:t>
                      </a:r>
                      <a:endParaRPr lang="en-US" sz="1600" dirty="0">
                        <a:solidFill>
                          <a:schemeClr val="tx1"/>
                        </a:solidFill>
                        <a:latin typeface="+mn-lt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920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600" dirty="0">
                          <a:solidFill>
                            <a:schemeClr val="tx1"/>
                          </a:solidFill>
                          <a:latin typeface="+mn-lt"/>
                          <a:ea typeface="Pretendard" charset="0"/>
                          <a:cs typeface="Pretendard" charset="0"/>
                        </a:rPr>
                        <a:t>보안 설정</a:t>
                      </a:r>
                      <a:endParaRPr lang="en-US" sz="1600" dirty="0">
                        <a:solidFill>
                          <a:schemeClr val="tx1"/>
                        </a:solidFill>
                        <a:latin typeface="+mn-lt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+mn-lt"/>
                          <a:ea typeface="Pretendard" charset="0"/>
                          <a:cs typeface="Pretendard" charset="0"/>
                        </a:rPr>
                        <a:t>MCP 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  <a:latin typeface="+mn-lt"/>
                          <a:ea typeface="Pretendard" charset="0"/>
                          <a:cs typeface="Pretendard" charset="0"/>
                        </a:rPr>
                        <a:t>자체에 특별한 보안 설정 없음</a:t>
                      </a:r>
                      <a:endParaRPr lang="en-US" sz="1600" dirty="0">
                        <a:solidFill>
                          <a:schemeClr val="tx1"/>
                        </a:solidFill>
                        <a:latin typeface="+mn-lt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6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Claude Code </a:t>
                      </a:r>
                      <a:r>
                        <a:rPr lang="ko-KR" altLang="en-US" sz="16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설정 </a:t>
                      </a:r>
                      <a:r>
                        <a:rPr lang="en-US" altLang="ko-KR" sz="16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&gt; Chrome</a:t>
                      </a:r>
                      <a:r>
                        <a:rPr lang="ko-KR" altLang="en-US" sz="16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용 </a:t>
                      </a:r>
                      <a:r>
                        <a:rPr lang="en-US" altLang="ko-KR" sz="16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Claude </a:t>
                      </a:r>
                      <a:r>
                        <a:rPr lang="ko-KR" altLang="en-US" sz="16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메뉴에서 차단 도메인 지정 </a:t>
                      </a:r>
                      <a:endParaRPr lang="en-US" altLang="ko-KR" sz="1600" b="0" i="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6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특정 유형의 도메인(</a:t>
                      </a:r>
                      <a:r>
                        <a:rPr lang="ko-KR" altLang="ko-KR" sz="1600" b="0" i="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로그인·개발자</a:t>
                      </a:r>
                      <a:r>
                        <a:rPr lang="ko-KR" altLang="ko-KR" sz="16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ko-KR" altLang="ko-KR" sz="1600" b="0" i="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콘솔·인증</a:t>
                      </a:r>
                      <a:r>
                        <a:rPr lang="ko-KR" altLang="ko-KR" sz="16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관련 페이지 등)을 자동 접근에서 차단</a:t>
                      </a:r>
                      <a:r>
                        <a:rPr lang="en-US" altLang="ko-KR" sz="16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. </a:t>
                      </a:r>
                      <a:r>
                        <a:rPr lang="ko-KR" altLang="en-US" sz="16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차단되는 경우 </a:t>
                      </a:r>
                      <a:r>
                        <a:rPr lang="en-US" altLang="ko-KR" sz="1600" b="0" i="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PlayWright</a:t>
                      </a:r>
                      <a:r>
                        <a:rPr lang="en-US" altLang="ko-KR" sz="16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MCP </a:t>
                      </a:r>
                      <a:r>
                        <a:rPr lang="ko-KR" altLang="en-US" sz="16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사용</a:t>
                      </a:r>
                      <a:endParaRPr lang="en-US" sz="1600" dirty="0">
                        <a:solidFill>
                          <a:schemeClr val="tx1"/>
                        </a:solidFill>
                        <a:latin typeface="+mn-lt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711038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4893474"/>
            <a:ext cx="13716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Playwright MCP(웹브라우저 자동 조작): 화면 그림이 아니라 페이지 구조(접근성 트리)를 읽어 클릭·입력·이동 → 빠르고 안정적</a:t>
            </a:r>
            <a:endParaRPr lang="en-US" sz="1600" dirty="0"/>
          </a:p>
          <a:p>
            <a:pPr marL="177800" indent="-1778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 in Chrome(내 브라우저에 붙는 Claude): 로그인·CAPTCHA가 나오면 멈추고 사람에게 처리해 달라고 물음</a:t>
            </a:r>
            <a:endParaRPr lang="en-US" sz="1600" dirty="0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B1FC5ABB-7E07-B6AF-5E73-8252FC14460D}"/>
              </a:ext>
            </a:extLst>
          </p:cNvPr>
          <p:cNvGrpSpPr/>
          <p:nvPr/>
        </p:nvGrpSpPr>
        <p:grpSpPr>
          <a:xfrm>
            <a:off x="457200" y="5893593"/>
            <a:ext cx="13716000" cy="1521619"/>
            <a:chOff x="457200" y="5669280"/>
            <a:chExt cx="13716000" cy="640080"/>
          </a:xfrm>
        </p:grpSpPr>
        <p:sp>
          <p:nvSpPr>
            <p:cNvPr id="7" name="Shape 4"/>
            <p:cNvSpPr/>
            <p:nvPr/>
          </p:nvSpPr>
          <p:spPr>
            <a:xfrm>
              <a:off x="457200" y="5669280"/>
              <a:ext cx="13716000" cy="640080"/>
            </a:xfrm>
            <a:prstGeom prst="roundRect">
              <a:avLst>
                <a:gd name="adj" fmla="val 11429"/>
              </a:avLst>
            </a:prstGeom>
            <a:solidFill>
              <a:srgbClr val="CCFBF1"/>
            </a:solidFill>
            <a:ln/>
          </p:spPr>
          <p:txBody>
            <a:bodyPr/>
            <a:lstStyle/>
            <a:p>
              <a:endParaRPr lang="ko-KR" altLang="en-US" sz="1600"/>
            </a:p>
          </p:txBody>
        </p:sp>
        <p:sp>
          <p:nvSpPr>
            <p:cNvPr id="8" name="Text 5"/>
            <p:cNvSpPr/>
            <p:nvPr/>
          </p:nvSpPr>
          <p:spPr>
            <a:xfrm>
              <a:off x="640080" y="5669280"/>
              <a:ext cx="13350240" cy="640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lnSpc>
                  <a:spcPct val="105000"/>
                </a:lnSpc>
                <a:buNone/>
              </a:pPr>
              <a:r>
                <a:rPr lang="en-US" sz="1400" dirty="0"/>
                <a:t>CAPTHA(</a:t>
              </a:r>
              <a:r>
                <a:rPr lang="ko-KR" altLang="en-US" sz="1400" dirty="0" err="1"/>
                <a:t>캡차</a:t>
              </a:r>
              <a:r>
                <a:rPr lang="en-US" altLang="ko-KR" sz="1400" dirty="0"/>
                <a:t>: Completely Automated Public Turing test to tell Computers and Humans Apart)</a:t>
              </a:r>
            </a:p>
            <a:p>
              <a:pPr marL="0" indent="0" algn="l">
                <a:lnSpc>
                  <a:spcPct val="105000"/>
                </a:lnSpc>
                <a:buNone/>
              </a:pPr>
              <a:r>
                <a:rPr lang="ko-KR" altLang="en-US" sz="1400" dirty="0"/>
                <a:t>컴퓨터와 인간을 구분하기 위한 자동화된 테스트</a:t>
              </a:r>
              <a:endParaRPr lang="en-US" altLang="ko-KR" sz="1400" dirty="0"/>
            </a:p>
            <a:p>
              <a:pPr marL="0" indent="0" algn="l">
                <a:lnSpc>
                  <a:spcPct val="105000"/>
                </a:lnSpc>
                <a:buNone/>
              </a:pPr>
              <a:r>
                <a:rPr lang="ko-KR" altLang="en-US" sz="1200" dirty="0"/>
                <a:t>예시</a:t>
              </a:r>
              <a:r>
                <a:rPr lang="en-US" altLang="ko-KR" sz="1200" dirty="0"/>
                <a:t>)</a:t>
              </a:r>
              <a:r>
                <a:rPr lang="ko-KR" altLang="en-US" sz="1400" dirty="0"/>
                <a:t> </a:t>
              </a:r>
              <a:endParaRPr lang="en-US" altLang="ko-KR" sz="1400" dirty="0"/>
            </a:p>
            <a:p>
              <a:pPr marL="285750" indent="-285750" algn="l">
                <a:lnSpc>
                  <a:spcPct val="105000"/>
                </a:lnSpc>
                <a:buFontTx/>
                <a:buChar char="-"/>
              </a:pPr>
              <a:r>
                <a:rPr lang="en-US" sz="1400" dirty="0"/>
                <a:t>“</a:t>
              </a:r>
              <a:r>
                <a:rPr lang="ko-KR" altLang="en-US" sz="1400" dirty="0"/>
                <a:t>나는 로봇이 아닙니다</a:t>
              </a:r>
              <a:r>
                <a:rPr lang="en-US" altLang="ko-KR" sz="1400" dirty="0"/>
                <a:t>” </a:t>
              </a:r>
              <a:r>
                <a:rPr lang="ko-KR" altLang="en-US" sz="1400" dirty="0"/>
                <a:t>체크박스</a:t>
              </a:r>
              <a:endParaRPr lang="en-US" altLang="ko-KR" sz="1400" dirty="0"/>
            </a:p>
            <a:p>
              <a:pPr marL="285750" indent="-285750" algn="l">
                <a:lnSpc>
                  <a:spcPct val="105000"/>
                </a:lnSpc>
                <a:buFontTx/>
                <a:buChar char="-"/>
              </a:pPr>
              <a:r>
                <a:rPr lang="ko-KR" altLang="en-US" sz="1400" dirty="0"/>
                <a:t>화면에 찌그러져 보이는 글자</a:t>
              </a:r>
              <a:r>
                <a:rPr lang="en-US" altLang="ko-KR" sz="1400" dirty="0"/>
                <a:t>/</a:t>
              </a:r>
              <a:r>
                <a:rPr lang="ko-KR" altLang="en-US" sz="1400" dirty="0"/>
                <a:t>숫자 입력하기</a:t>
              </a:r>
              <a:endParaRPr lang="en-US" altLang="ko-KR" sz="1400" dirty="0"/>
            </a:p>
            <a:p>
              <a:pPr marL="285750" indent="-285750" algn="l">
                <a:lnSpc>
                  <a:spcPct val="105000"/>
                </a:lnSpc>
                <a:buFontTx/>
                <a:buChar char="-"/>
              </a:pPr>
              <a:r>
                <a:rPr lang="ko-KR" altLang="en-US" sz="1400" dirty="0"/>
                <a:t>신호등</a:t>
              </a:r>
              <a:r>
                <a:rPr lang="en-US" altLang="ko-KR" sz="1400" dirty="0"/>
                <a:t>, </a:t>
              </a:r>
              <a:r>
                <a:rPr lang="ko-KR" altLang="en-US" sz="1400" dirty="0"/>
                <a:t>횡단보도</a:t>
              </a:r>
              <a:r>
                <a:rPr lang="en-US" altLang="ko-KR" sz="1400" dirty="0"/>
                <a:t>, </a:t>
              </a:r>
              <a:r>
                <a:rPr lang="ko-KR" altLang="en-US" sz="1400" dirty="0"/>
                <a:t>버스 등 특정 조건의 이미지 선택하기</a:t>
              </a:r>
              <a:endParaRPr lang="en-US" sz="1400" dirty="0"/>
            </a:p>
          </p:txBody>
        </p:sp>
      </p:grp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624560" y="78638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411480"/>
            <a:ext cx="1371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Playwright MCP — </a:t>
            </a:r>
            <a:r>
              <a:rPr lang="ko-KR" alt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독립 브라우저창에서 브라우저 조작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69848"/>
            <a:ext cx="1371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별도 자동화 브라우저로 공개 웹 수집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13716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Claude가 별도 자동화 브라우저를 띄워 페이지를 읽고 클릭·입력·이동하는 MCP — 공개 웹 정보 수집에 적합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동작 흐름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6583680" cy="658368"/>
          </a:xfrm>
          <a:prstGeom prst="roundRect">
            <a:avLst>
              <a:gd name="adj" fmla="val 8333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6583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연결: "playwright </a:t>
            </a:r>
            <a:r>
              <a:rPr lang="en-US" sz="1600" b="1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MCP를</a:t>
            </a: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600" b="1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유저스콥으로</a:t>
            </a:r>
            <a:r>
              <a:rPr lang="ko-KR" alt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‘pw’</a:t>
            </a:r>
            <a:r>
              <a:rPr lang="ko-KR" alt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이름으로 </a:t>
            </a:r>
            <a:r>
              <a:rPr lang="en-US" sz="1600" b="1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추가해줘</a:t>
            </a: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236976"/>
            <a:ext cx="6583680" cy="658368"/>
          </a:xfrm>
          <a:prstGeom prst="roundRect">
            <a:avLst>
              <a:gd name="adj" fmla="val 8333"/>
            </a:avLst>
          </a:prstGeom>
          <a:solidFill>
            <a:srgbClr val="0284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57200" y="3236976"/>
            <a:ext cx="6583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지시: "example.com 을 열고 제목 알려줘"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4005072"/>
            <a:ext cx="6583680" cy="658368"/>
          </a:xfrm>
          <a:prstGeom prst="roundRect">
            <a:avLst>
              <a:gd name="adj" fmla="val 8333"/>
            </a:avLst>
          </a:prstGeom>
          <a:solidFill>
            <a:srgbClr val="D9770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57200" y="4005072"/>
            <a:ext cx="6583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실행: 접근성 트리(페이지 구조)를 읽어 이동·클릭·입력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4773168"/>
            <a:ext cx="6583680" cy="658368"/>
          </a:xfrm>
          <a:prstGeom prst="roundRect">
            <a:avLst>
              <a:gd name="adj" fmla="val 8333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57200" y="4773168"/>
            <a:ext cx="6583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 정리: 가져온 정보를 표·요약으로 반환</a:t>
            </a:r>
            <a:endParaRPr lang="en-US" sz="1600" dirty="0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373DFC16-1478-E60B-46B9-9E71A70E95EA}"/>
              </a:ext>
            </a:extLst>
          </p:cNvPr>
          <p:cNvGrpSpPr/>
          <p:nvPr/>
        </p:nvGrpSpPr>
        <p:grpSpPr>
          <a:xfrm>
            <a:off x="7315200" y="2468880"/>
            <a:ext cx="6858000" cy="2962656"/>
            <a:chOff x="7315200" y="2468880"/>
            <a:chExt cx="6858000" cy="1828800"/>
          </a:xfrm>
        </p:grpSpPr>
        <p:sp>
          <p:nvSpPr>
            <p:cNvPr id="15" name="Shape 13"/>
            <p:cNvSpPr/>
            <p:nvPr/>
          </p:nvSpPr>
          <p:spPr>
            <a:xfrm>
              <a:off x="7315200" y="2468880"/>
              <a:ext cx="6858000" cy="1828800"/>
            </a:xfrm>
            <a:prstGeom prst="roundRect">
              <a:avLst>
                <a:gd name="adj" fmla="val 3000"/>
              </a:avLst>
            </a:prstGeom>
            <a:solidFill>
              <a:srgbClr val="F5F5F7"/>
            </a:solidFill>
            <a:ln w="12700">
              <a:solidFill>
                <a:srgbClr val="DDDDE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" name="Text 14"/>
            <p:cNvSpPr/>
            <p:nvPr/>
          </p:nvSpPr>
          <p:spPr>
            <a:xfrm>
              <a:off x="7479792" y="2578608"/>
              <a:ext cx="6528816" cy="1609344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l">
                <a:lnSpc>
                  <a:spcPct val="112000"/>
                </a:lnSpc>
                <a:buNone/>
              </a:pPr>
              <a:r>
                <a:rPr lang="en-US" sz="1600" dirty="0">
                  <a:solidFill>
                    <a:srgbClr val="2C2926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`~/.</a:t>
              </a:r>
              <a:r>
                <a:rPr lang="en-US" sz="1600" dirty="0" err="1">
                  <a:solidFill>
                    <a:srgbClr val="2C2926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claude.json</a:t>
              </a:r>
              <a:r>
                <a:rPr lang="en-US" sz="1600" dirty="0">
                  <a:solidFill>
                    <a:srgbClr val="2C2926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` </a:t>
              </a:r>
              <a:r>
                <a:rPr lang="ko-KR" altLang="en-US" sz="1600" dirty="0">
                  <a:solidFill>
                    <a:srgbClr val="2C2926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파일에 프로젝트 스콥</a:t>
              </a:r>
              <a:r>
                <a:rPr lang="en-US" altLang="ko-KR" sz="1600" dirty="0">
                  <a:solidFill>
                    <a:srgbClr val="2C2926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/</a:t>
              </a:r>
              <a:r>
                <a:rPr lang="ko-KR" altLang="en-US" sz="1600" dirty="0">
                  <a:solidFill>
                    <a:srgbClr val="2C2926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유저 스콥별로 등록됨</a:t>
              </a:r>
              <a:endParaRPr lang="en-US" sz="1600" dirty="0">
                <a:solidFill>
                  <a:srgbClr val="2C29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pPr marL="0" indent="0" algn="l">
                <a:lnSpc>
                  <a:spcPct val="112000"/>
                </a:lnSpc>
                <a:buNone/>
              </a:pPr>
              <a:r>
                <a:rPr lang="en-US" sz="1600" dirty="0">
                  <a:solidFill>
                    <a:srgbClr val="2C2926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{</a:t>
              </a:r>
              <a:endParaRPr lang="en-US" sz="1600" dirty="0"/>
            </a:p>
            <a:p>
              <a:pPr marL="0" indent="0" algn="l">
                <a:lnSpc>
                  <a:spcPct val="112000"/>
                </a:lnSpc>
                <a:buNone/>
              </a:pPr>
              <a:r>
                <a:rPr lang="en-US" sz="1600" dirty="0">
                  <a:solidFill>
                    <a:srgbClr val="2C2926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"mcpServers": {</a:t>
              </a:r>
              <a:endParaRPr lang="en-US" sz="1600" dirty="0"/>
            </a:p>
            <a:p>
              <a:pPr marL="0" indent="0" algn="l">
                <a:lnSpc>
                  <a:spcPct val="112000"/>
                </a:lnSpc>
                <a:buNone/>
              </a:pPr>
              <a:r>
                <a:rPr lang="en-US" sz="1600" dirty="0">
                  <a:solidFill>
                    <a:srgbClr val="2C2926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"playwright": {</a:t>
              </a:r>
              <a:endParaRPr lang="en-US" sz="1600" dirty="0"/>
            </a:p>
            <a:p>
              <a:pPr marL="0" indent="0" algn="l">
                <a:lnSpc>
                  <a:spcPct val="112000"/>
                </a:lnSpc>
                <a:buNone/>
              </a:pPr>
              <a:r>
                <a:rPr lang="en-US" sz="1600" dirty="0">
                  <a:solidFill>
                    <a:srgbClr val="2C2926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  "command": "npx",</a:t>
              </a:r>
              <a:endParaRPr lang="en-US" sz="1600" dirty="0"/>
            </a:p>
            <a:p>
              <a:pPr marL="0" indent="0" algn="l">
                <a:lnSpc>
                  <a:spcPct val="112000"/>
                </a:lnSpc>
                <a:buNone/>
              </a:pPr>
              <a:r>
                <a:rPr lang="en-US" sz="1600" dirty="0">
                  <a:solidFill>
                    <a:srgbClr val="2C2926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  "args": ["-y", "@playwright/mcp@latest"]</a:t>
              </a:r>
              <a:endParaRPr lang="en-US" sz="1600" dirty="0"/>
            </a:p>
            <a:p>
              <a:pPr marL="0" indent="0" algn="l">
                <a:lnSpc>
                  <a:spcPct val="112000"/>
                </a:lnSpc>
                <a:buNone/>
              </a:pPr>
              <a:r>
                <a:rPr lang="en-US" sz="1600" dirty="0">
                  <a:solidFill>
                    <a:srgbClr val="2C2926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}</a:t>
              </a:r>
              <a:endParaRPr lang="en-US" sz="1600" dirty="0"/>
            </a:p>
            <a:p>
              <a:pPr marL="0" indent="0" algn="l">
                <a:lnSpc>
                  <a:spcPct val="112000"/>
                </a:lnSpc>
                <a:buNone/>
              </a:pPr>
              <a:r>
                <a:rPr lang="en-US" sz="1600" dirty="0">
                  <a:solidFill>
                    <a:srgbClr val="2C2926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}</a:t>
              </a:r>
              <a:endParaRPr lang="en-US" sz="1600" dirty="0"/>
            </a:p>
            <a:p>
              <a:pPr marL="0" indent="0" algn="l">
                <a:lnSpc>
                  <a:spcPct val="112000"/>
                </a:lnSpc>
                <a:buNone/>
              </a:pPr>
              <a:r>
                <a:rPr lang="en-US" sz="1600" dirty="0">
                  <a:solidFill>
                    <a:srgbClr val="2C2926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}</a:t>
              </a:r>
              <a:endParaRPr lang="en-US" sz="1600" dirty="0"/>
            </a:p>
          </p:txBody>
        </p:sp>
      </p:grpSp>
      <p:sp>
        <p:nvSpPr>
          <p:cNvPr id="18" name="Shape 15"/>
          <p:cNvSpPr/>
          <p:nvPr/>
        </p:nvSpPr>
        <p:spPr>
          <a:xfrm>
            <a:off x="457200" y="5897880"/>
            <a:ext cx="13716000" cy="685800"/>
          </a:xfrm>
          <a:prstGeom prst="roundRect">
            <a:avLst>
              <a:gd name="adj" fmla="val 10667"/>
            </a:avLst>
          </a:prstGeom>
          <a:solidFill>
            <a:srgbClr val="CCFBF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640080" y="5897880"/>
            <a:ext cx="1335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핵심: </a:t>
            </a:r>
            <a:r>
              <a:rPr lang="ko-KR" altLang="en-US" sz="16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인증</a:t>
            </a:r>
            <a:r>
              <a:rPr lang="en-US" sz="16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없이 공개 웹 </a:t>
            </a:r>
            <a:r>
              <a:rPr lang="en-US" sz="1600" b="1" dirty="0" err="1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조회</a:t>
            </a:r>
            <a:r>
              <a:rPr lang="en-US" sz="16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6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할 때 사용하면 속도와 토큰 비용을 절약할 수 있음</a:t>
            </a:r>
            <a:r>
              <a:rPr lang="en-US" sz="16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624560" y="78638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411480"/>
            <a:ext cx="1371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 in Chrome — 내 </a:t>
            </a:r>
            <a:r>
              <a:rPr lang="en-US" sz="3200" b="1" dirty="0" err="1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브라우저에서</a:t>
            </a: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브라우저 조작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69848"/>
            <a:ext cx="1371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로그인 </a:t>
            </a:r>
            <a:r>
              <a:rPr lang="en-US" sz="2000" b="1" dirty="0" err="1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상태</a:t>
            </a:r>
            <a:r>
              <a:rPr lang="en-US" sz="20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2000" b="1" dirty="0" err="1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그대로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13716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내가 쓰는 실제 Chrome/Edge에 Claude가 붙어, 내가 로그인한 상태 그대로 웹을 </a:t>
            </a:r>
            <a:r>
              <a:rPr lang="en-US" sz="1700" b="1" dirty="0" err="1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다루는</a:t>
            </a:r>
            <a:r>
              <a:rPr lang="en-US" sz="17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700" b="1" dirty="0" err="1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기능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동작 흐름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4754880" cy="640080"/>
          </a:xfrm>
          <a:prstGeom prst="roundRect">
            <a:avLst>
              <a:gd name="adj" fmla="val 8571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⚙️ Settings </a:t>
            </a:r>
            <a:r>
              <a:rPr lang="ko-KR" alt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에서 활성화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218688"/>
            <a:ext cx="4754880" cy="640080"/>
          </a:xfrm>
          <a:prstGeom prst="roundRect">
            <a:avLst>
              <a:gd name="adj" fmla="val 8571"/>
            </a:avLst>
          </a:prstGeom>
          <a:solidFill>
            <a:srgbClr val="0284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57200" y="3218688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새 탭을 열어 작업(보이는 창, 실시간)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3968496"/>
            <a:ext cx="4754880" cy="640080"/>
          </a:xfrm>
          <a:prstGeom prst="roundRect">
            <a:avLst>
              <a:gd name="adj" fmla="val 8571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57200" y="3968496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로그인·CAPTCHA 시 멈추고 사람에게 요청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4718304"/>
            <a:ext cx="4754880" cy="640080"/>
          </a:xfrm>
          <a:prstGeom prst="roundRect">
            <a:avLst>
              <a:gd name="adj" fmla="val 8571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57200" y="4718304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 결과 요약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5464973"/>
            <a:ext cx="4754880" cy="1128708"/>
          </a:xfrm>
          <a:prstGeom prst="roundRect">
            <a:avLst>
              <a:gd name="adj" fmla="val 2286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68528" y="5618218"/>
            <a:ext cx="4332224" cy="1298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 err="1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예시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68528" y="5831144"/>
            <a:ext cx="4332224" cy="2981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>
              <a:lnSpc>
                <a:spcPct val="105000"/>
              </a:lnSpc>
              <a:spcAft>
                <a:spcPts val="1200"/>
              </a:spcAft>
              <a:buSzPct val="100000"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 in chrome</a:t>
            </a:r>
            <a:r>
              <a:rPr lang="ko-KR" alt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으로 </a:t>
            </a:r>
            <a:r>
              <a:rPr lang="en-US" altLang="ko-KR" sz="1600" dirty="0" err="1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gmail</a:t>
            </a:r>
            <a:r>
              <a:rPr lang="en-US" altLang="ko-KR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오픈해줘요</a:t>
            </a:r>
            <a:endParaRPr lang="en-US" sz="1600" dirty="0"/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7B5478E5-D9D5-7291-2244-A3644DA422DA}"/>
              </a:ext>
            </a:extLst>
          </p:cNvPr>
          <p:cNvGrpSpPr/>
          <p:nvPr/>
        </p:nvGrpSpPr>
        <p:grpSpPr>
          <a:xfrm>
            <a:off x="471488" y="6757993"/>
            <a:ext cx="4754880" cy="985832"/>
            <a:chOff x="457200" y="6852290"/>
            <a:chExt cx="13716000" cy="640080"/>
          </a:xfrm>
        </p:grpSpPr>
        <p:sp>
          <p:nvSpPr>
            <p:cNvPr id="19" name="Shape 16"/>
            <p:cNvSpPr/>
            <p:nvPr/>
          </p:nvSpPr>
          <p:spPr>
            <a:xfrm>
              <a:off x="457200" y="6852290"/>
              <a:ext cx="13716000" cy="640080"/>
            </a:xfrm>
            <a:prstGeom prst="roundRect">
              <a:avLst>
                <a:gd name="adj" fmla="val 11429"/>
              </a:avLst>
            </a:prstGeom>
            <a:solidFill>
              <a:srgbClr val="FEF3C7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" name="Text 17"/>
            <p:cNvSpPr/>
            <p:nvPr/>
          </p:nvSpPr>
          <p:spPr>
            <a:xfrm>
              <a:off x="640080" y="6852290"/>
              <a:ext cx="13350240" cy="640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lnSpc>
                  <a:spcPct val="105000"/>
                </a:lnSpc>
                <a:buNone/>
              </a:pPr>
              <a:r>
                <a:rPr lang="en-US" sz="1600" b="1" dirty="0">
                  <a:solidFill>
                    <a:srgbClr val="92400E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⚠ </a:t>
              </a:r>
              <a:r>
                <a:rPr lang="en-US" sz="1600" b="1" dirty="0" err="1">
                  <a:solidFill>
                    <a:srgbClr val="92400E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실제</a:t>
              </a:r>
              <a:r>
                <a:rPr lang="en-US" sz="1600" b="1" dirty="0">
                  <a:solidFill>
                    <a:srgbClr val="92400E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브라우저라 신뢰 경계가 더 중요 — 사이트별 권한을 좁게, 프롬프트 인젝션 경계, 로그인은 항상 사람이 직접.</a:t>
              </a:r>
              <a:endParaRPr lang="en-US" sz="1600" dirty="0"/>
            </a:p>
          </p:txBody>
        </p:sp>
      </p:grp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624560" y="78638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04A6600B-B03F-61BB-19A9-E1823B49B1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9704" y="2423160"/>
            <a:ext cx="7870888" cy="2935224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8F961B2A-2AC4-5B1C-447A-0EC7E1AD1E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9704" y="5672938"/>
            <a:ext cx="7131246" cy="1985162"/>
          </a:xfrm>
          <a:prstGeom prst="rect">
            <a:avLst/>
          </a:prstGeom>
        </p:spPr>
      </p:pic>
      <p:sp>
        <p:nvSpPr>
          <p:cNvPr id="28" name="Text 15">
            <a:extLst>
              <a:ext uri="{FF2B5EF4-FFF2-40B4-BE49-F238E27FC236}">
                <a16:creationId xmlns:a16="http://schemas.microsoft.com/office/drawing/2014/main" id="{30803C44-2682-140B-374A-E47865A2D049}"/>
              </a:ext>
            </a:extLst>
          </p:cNvPr>
          <p:cNvSpPr/>
          <p:nvPr/>
        </p:nvSpPr>
        <p:spPr>
          <a:xfrm>
            <a:off x="668528" y="6132643"/>
            <a:ext cx="4332224" cy="2981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>
              <a:lnSpc>
                <a:spcPct val="105000"/>
              </a:lnSpc>
              <a:spcAft>
                <a:spcPts val="1200"/>
              </a:spcAft>
              <a:buSzPct val="100000"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 in chrome</a:t>
            </a:r>
            <a:r>
              <a:rPr lang="ko-KR" alt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으로 </a:t>
            </a:r>
            <a:r>
              <a:rPr lang="en-US" altLang="ko-KR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hlinkClick r:id="rId5"/>
              </a:rPr>
              <a:t>https://daum.net</a:t>
            </a:r>
            <a:r>
              <a:rPr lang="en-US" altLang="ko-KR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오픈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411480"/>
            <a:ext cx="1371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도우미 MCP 2종 — context7 · sequential thinking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69848"/>
            <a:ext cx="1371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Skill의 품질을 높이는 보조 도구</a:t>
            </a:r>
            <a:endParaRPr lang="en-US" sz="2000" dirty="0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E716C2ED-B357-962C-39F7-83DDCD1D5B8A}"/>
              </a:ext>
            </a:extLst>
          </p:cNvPr>
          <p:cNvGrpSpPr/>
          <p:nvPr/>
        </p:nvGrpSpPr>
        <p:grpSpPr>
          <a:xfrm>
            <a:off x="457200" y="1828800"/>
            <a:ext cx="6766560" cy="2578894"/>
            <a:chOff x="457200" y="1828800"/>
            <a:chExt cx="6766560" cy="2578894"/>
          </a:xfrm>
        </p:grpSpPr>
        <p:sp>
          <p:nvSpPr>
            <p:cNvPr id="5" name="Shape 3"/>
            <p:cNvSpPr/>
            <p:nvPr/>
          </p:nvSpPr>
          <p:spPr>
            <a:xfrm>
              <a:off x="457200" y="1828800"/>
              <a:ext cx="6766560" cy="2578894"/>
            </a:xfrm>
            <a:prstGeom prst="roundRect">
              <a:avLst>
                <a:gd name="adj" fmla="val 2424"/>
              </a:avLst>
            </a:prstGeom>
            <a:solidFill>
              <a:srgbClr val="F5F5F7"/>
            </a:solidFill>
            <a:ln w="12700">
              <a:solidFill>
                <a:srgbClr val="DDDDE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Shape 4"/>
            <p:cNvSpPr/>
            <p:nvPr/>
          </p:nvSpPr>
          <p:spPr>
            <a:xfrm>
              <a:off x="457200" y="1828800"/>
              <a:ext cx="6766560" cy="502920"/>
            </a:xfrm>
            <a:prstGeom prst="roundRect">
              <a:avLst>
                <a:gd name="adj" fmla="val 14545"/>
              </a:avLst>
            </a:prstGeom>
            <a:solidFill>
              <a:srgbClr val="3776AB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 5"/>
            <p:cNvSpPr/>
            <p:nvPr/>
          </p:nvSpPr>
          <p:spPr>
            <a:xfrm>
              <a:off x="457200" y="1828800"/>
              <a:ext cx="676656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context7 · 최신 공식문서 조회</a:t>
              </a:r>
              <a:endParaRPr lang="en-US" sz="1600" dirty="0"/>
            </a:p>
          </p:txBody>
        </p:sp>
      </p:grpSp>
      <p:sp>
        <p:nvSpPr>
          <p:cNvPr id="8" name="Text 6"/>
          <p:cNvSpPr/>
          <p:nvPr/>
        </p:nvSpPr>
        <p:spPr>
          <a:xfrm>
            <a:off x="658368" y="2450592"/>
            <a:ext cx="6364224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라이브러리·프레임워크의 최신·버전별 공식문서와 코드 예시를 실시간으로 프롬프트에 넣어 줌</a:t>
            </a:r>
            <a:endParaRPr lang="en-US" sz="1600" dirty="0"/>
          </a:p>
          <a:p>
            <a:pPr marL="177800" indent="-1778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"use context7"라고 덧붙이면 옛 기억이 아닌 지금의 정식 문서 기준으로 답함(오래된·없는 API 환각 </a:t>
            </a:r>
            <a:r>
              <a:rPr lang="en-US" sz="1600" dirty="0" err="1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감소</a:t>
            </a:r>
            <a:r>
              <a:rPr lang="en-US" sz="16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)</a:t>
            </a:r>
          </a:p>
          <a:p>
            <a:pPr marL="177800" indent="-1778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ko-KR" altLang="en-US" sz="16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설치 프롬프트</a:t>
            </a:r>
            <a:r>
              <a:rPr lang="en-US" altLang="ko-KR" sz="16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 context7 MCP </a:t>
            </a:r>
            <a:r>
              <a:rPr lang="ko-KR" altLang="en-US" sz="1600" dirty="0" err="1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유저스콥</a:t>
            </a:r>
            <a:r>
              <a:rPr lang="en-US" altLang="ko-KR" sz="16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</a:t>
            </a:r>
            <a:r>
              <a:rPr lang="ko-KR" altLang="en-US" sz="16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또는 프로젝트 스콥</a:t>
            </a:r>
            <a:r>
              <a:rPr lang="en-US" altLang="ko-KR" sz="16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)</a:t>
            </a:r>
            <a:r>
              <a:rPr lang="ko-KR" altLang="en-US" sz="16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을 설치해줘</a:t>
            </a:r>
            <a:endParaRPr lang="en-US" sz="1600" dirty="0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72EC9D8C-FDB0-CCE3-E151-E99F45CBE718}"/>
              </a:ext>
            </a:extLst>
          </p:cNvPr>
          <p:cNvGrpSpPr/>
          <p:nvPr/>
        </p:nvGrpSpPr>
        <p:grpSpPr>
          <a:xfrm>
            <a:off x="457200" y="4579143"/>
            <a:ext cx="6766560" cy="3017520"/>
            <a:chOff x="7406640" y="1828800"/>
            <a:chExt cx="6766560" cy="3017520"/>
          </a:xfrm>
        </p:grpSpPr>
        <p:sp>
          <p:nvSpPr>
            <p:cNvPr id="9" name="Shape 7"/>
            <p:cNvSpPr/>
            <p:nvPr/>
          </p:nvSpPr>
          <p:spPr>
            <a:xfrm>
              <a:off x="7406640" y="1828800"/>
              <a:ext cx="6766560" cy="3017520"/>
            </a:xfrm>
            <a:prstGeom prst="roundRect">
              <a:avLst>
                <a:gd name="adj" fmla="val 2424"/>
              </a:avLst>
            </a:prstGeom>
            <a:solidFill>
              <a:srgbClr val="F5F5F7"/>
            </a:solidFill>
            <a:ln w="12700">
              <a:solidFill>
                <a:srgbClr val="DDDDE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Shape 8"/>
            <p:cNvSpPr/>
            <p:nvPr/>
          </p:nvSpPr>
          <p:spPr>
            <a:xfrm>
              <a:off x="7406640" y="1828800"/>
              <a:ext cx="6766560" cy="502920"/>
            </a:xfrm>
            <a:prstGeom prst="roundRect">
              <a:avLst>
                <a:gd name="adj" fmla="val 14545"/>
              </a:avLst>
            </a:prstGeom>
            <a:solidFill>
              <a:srgbClr val="1A5E7E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Text 9"/>
            <p:cNvSpPr/>
            <p:nvPr/>
          </p:nvSpPr>
          <p:spPr>
            <a:xfrm>
              <a:off x="7406640" y="1828800"/>
              <a:ext cx="676656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sequential thinking · 단계적 사고</a:t>
              </a:r>
              <a:endParaRPr lang="en-US" sz="16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7607808" y="2450592"/>
              <a:ext cx="6364224" cy="228600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177800" indent="-177800" algn="l">
                <a:lnSpc>
                  <a:spcPct val="105000"/>
                </a:lnSpc>
                <a:spcAft>
                  <a:spcPts val="800"/>
                </a:spcAft>
                <a:buSzPct val="100000"/>
                <a:buChar char="•"/>
              </a:pPr>
              <a:r>
                <a:rPr lang="en-US" sz="1600" dirty="0">
                  <a:solidFill>
                    <a:srgbClr val="505060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복잡한 문제를 여러 생각 단계로 쪼개고, 필요하면 수정·분기하며 차근차근 풀도록 돕는 표준 MCP 서버</a:t>
              </a:r>
              <a:endParaRPr lang="en-US" sz="1600" dirty="0"/>
            </a:p>
            <a:p>
              <a:pPr marL="177800" indent="-177800" algn="l">
                <a:lnSpc>
                  <a:spcPct val="105000"/>
                </a:lnSpc>
                <a:spcAft>
                  <a:spcPts val="800"/>
                </a:spcAft>
                <a:buSzPct val="100000"/>
                <a:buChar char="•"/>
              </a:pPr>
              <a:r>
                <a:rPr lang="en-US" sz="1600" dirty="0">
                  <a:solidFill>
                    <a:srgbClr val="2C2926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긴 절차·설계처럼 한 번에 답하기 어려운 일의 </a:t>
              </a:r>
              <a:r>
                <a:rPr lang="en-US" sz="1600" dirty="0" err="1">
                  <a:solidFill>
                    <a:srgbClr val="2C2926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정확도를</a:t>
              </a:r>
              <a:r>
                <a:rPr lang="en-US" sz="1600" dirty="0">
                  <a:solidFill>
                    <a:srgbClr val="2C2926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</a:t>
              </a:r>
              <a:r>
                <a:rPr lang="en-US" sz="1600" dirty="0" err="1">
                  <a:solidFill>
                    <a:srgbClr val="2C2926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높임</a:t>
              </a:r>
              <a:endParaRPr lang="en-US" sz="16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endParaRPr>
            </a:p>
            <a:p>
              <a:pPr marL="177800" indent="-177800" algn="l">
                <a:lnSpc>
                  <a:spcPct val="105000"/>
                </a:lnSpc>
                <a:spcAft>
                  <a:spcPts val="800"/>
                </a:spcAft>
                <a:buSzPct val="100000"/>
                <a:buChar char="•"/>
              </a:pPr>
              <a:r>
                <a:rPr lang="en-US" sz="1600" dirty="0">
                  <a:solidFill>
                    <a:srgbClr val="2C2926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“</a:t>
              </a:r>
              <a:r>
                <a:rPr lang="ko-KR" altLang="en-US" sz="1600" dirty="0">
                  <a:solidFill>
                    <a:srgbClr val="2C2926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단계별로 추론해줘</a:t>
              </a:r>
              <a:r>
                <a:rPr lang="en-US" altLang="ko-KR" sz="1600" dirty="0">
                  <a:solidFill>
                    <a:srgbClr val="2C2926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”</a:t>
              </a:r>
              <a:r>
                <a:rPr lang="ko-KR" altLang="en-US" sz="1600" dirty="0">
                  <a:solidFill>
                    <a:srgbClr val="2C2926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나 </a:t>
              </a:r>
              <a:r>
                <a:rPr lang="en-US" altLang="ko-KR" sz="1600" dirty="0">
                  <a:solidFill>
                    <a:srgbClr val="2C2926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“</a:t>
              </a:r>
              <a:r>
                <a:rPr lang="ko-KR" altLang="en-US" sz="1600" dirty="0" err="1">
                  <a:solidFill>
                    <a:srgbClr val="2C2926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차근</a:t>
              </a:r>
              <a:r>
                <a:rPr lang="ko-KR" altLang="en-US" sz="1600" dirty="0">
                  <a:solidFill>
                    <a:srgbClr val="2C2926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</a:t>
              </a:r>
              <a:r>
                <a:rPr lang="ko-KR" altLang="en-US" sz="1600" dirty="0" err="1">
                  <a:solidFill>
                    <a:srgbClr val="2C2926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차근</a:t>
              </a:r>
              <a:r>
                <a:rPr lang="ko-KR" altLang="en-US" sz="1600" dirty="0">
                  <a:solidFill>
                    <a:srgbClr val="2C2926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분석해줘</a:t>
              </a:r>
              <a:r>
                <a:rPr lang="en-US" altLang="ko-KR" sz="1600" dirty="0">
                  <a:solidFill>
                    <a:srgbClr val="2C2926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”</a:t>
              </a:r>
              <a:r>
                <a:rPr lang="ko-KR" altLang="en-US" sz="1600" dirty="0">
                  <a:solidFill>
                    <a:srgbClr val="2C2926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와 같은 프롬프트가 있으면 수행됨</a:t>
              </a:r>
              <a:r>
                <a:rPr lang="en-US" altLang="ko-KR" sz="1600" dirty="0">
                  <a:solidFill>
                    <a:srgbClr val="2C2926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. </a:t>
              </a:r>
              <a:r>
                <a:rPr lang="ko-KR" altLang="en-US" sz="1600" dirty="0">
                  <a:solidFill>
                    <a:srgbClr val="2C2926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없어도 </a:t>
              </a:r>
              <a:r>
                <a:rPr lang="en-US" altLang="ko-KR" sz="1600" dirty="0">
                  <a:solidFill>
                    <a:srgbClr val="2C2926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AI</a:t>
              </a:r>
              <a:r>
                <a:rPr lang="ko-KR" altLang="en-US" sz="1600" dirty="0">
                  <a:solidFill>
                    <a:srgbClr val="2C2926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가 필요하다고 판단하면 자동 수행됨</a:t>
              </a:r>
              <a:endParaRPr lang="en-US" sz="16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endParaRPr>
            </a:p>
            <a:p>
              <a:pPr marL="177800" indent="-177800">
                <a:lnSpc>
                  <a:spcPct val="105000"/>
                </a:lnSpc>
                <a:spcAft>
                  <a:spcPts val="800"/>
                </a:spcAft>
                <a:buSzPct val="100000"/>
                <a:buChar char="•"/>
              </a:pPr>
              <a:r>
                <a:rPr lang="ko-KR" altLang="en-US" sz="1600" dirty="0">
                  <a:solidFill>
                    <a:srgbClr val="2C2926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설치 프롬프트</a:t>
              </a:r>
              <a:r>
                <a:rPr lang="en-US" altLang="ko-KR" sz="1600" dirty="0">
                  <a:solidFill>
                    <a:srgbClr val="2C2926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: sequential thinking MCP </a:t>
              </a:r>
              <a:r>
                <a:rPr lang="ko-KR" altLang="en-US" sz="1600" dirty="0" err="1">
                  <a:solidFill>
                    <a:srgbClr val="2C2926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유저스콥</a:t>
              </a:r>
              <a:r>
                <a:rPr lang="en-US" altLang="ko-KR" sz="1600" dirty="0">
                  <a:solidFill>
                    <a:srgbClr val="2C2926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(</a:t>
              </a:r>
              <a:r>
                <a:rPr lang="ko-KR" altLang="en-US" sz="1600" dirty="0">
                  <a:solidFill>
                    <a:srgbClr val="2C2926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또는 프로젝트 스콥</a:t>
              </a:r>
              <a:r>
                <a:rPr lang="en-US" altLang="ko-KR" sz="1600" dirty="0">
                  <a:solidFill>
                    <a:srgbClr val="2C2926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)</a:t>
              </a:r>
              <a:r>
                <a:rPr lang="ko-KR" altLang="en-US" sz="1600" dirty="0">
                  <a:solidFill>
                    <a:srgbClr val="2C2926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을 설치해줘</a:t>
              </a:r>
              <a:endParaRPr lang="en-US" sz="1600" dirty="0"/>
            </a:p>
          </p:txBody>
        </p:sp>
      </p:grp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624560" y="78638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p:sp>
        <p:nvSpPr>
          <p:cNvPr id="18" name="Shape 13">
            <a:extLst>
              <a:ext uri="{FF2B5EF4-FFF2-40B4-BE49-F238E27FC236}">
                <a16:creationId xmlns:a16="http://schemas.microsoft.com/office/drawing/2014/main" id="{5BE431E3-64AE-DF9B-4F81-7554B769B03F}"/>
              </a:ext>
            </a:extLst>
          </p:cNvPr>
          <p:cNvSpPr/>
          <p:nvPr/>
        </p:nvSpPr>
        <p:spPr>
          <a:xfrm>
            <a:off x="7665243" y="1828800"/>
            <a:ext cx="6429376" cy="2578894"/>
          </a:xfrm>
          <a:prstGeom prst="roundRect">
            <a:avLst>
              <a:gd name="adj" fmla="val 2286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A59F2FD9-B059-5C83-8637-347D7253F37E}"/>
              </a:ext>
            </a:extLst>
          </p:cNvPr>
          <p:cNvSpPr/>
          <p:nvPr/>
        </p:nvSpPr>
        <p:spPr>
          <a:xfrm>
            <a:off x="7876571" y="1982045"/>
            <a:ext cx="5857876" cy="1298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 err="1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예시</a:t>
            </a:r>
            <a:endParaRPr lang="en-US" sz="1600" dirty="0"/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244353A8-21BC-A25B-55D2-C3A8BCA350D1}"/>
              </a:ext>
            </a:extLst>
          </p:cNvPr>
          <p:cNvSpPr/>
          <p:nvPr/>
        </p:nvSpPr>
        <p:spPr>
          <a:xfrm>
            <a:off x="7876571" y="2194971"/>
            <a:ext cx="5996592" cy="19626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lnSpc>
                <a:spcPct val="105000"/>
              </a:lnSpc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Next.js </a:t>
            </a:r>
            <a:r>
              <a:rPr lang="ko-KR" alt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미들웨어에서 쿠키의 </a:t>
            </a:r>
            <a:r>
              <a:rPr lang="en-US" altLang="ko-KR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JWT</a:t>
            </a:r>
            <a:r>
              <a:rPr lang="ko-KR" alt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를 검증하는 코드 작성해줘</a:t>
            </a:r>
            <a:r>
              <a:rPr lang="en-US" altLang="ko-KR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 use context7</a:t>
            </a:r>
          </a:p>
          <a:p>
            <a:pPr marL="285750" indent="-285750">
              <a:lnSpc>
                <a:spcPct val="105000"/>
              </a:lnSpc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altLang="ko-KR" sz="1600" dirty="0" err="1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FastAPI</a:t>
            </a:r>
            <a:r>
              <a:rPr lang="en-US" altLang="ko-KR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인증 구현 방법 보여줘</a:t>
            </a:r>
            <a:r>
              <a:rPr lang="en-US" altLang="ko-KR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 use context7</a:t>
            </a:r>
            <a:endParaRPr lang="en-US" sz="1600" dirty="0"/>
          </a:p>
        </p:txBody>
      </p:sp>
      <p:sp>
        <p:nvSpPr>
          <p:cNvPr id="22" name="Shape 13">
            <a:extLst>
              <a:ext uri="{FF2B5EF4-FFF2-40B4-BE49-F238E27FC236}">
                <a16:creationId xmlns:a16="http://schemas.microsoft.com/office/drawing/2014/main" id="{DB2486F2-6198-3E83-7E76-6169D1CA7AE9}"/>
              </a:ext>
            </a:extLst>
          </p:cNvPr>
          <p:cNvSpPr/>
          <p:nvPr/>
        </p:nvSpPr>
        <p:spPr>
          <a:xfrm>
            <a:off x="7665243" y="4586285"/>
            <a:ext cx="6429376" cy="3010377"/>
          </a:xfrm>
          <a:prstGeom prst="roundRect">
            <a:avLst>
              <a:gd name="adj" fmla="val 2286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4">
            <a:extLst>
              <a:ext uri="{FF2B5EF4-FFF2-40B4-BE49-F238E27FC236}">
                <a16:creationId xmlns:a16="http://schemas.microsoft.com/office/drawing/2014/main" id="{BD2D1F9E-6AD2-2A85-A804-E79DC7850F91}"/>
              </a:ext>
            </a:extLst>
          </p:cNvPr>
          <p:cNvSpPr/>
          <p:nvPr/>
        </p:nvSpPr>
        <p:spPr>
          <a:xfrm>
            <a:off x="7876571" y="4739531"/>
            <a:ext cx="5857876" cy="1298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 err="1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예시</a:t>
            </a:r>
            <a:endParaRPr lang="en-US" sz="1600" dirty="0"/>
          </a:p>
        </p:txBody>
      </p:sp>
      <p:sp>
        <p:nvSpPr>
          <p:cNvPr id="24" name="Text 15">
            <a:extLst>
              <a:ext uri="{FF2B5EF4-FFF2-40B4-BE49-F238E27FC236}">
                <a16:creationId xmlns:a16="http://schemas.microsoft.com/office/drawing/2014/main" id="{197D8766-9632-03C1-03FA-92482CC9C33D}"/>
              </a:ext>
            </a:extLst>
          </p:cNvPr>
          <p:cNvSpPr/>
          <p:nvPr/>
        </p:nvSpPr>
        <p:spPr>
          <a:xfrm>
            <a:off x="7876571" y="4952457"/>
            <a:ext cx="5996592" cy="19626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lnSpc>
                <a:spcPct val="105000"/>
              </a:lnSpc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프로덕션에서만 배포가 실패하는 이유를 </a:t>
            </a:r>
            <a:r>
              <a:rPr lang="ko-KR" altLang="en-US" sz="1600" b="1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단계별로 추론</a:t>
            </a:r>
            <a:r>
              <a:rPr lang="ko-KR" alt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해줘</a:t>
            </a:r>
          </a:p>
          <a:p>
            <a:pPr marL="285750" indent="-285750">
              <a:lnSpc>
                <a:spcPct val="105000"/>
              </a:lnSpc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 동기화 엔진 아키텍처 </a:t>
            </a:r>
            <a:r>
              <a:rPr lang="en-US" altLang="ko-KR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r>
              <a:rPr lang="ko-KR" alt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개를 비교하고</a:t>
            </a:r>
            <a:r>
              <a:rPr lang="en-US" altLang="ko-KR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  <a:r>
              <a:rPr lang="ko-KR" altLang="en-US" sz="16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가정이 틀리면 분기해서 다시 검토해줘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75235-2A0F-F54C-3053-F8A279479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>
            <a:extLst>
              <a:ext uri="{FF2B5EF4-FFF2-40B4-BE49-F238E27FC236}">
                <a16:creationId xmlns:a16="http://schemas.microsoft.com/office/drawing/2014/main" id="{91CD2178-B80C-0A3B-8440-A2FC41AF0AA2}"/>
              </a:ext>
            </a:extLst>
          </p:cNvPr>
          <p:cNvGrpSpPr/>
          <p:nvPr/>
        </p:nvGrpSpPr>
        <p:grpSpPr>
          <a:xfrm>
            <a:off x="2485928" y="1071845"/>
            <a:ext cx="2194560" cy="384048"/>
            <a:chOff x="548640" y="1051560"/>
            <a:chExt cx="2194560" cy="384048"/>
          </a:xfrm>
        </p:grpSpPr>
        <p:sp>
          <p:nvSpPr>
            <p:cNvPr id="4" name="Shape 2">
              <a:extLst>
                <a:ext uri="{FF2B5EF4-FFF2-40B4-BE49-F238E27FC236}">
                  <a16:creationId xmlns:a16="http://schemas.microsoft.com/office/drawing/2014/main" id="{ECDA81FF-04D6-AF77-D527-EB115C348C0A}"/>
                </a:ext>
              </a:extLst>
            </p:cNvPr>
            <p:cNvSpPr/>
            <p:nvPr/>
          </p:nvSpPr>
          <p:spPr>
            <a:xfrm>
              <a:off x="548640" y="1051560"/>
              <a:ext cx="2194560" cy="384048"/>
            </a:xfrm>
            <a:prstGeom prst="rect">
              <a:avLst/>
            </a:prstGeom>
            <a:noFill/>
            <a:ln w="19050">
              <a:solidFill>
                <a:srgbClr val="1E293B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retendard" panose="02000503000000020004" pitchFamily="50" charset="-127"/>
                <a:cs typeface="+mn-cs"/>
              </a:endParaRPr>
            </a:p>
          </p:txBody>
        </p:sp>
        <p:sp>
          <p:nvSpPr>
            <p:cNvPr id="5" name="Text 3">
              <a:extLst>
                <a:ext uri="{FF2B5EF4-FFF2-40B4-BE49-F238E27FC236}">
                  <a16:creationId xmlns:a16="http://schemas.microsoft.com/office/drawing/2014/main" id="{91909740-CB27-9757-E026-34085E227D4E}"/>
                </a:ext>
              </a:extLst>
            </p:cNvPr>
            <p:cNvSpPr/>
            <p:nvPr/>
          </p:nvSpPr>
          <p:spPr>
            <a:xfrm>
              <a:off x="548640" y="1051560"/>
              <a:ext cx="21945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1E293B"/>
                  </a:solidFill>
                  <a:effectLst/>
                  <a:uLnTx/>
                  <a:uFillTx/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WHY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" name="Text 4">
            <a:extLst>
              <a:ext uri="{FF2B5EF4-FFF2-40B4-BE49-F238E27FC236}">
                <a16:creationId xmlns:a16="http://schemas.microsoft.com/office/drawing/2014/main" id="{B469EFE6-1837-78D8-BCA2-1CC9833745F0}"/>
              </a:ext>
            </a:extLst>
          </p:cNvPr>
          <p:cNvSpPr/>
          <p:nvPr/>
        </p:nvSpPr>
        <p:spPr>
          <a:xfrm>
            <a:off x="548640" y="1524473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정의: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AI앱이 외부 도구를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호출하는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표준 프로토콜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(=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표준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인터페이스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=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규약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C1F83F0-E8DF-B121-285B-A4DECAB26A06}"/>
              </a:ext>
            </a:extLst>
          </p:cNvPr>
          <p:cNvSpPr/>
          <p:nvPr/>
        </p:nvSpPr>
        <p:spPr>
          <a:xfrm>
            <a:off x="548640" y="2073113"/>
            <a:ext cx="6400800" cy="106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필요성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C2926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앱-도구 간 인터페이스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표준화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C2926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프레임워크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C2926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비종속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C2926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풍부한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C2926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생태계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C2926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: 사실상 업계 표준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8" name="Table 0">
            <a:extLst>
              <a:ext uri="{FF2B5EF4-FFF2-40B4-BE49-F238E27FC236}">
                <a16:creationId xmlns:a16="http://schemas.microsoft.com/office/drawing/2014/main" id="{2FE1E343-E280-2FE8-E3B1-EAD0BC9C8B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7048701"/>
              </p:ext>
            </p:extLst>
          </p:nvPr>
        </p:nvGraphicFramePr>
        <p:xfrm>
          <a:off x="548640" y="3226189"/>
          <a:ext cx="6400800" cy="4108704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카테고리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MCP 서버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설명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코드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Context7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최신 코드 검색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코드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Playwright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프론트엔드 테스트 서비스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코드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Sequential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LLM의 논리적 추론 지원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코드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GitHub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소스관리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코드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Filesystem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로컬 파일 읽기/쓰기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코드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Sentry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에러 로그 분석 및 디버깅 자동화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검색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Brave Search/Exa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최신 웹 정보 검색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검색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Tavili/DuckDuckGo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최신 웹 정보 검색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검색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Google Maps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장소 검색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검색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Firecrawl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웹 스크래핑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검색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Memory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지식 Graph 기반 영구 메모리 서비스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커뮤니케이션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Gmail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Gmail 연동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커뮤니케이션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Slack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Slack 연동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pSp>
        <p:nvGrpSpPr>
          <p:cNvPr id="18" name="그룹 17">
            <a:extLst>
              <a:ext uri="{FF2B5EF4-FFF2-40B4-BE49-F238E27FC236}">
                <a16:creationId xmlns:a16="http://schemas.microsoft.com/office/drawing/2014/main" id="{9FF09755-EC2C-FDF9-E1A7-B1C6C9ED97FF}"/>
              </a:ext>
            </a:extLst>
          </p:cNvPr>
          <p:cNvGrpSpPr/>
          <p:nvPr/>
        </p:nvGrpSpPr>
        <p:grpSpPr>
          <a:xfrm>
            <a:off x="9326880" y="1071845"/>
            <a:ext cx="3108960" cy="384048"/>
            <a:chOff x="7498080" y="1051560"/>
            <a:chExt cx="3108960" cy="384048"/>
          </a:xfrm>
        </p:grpSpPr>
        <p:sp>
          <p:nvSpPr>
            <p:cNvPr id="9" name="Shape 6">
              <a:extLst>
                <a:ext uri="{FF2B5EF4-FFF2-40B4-BE49-F238E27FC236}">
                  <a16:creationId xmlns:a16="http://schemas.microsoft.com/office/drawing/2014/main" id="{676DE990-8636-67C3-B050-99350D16BE62}"/>
                </a:ext>
              </a:extLst>
            </p:cNvPr>
            <p:cNvSpPr/>
            <p:nvPr/>
          </p:nvSpPr>
          <p:spPr>
            <a:xfrm>
              <a:off x="7498080" y="1051560"/>
              <a:ext cx="3108960" cy="384048"/>
            </a:xfrm>
            <a:prstGeom prst="rect">
              <a:avLst/>
            </a:prstGeom>
            <a:noFill/>
            <a:ln w="19050">
              <a:solidFill>
                <a:srgbClr val="1E293B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retendard" panose="02000503000000020004" pitchFamily="50" charset="-127"/>
                <a:cs typeface="+mn-cs"/>
              </a:endParaRPr>
            </a:p>
          </p:txBody>
        </p:sp>
        <p:sp>
          <p:nvSpPr>
            <p:cNvPr id="10" name="Text 7">
              <a:extLst>
                <a:ext uri="{FF2B5EF4-FFF2-40B4-BE49-F238E27FC236}">
                  <a16:creationId xmlns:a16="http://schemas.microsoft.com/office/drawing/2014/main" id="{D3175CAE-000F-1B06-0703-E77C9986B2BE}"/>
                </a:ext>
              </a:extLst>
            </p:cNvPr>
            <p:cNvSpPr/>
            <p:nvPr/>
          </p:nvSpPr>
          <p:spPr>
            <a:xfrm>
              <a:off x="7498080" y="1051560"/>
              <a:ext cx="31089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1E293B"/>
                  </a:solidFill>
                  <a:effectLst/>
                  <a:uLnTx/>
                  <a:uFillTx/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MCP 아키텍처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11" name="Image 0" descr="/sessions/nice-trusting-lovelace/mnt/aistudy/claude/images/architecture.png">
            <a:extLst>
              <a:ext uri="{FF2B5EF4-FFF2-40B4-BE49-F238E27FC236}">
                <a16:creationId xmlns:a16="http://schemas.microsoft.com/office/drawing/2014/main" id="{4BD3B956-AE6D-1138-7EB2-DBC0269AC8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478753"/>
            <a:ext cx="6583680" cy="3591098"/>
          </a:xfrm>
          <a:prstGeom prst="rect">
            <a:avLst/>
          </a:prstGeom>
        </p:spPr>
      </p:pic>
      <p:grpSp>
        <p:nvGrpSpPr>
          <p:cNvPr id="19" name="그룹 18">
            <a:extLst>
              <a:ext uri="{FF2B5EF4-FFF2-40B4-BE49-F238E27FC236}">
                <a16:creationId xmlns:a16="http://schemas.microsoft.com/office/drawing/2014/main" id="{7AED21FD-5CE3-7135-03A8-F021650DD87F}"/>
              </a:ext>
            </a:extLst>
          </p:cNvPr>
          <p:cNvGrpSpPr/>
          <p:nvPr/>
        </p:nvGrpSpPr>
        <p:grpSpPr>
          <a:xfrm>
            <a:off x="9326880" y="5107082"/>
            <a:ext cx="3108960" cy="384048"/>
            <a:chOff x="7498080" y="5465618"/>
            <a:chExt cx="2194560" cy="384048"/>
          </a:xfrm>
        </p:grpSpPr>
        <p:sp>
          <p:nvSpPr>
            <p:cNvPr id="12" name="Shape 8">
              <a:extLst>
                <a:ext uri="{FF2B5EF4-FFF2-40B4-BE49-F238E27FC236}">
                  <a16:creationId xmlns:a16="http://schemas.microsoft.com/office/drawing/2014/main" id="{20A870FA-F28C-236D-67C3-043D3C02346C}"/>
                </a:ext>
              </a:extLst>
            </p:cNvPr>
            <p:cNvSpPr/>
            <p:nvPr/>
          </p:nvSpPr>
          <p:spPr>
            <a:xfrm>
              <a:off x="7498080" y="5465618"/>
              <a:ext cx="2194560" cy="384048"/>
            </a:xfrm>
            <a:prstGeom prst="rect">
              <a:avLst/>
            </a:prstGeom>
            <a:noFill/>
            <a:ln w="19050">
              <a:solidFill>
                <a:srgbClr val="1E293B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retendard" panose="02000503000000020004" pitchFamily="50" charset="-127"/>
                <a:cs typeface="+mn-cs"/>
              </a:endParaRPr>
            </a:p>
          </p:txBody>
        </p:sp>
        <p:sp>
          <p:nvSpPr>
            <p:cNvPr id="13" name="Text 9">
              <a:extLst>
                <a:ext uri="{FF2B5EF4-FFF2-40B4-BE49-F238E27FC236}">
                  <a16:creationId xmlns:a16="http://schemas.microsoft.com/office/drawing/2014/main" id="{F2615C63-1F01-3FD0-665D-DEE4B3EA01C5}"/>
                </a:ext>
              </a:extLst>
            </p:cNvPr>
            <p:cNvSpPr/>
            <p:nvPr/>
          </p:nvSpPr>
          <p:spPr>
            <a:xfrm>
              <a:off x="7498080" y="5465618"/>
              <a:ext cx="21945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1E293B"/>
                  </a:solidFill>
                  <a:effectLst/>
                  <a:uLnTx/>
                  <a:uFillTx/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전송방식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14" name="Image 1" descr="/sessions/nice-trusting-lovelace/mnt/aistudy/claude/images/stdio.png">
            <a:extLst>
              <a:ext uri="{FF2B5EF4-FFF2-40B4-BE49-F238E27FC236}">
                <a16:creationId xmlns:a16="http://schemas.microsoft.com/office/drawing/2014/main" id="{BFA411A2-9A3B-785D-BF1C-1D89E26BA1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604" y="5643923"/>
            <a:ext cx="3618596" cy="1973780"/>
          </a:xfrm>
          <a:prstGeom prst="rect">
            <a:avLst/>
          </a:prstGeom>
        </p:spPr>
      </p:pic>
      <p:pic>
        <p:nvPicPr>
          <p:cNvPr id="15" name="Image 2" descr="/sessions/nice-trusting-lovelace/mnt/aistudy/claude/images/http.png">
            <a:extLst>
              <a:ext uri="{FF2B5EF4-FFF2-40B4-BE49-F238E27FC236}">
                <a16:creationId xmlns:a16="http://schemas.microsoft.com/office/drawing/2014/main" id="{8E6A5ADB-A04B-2F8E-CB06-64897BF122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45493" y="5643923"/>
            <a:ext cx="3519147" cy="1919535"/>
          </a:xfrm>
          <a:prstGeom prst="rect">
            <a:avLst/>
          </a:prstGeom>
        </p:spPr>
      </p:pic>
      <p:sp>
        <p:nvSpPr>
          <p:cNvPr id="16" name="제목 15">
            <a:extLst>
              <a:ext uri="{FF2B5EF4-FFF2-40B4-BE49-F238E27FC236}">
                <a16:creationId xmlns:a16="http://schemas.microsoft.com/office/drawing/2014/main" id="{E92A1476-2696-F0FB-472A-39772DA3F0C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92919" y="100013"/>
            <a:ext cx="14137482" cy="8286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/>
            <a:r>
              <a:rPr lang="en-US" altLang="ko-KR" sz="3200" b="1" dirty="0" err="1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나만의</a:t>
            </a:r>
            <a:r>
              <a:rPr lang="en-US" altLang="ko-KR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MCP </a:t>
            </a:r>
            <a:r>
              <a:rPr lang="en-US" altLang="ko-KR" sz="3200" b="1" dirty="0" err="1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만들기</a:t>
            </a:r>
            <a:r>
              <a:rPr lang="en-US" altLang="ko-KR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MCP</a:t>
            </a:r>
            <a:r>
              <a:rPr lang="ko-KR" alt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개요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FB43E41-B75E-C19C-46A1-AEAFDB4B439F}"/>
              </a:ext>
            </a:extLst>
          </p:cNvPr>
          <p:cNvSpPr/>
          <p:nvPr/>
        </p:nvSpPr>
        <p:spPr>
          <a:xfrm>
            <a:off x="8357016" y="1849760"/>
            <a:ext cx="547272" cy="31479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rgbClr val="FF0000"/>
                </a:solidFill>
              </a:ln>
              <a:noFill/>
              <a:ea typeface="Pretendard" panose="02000503000000020004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7CC1608-D07D-9E0B-7C01-052E02780D12}"/>
              </a:ext>
            </a:extLst>
          </p:cNvPr>
          <p:cNvSpPr/>
          <p:nvPr/>
        </p:nvSpPr>
        <p:spPr>
          <a:xfrm>
            <a:off x="8651820" y="2804131"/>
            <a:ext cx="604605" cy="31479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rgbClr val="FF0000"/>
                </a:solidFill>
              </a:ln>
              <a:noFill/>
              <a:ea typeface="Pretendard" panose="02000503000000020004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5F93A69-5A1D-4797-5062-25473D62FEF1}"/>
              </a:ext>
            </a:extLst>
          </p:cNvPr>
          <p:cNvSpPr/>
          <p:nvPr/>
        </p:nvSpPr>
        <p:spPr>
          <a:xfrm>
            <a:off x="8684300" y="4283160"/>
            <a:ext cx="604605" cy="31479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rgbClr val="FF0000"/>
                </a:solidFill>
              </a:ln>
              <a:noFill/>
              <a:ea typeface="Pretendard" panose="02000503000000020004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3772543-012C-894E-07D7-BA73E22B94C3}"/>
              </a:ext>
            </a:extLst>
          </p:cNvPr>
          <p:cNvSpPr/>
          <p:nvPr/>
        </p:nvSpPr>
        <p:spPr>
          <a:xfrm>
            <a:off x="7275222" y="5617285"/>
            <a:ext cx="657516" cy="31479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rgbClr val="FF0000"/>
                </a:solidFill>
              </a:ln>
              <a:noFill/>
              <a:ea typeface="Pretendard" panose="02000503000000020004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6CA2B37-34A3-93D7-4178-267803435E33}"/>
              </a:ext>
            </a:extLst>
          </p:cNvPr>
          <p:cNvSpPr/>
          <p:nvPr/>
        </p:nvSpPr>
        <p:spPr>
          <a:xfrm>
            <a:off x="11917176" y="5589678"/>
            <a:ext cx="577126" cy="31479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rgbClr val="FF0000"/>
                </a:solidFill>
              </a:ln>
              <a:noFill/>
              <a:ea typeface="Pretendard" panose="020005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2D9060-AF14-AE8E-7E13-63C0182ED587}"/>
              </a:ext>
            </a:extLst>
          </p:cNvPr>
          <p:cNvSpPr txBox="1"/>
          <p:nvPr/>
        </p:nvSpPr>
        <p:spPr>
          <a:xfrm>
            <a:off x="5122069" y="2931561"/>
            <a:ext cx="19130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hlinkClick r:id="rId6"/>
              </a:rPr>
              <a:t>더 많은 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hlinkClick r:id="rId6"/>
              </a:rPr>
              <a:t>MCP 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hlinkClick r:id="rId6"/>
              </a:rPr>
              <a:t>보기</a:t>
            </a:r>
            <a:endParaRPr lang="ko-KR" alt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3F58048-9989-D3D0-448A-7F29B10FE885}"/>
              </a:ext>
            </a:extLst>
          </p:cNvPr>
          <p:cNvSpPr txBox="1"/>
          <p:nvPr/>
        </p:nvSpPr>
        <p:spPr>
          <a:xfrm>
            <a:off x="548640" y="7363469"/>
            <a:ext cx="6400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r">
              <a:defRPr sz="14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pPr algn="l"/>
            <a:r>
              <a:rPr lang="en-US" altLang="ko-KR" dirty="0"/>
              <a:t>MCP </a:t>
            </a:r>
            <a:r>
              <a:rPr lang="ko-KR" altLang="en-US" dirty="0"/>
              <a:t>서버 포탈</a:t>
            </a:r>
            <a:r>
              <a:rPr lang="en-US" altLang="ko-KR" dirty="0"/>
              <a:t>: </a:t>
            </a:r>
            <a:r>
              <a:rPr lang="en-US" altLang="ko-KR" dirty="0">
                <a:hlinkClick r:id="rId7"/>
              </a:rPr>
              <a:t>Smithery</a:t>
            </a:r>
            <a:r>
              <a:rPr lang="en-US" altLang="ko-KR" dirty="0"/>
              <a:t>  | </a:t>
            </a:r>
            <a:r>
              <a:rPr lang="en-US" altLang="ko-KR" dirty="0">
                <a:hlinkClick r:id="rId8"/>
              </a:rPr>
              <a:t>Glama</a:t>
            </a:r>
            <a:r>
              <a:rPr lang="en-US" altLang="ko-KR" dirty="0"/>
              <a:t>  | </a:t>
            </a:r>
            <a:r>
              <a:rPr lang="en-US" altLang="ko-KR" dirty="0">
                <a:hlinkClick r:id="rId9"/>
              </a:rPr>
              <a:t>mcp.so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27" name="슬라이드 번호 개체 틀 26">
            <a:extLst>
              <a:ext uri="{FF2B5EF4-FFF2-40B4-BE49-F238E27FC236}">
                <a16:creationId xmlns:a16="http://schemas.microsoft.com/office/drawing/2014/main" id="{FD2BF20F-C058-8E3E-15E4-F464F7FCE56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D069905-AE10-E849-B625-D412908E376F}" type="slidenum">
              <a:rPr kumimoji="1" lang="ko-Kore-KR" altLang="en-US" smtClean="0"/>
              <a:pPr/>
              <a:t>7</a:t>
            </a:fld>
            <a:endParaRPr kumimoji="1" lang="ko-Kore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433564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0291C-6DB9-B5F7-581E-C31224C90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>
            <a:extLst>
              <a:ext uri="{FF2B5EF4-FFF2-40B4-BE49-F238E27FC236}">
                <a16:creationId xmlns:a16="http://schemas.microsoft.com/office/drawing/2014/main" id="{E34B7230-E8A6-EFC4-B3E9-AD5DCA2C55D8}"/>
              </a:ext>
            </a:extLst>
          </p:cNvPr>
          <p:cNvGrpSpPr/>
          <p:nvPr/>
        </p:nvGrpSpPr>
        <p:grpSpPr>
          <a:xfrm>
            <a:off x="2560320" y="958315"/>
            <a:ext cx="2011680" cy="384048"/>
            <a:chOff x="548640" y="1051560"/>
            <a:chExt cx="2011680" cy="384048"/>
          </a:xfrm>
        </p:grpSpPr>
        <p:sp>
          <p:nvSpPr>
            <p:cNvPr id="4" name="Shape 2">
              <a:extLst>
                <a:ext uri="{FF2B5EF4-FFF2-40B4-BE49-F238E27FC236}">
                  <a16:creationId xmlns:a16="http://schemas.microsoft.com/office/drawing/2014/main" id="{08A729A7-B204-91A8-6E13-0E1D786AFB28}"/>
                </a:ext>
              </a:extLst>
            </p:cNvPr>
            <p:cNvSpPr/>
            <p:nvPr/>
          </p:nvSpPr>
          <p:spPr>
            <a:xfrm>
              <a:off x="548640" y="1051560"/>
              <a:ext cx="2011680" cy="384048"/>
            </a:xfrm>
            <a:prstGeom prst="rect">
              <a:avLst/>
            </a:prstGeom>
            <a:noFill/>
            <a:ln w="19050">
              <a:solidFill>
                <a:srgbClr val="1E293B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retendard" panose="02000503000000020004" pitchFamily="50" charset="-127"/>
                <a:cs typeface="+mn-cs"/>
              </a:endParaRPr>
            </a:p>
          </p:txBody>
        </p:sp>
        <p:sp>
          <p:nvSpPr>
            <p:cNvPr id="5" name="Text 3">
              <a:extLst>
                <a:ext uri="{FF2B5EF4-FFF2-40B4-BE49-F238E27FC236}">
                  <a16:creationId xmlns:a16="http://schemas.microsoft.com/office/drawing/2014/main" id="{12DD5648-CEE6-F05E-675A-C7240DA1195E}"/>
                </a:ext>
              </a:extLst>
            </p:cNvPr>
            <p:cNvSpPr/>
            <p:nvPr/>
          </p:nvSpPr>
          <p:spPr>
            <a:xfrm>
              <a:off x="548640" y="1051560"/>
              <a:ext cx="20116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1E293B"/>
                  </a:solidFill>
                  <a:effectLst/>
                  <a:uLnTx/>
                  <a:uFillTx/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핵심 기능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aphicFrame>
        <p:nvGraphicFramePr>
          <p:cNvPr id="6" name="Table 0">
            <a:extLst>
              <a:ext uri="{FF2B5EF4-FFF2-40B4-BE49-F238E27FC236}">
                <a16:creationId xmlns:a16="http://schemas.microsoft.com/office/drawing/2014/main" id="{F8F71DC6-7E79-7AB7-ED2D-2BB74992A0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0714186"/>
              </p:ext>
            </p:extLst>
          </p:nvPr>
        </p:nvGraphicFramePr>
        <p:xfrm>
          <a:off x="548640" y="1519556"/>
          <a:ext cx="6583680" cy="2286000"/>
        </p:xfrm>
        <a:graphic>
          <a:graphicData uri="http://schemas.openxmlformats.org/drawingml/2006/table">
            <a:tbl>
              <a:tblPr/>
              <a:tblGrid>
                <a:gridCol w="11658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17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4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기능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용도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호출 의사결정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실제 호출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D94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Tools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외부 서비스 실행</a:t>
                      </a:r>
                      <a:r>
                        <a:rPr lang="en-US" sz="1400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 필요할 때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(API 호출, DB 변경, 메일 발송 등)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LLM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AI 앱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D94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Resources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서버가 가진 데이터를 참조</a:t>
                      </a:r>
                      <a:r>
                        <a:rPr lang="en-US" sz="1400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할 때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(설정값, 스키마, 이력 조회 등)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AI 앱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AI 앱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D94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Prompts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반복되는 작업을 </a:t>
                      </a:r>
                      <a:r>
                        <a:rPr lang="en-US" sz="1400" b="1" dirty="0" err="1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표준화된</a:t>
                      </a:r>
                      <a:r>
                        <a:rPr lang="en-US" sz="14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LLM </a:t>
                      </a:r>
                      <a:r>
                        <a:rPr lang="ko-KR" altLang="en-US" sz="14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프롬프트 </a:t>
                      </a:r>
                      <a:r>
                        <a:rPr lang="en-US" sz="1400" b="1" dirty="0" err="1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템플릿</a:t>
                      </a:r>
                      <a:r>
                        <a:rPr lang="en-US" sz="1400" dirty="0" err="1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으로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수행할 때 (코드 리뷰, 버그 분석 등)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 err="1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사용자</a:t>
                      </a:r>
                      <a:r>
                        <a:rPr lang="en-US" sz="1400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/AI</a:t>
                      </a:r>
                      <a:r>
                        <a:rPr lang="ko-KR" altLang="en-US" sz="1400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앱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AI 앱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3" name="그룹 12">
            <a:extLst>
              <a:ext uri="{FF2B5EF4-FFF2-40B4-BE49-F238E27FC236}">
                <a16:creationId xmlns:a16="http://schemas.microsoft.com/office/drawing/2014/main" id="{A28EBF62-38BF-1E60-B887-BD3D22B58690}"/>
              </a:ext>
            </a:extLst>
          </p:cNvPr>
          <p:cNvGrpSpPr/>
          <p:nvPr/>
        </p:nvGrpSpPr>
        <p:grpSpPr>
          <a:xfrm>
            <a:off x="9426946" y="958315"/>
            <a:ext cx="2926080" cy="384048"/>
            <a:chOff x="7498080" y="1051560"/>
            <a:chExt cx="2926080" cy="384048"/>
          </a:xfrm>
        </p:grpSpPr>
        <p:sp>
          <p:nvSpPr>
            <p:cNvPr id="7" name="Shape 4">
              <a:extLst>
                <a:ext uri="{FF2B5EF4-FFF2-40B4-BE49-F238E27FC236}">
                  <a16:creationId xmlns:a16="http://schemas.microsoft.com/office/drawing/2014/main" id="{1E544C85-1842-A621-7CCE-ABC1F65DD70F}"/>
                </a:ext>
              </a:extLst>
            </p:cNvPr>
            <p:cNvSpPr/>
            <p:nvPr/>
          </p:nvSpPr>
          <p:spPr>
            <a:xfrm>
              <a:off x="7498080" y="1051560"/>
              <a:ext cx="2926080" cy="384048"/>
            </a:xfrm>
            <a:prstGeom prst="rect">
              <a:avLst/>
            </a:prstGeom>
            <a:noFill/>
            <a:ln w="19050">
              <a:solidFill>
                <a:srgbClr val="1E293B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retendard" panose="02000503000000020004" pitchFamily="50" charset="-127"/>
                <a:cs typeface="+mn-cs"/>
              </a:endParaRPr>
            </a:p>
          </p:txBody>
        </p:sp>
        <p:sp>
          <p:nvSpPr>
            <p:cNvPr id="8" name="Text 5">
              <a:extLst>
                <a:ext uri="{FF2B5EF4-FFF2-40B4-BE49-F238E27FC236}">
                  <a16:creationId xmlns:a16="http://schemas.microsoft.com/office/drawing/2014/main" id="{01AED09D-B081-7F25-E488-04E04F76125A}"/>
                </a:ext>
              </a:extLst>
            </p:cNvPr>
            <p:cNvSpPr/>
            <p:nvPr/>
          </p:nvSpPr>
          <p:spPr>
            <a:xfrm>
              <a:off x="7498080" y="1051560"/>
              <a:ext cx="29260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1E293B"/>
                  </a:solidFill>
                  <a:effectLst/>
                  <a:uLnTx/>
                  <a:uFillTx/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4단계 생명주기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9" name="Image 0" descr="/sessions/nice-trusting-lovelace/mnt/aistudy/claude/images/lifecycle.png">
            <a:extLst>
              <a:ext uri="{FF2B5EF4-FFF2-40B4-BE49-F238E27FC236}">
                <a16:creationId xmlns:a16="http://schemas.microsoft.com/office/drawing/2014/main" id="{28853EBF-1098-D302-F344-AA79C828D9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844937"/>
            <a:ext cx="6583680" cy="3591098"/>
          </a:xfrm>
          <a:prstGeom prst="rect">
            <a:avLst/>
          </a:prstGeom>
        </p:spPr>
      </p:pic>
      <p:graphicFrame>
        <p:nvGraphicFramePr>
          <p:cNvPr id="10" name="Table 1">
            <a:extLst>
              <a:ext uri="{FF2B5EF4-FFF2-40B4-BE49-F238E27FC236}">
                <a16:creationId xmlns:a16="http://schemas.microsoft.com/office/drawing/2014/main" id="{466109BE-FFE2-FD64-1005-C0E3C23BA4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8569605"/>
              </p:ext>
            </p:extLst>
          </p:nvPr>
        </p:nvGraphicFramePr>
        <p:xfrm>
          <a:off x="7265584" y="1519558"/>
          <a:ext cx="7031602" cy="5828507"/>
        </p:xfrm>
        <a:graphic>
          <a:graphicData uri="http://schemas.openxmlformats.org/drawingml/2006/table">
            <a:tbl>
              <a:tblPr/>
              <a:tblGrid>
                <a:gridCol w="1071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0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601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162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단계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설명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FastMCP 명령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3718">
                <a:tc>
                  <a:txBody>
                    <a:bodyPr/>
                    <a:lstStyle/>
                    <a:p>
                      <a:pPr marL="0" indent="0" algn="ctr" latinLnBrk="0">
                        <a:buNone/>
                      </a:pPr>
                      <a:r>
                        <a:rPr lang="en-US" sz="1400" dirty="0">
                          <a:solidFill>
                            <a:srgbClr val="2C29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1단계</a:t>
                      </a:r>
                      <a:endParaRPr lang="en-US" sz="140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indent="0" algn="ctr" latinLnBrk="0">
                        <a:buNone/>
                      </a:pPr>
                      <a:r>
                        <a:rPr lang="en-US" sz="1600" b="1" dirty="0" err="1">
                          <a:solidFill>
                            <a:srgbClr val="2C29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초기화</a:t>
                      </a:r>
                      <a:r>
                        <a:rPr lang="en-US" sz="1600" b="1" dirty="0">
                          <a:solidFill>
                            <a:srgbClr val="2C29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br>
                        <a:rPr lang="en-US" sz="1600" b="1" dirty="0">
                          <a:solidFill>
                            <a:srgbClr val="2C29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sz="1600" b="1" dirty="0" err="1">
                          <a:solidFill>
                            <a:srgbClr val="2C29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요청</a:t>
                      </a:r>
                      <a:r>
                        <a:rPr lang="en-US" sz="1600" b="1" dirty="0">
                          <a:solidFill>
                            <a:srgbClr val="2C29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/응답</a:t>
                      </a:r>
                      <a:endParaRPr lang="en-US" sz="1600" b="1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latinLnBrk="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err="1">
                          <a:solidFill>
                            <a:srgbClr val="2C29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프로토콜</a:t>
                      </a:r>
                      <a:r>
                        <a:rPr lang="en-US" sz="1400" dirty="0">
                          <a:solidFill>
                            <a:srgbClr val="2C29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sz="1400" dirty="0" err="1">
                          <a:solidFill>
                            <a:srgbClr val="2C29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버전</a:t>
                      </a:r>
                      <a:endParaRPr lang="en-US" sz="1400" dirty="0">
                        <a:solidFill>
                          <a:srgbClr val="2C2926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indent="-171450" algn="l" latinLnBrk="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err="1">
                          <a:solidFill>
                            <a:srgbClr val="2C29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지원</a:t>
                      </a:r>
                      <a:r>
                        <a:rPr lang="en-US" sz="1400" dirty="0">
                          <a:solidFill>
                            <a:srgbClr val="2C29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기</a:t>
                      </a:r>
                      <a:r>
                        <a:rPr lang="ko-KR" altLang="en-US" sz="1400" dirty="0">
                          <a:solidFill>
                            <a:srgbClr val="2C29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능 종류</a:t>
                      </a:r>
                      <a:r>
                        <a:rPr lang="en-US" altLang="ko-KR" sz="1200" dirty="0">
                          <a:solidFill>
                            <a:srgbClr val="2C29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: Tools/Resources/Prompts</a:t>
                      </a:r>
                      <a:endParaRPr lang="en-US" altLang="ko-KR" sz="1400" dirty="0">
                        <a:solidFill>
                          <a:srgbClr val="2C2926"/>
                        </a:solidFill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171450" indent="-171450" algn="l" latinLnBrk="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solidFill>
                            <a:srgbClr val="2C29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Client/Server 앱 </a:t>
                      </a:r>
                      <a:r>
                        <a:rPr lang="en-US" sz="1400" dirty="0" err="1">
                          <a:solidFill>
                            <a:srgbClr val="2C29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이름</a:t>
                      </a:r>
                      <a:r>
                        <a:rPr lang="en-US" sz="1400" dirty="0">
                          <a:solidFill>
                            <a:srgbClr val="2C29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/</a:t>
                      </a:r>
                      <a:br>
                        <a:rPr lang="en-US" sz="1400" dirty="0">
                          <a:solidFill>
                            <a:srgbClr val="2C29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sz="1400" dirty="0" err="1">
                          <a:solidFill>
                            <a:srgbClr val="2C29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버전</a:t>
                      </a:r>
                      <a:r>
                        <a:rPr lang="en-US" sz="1400" dirty="0">
                          <a:solidFill>
                            <a:srgbClr val="2C29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교환</a:t>
                      </a:r>
                      <a:endParaRPr lang="en-US" sz="140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0">
                        <a:buNone/>
                      </a:pPr>
                      <a:r>
                        <a:rPr lang="en-US" sz="1400" dirty="0">
                          <a:solidFill>
                            <a:srgbClr val="2C29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session.</a:t>
                      </a:r>
                      <a:r>
                        <a:rPr lang="en-US" sz="1600" b="1" dirty="0">
                          <a:solidFill>
                            <a:srgbClr val="2C29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initialize</a:t>
                      </a:r>
                      <a:r>
                        <a:rPr lang="en-US" sz="1400" dirty="0">
                          <a:solidFill>
                            <a:srgbClr val="2C29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()</a:t>
                      </a:r>
                      <a:endParaRPr lang="en-US" sz="140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5315">
                <a:tc>
                  <a:txBody>
                    <a:bodyPr/>
                    <a:lstStyle/>
                    <a:p>
                      <a:pPr marL="0" indent="0" algn="ctr" latinLnBrk="0">
                        <a:buNone/>
                      </a:pPr>
                      <a:r>
                        <a:rPr lang="en-US" sz="1400" dirty="0">
                          <a:solidFill>
                            <a:srgbClr val="2C29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2단계</a:t>
                      </a:r>
                      <a:endParaRPr lang="en-US" sz="140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indent="0" algn="ctr" latinLnBrk="0">
                        <a:buNone/>
                      </a:pPr>
                      <a:r>
                        <a:rPr lang="en-US" sz="1600" b="1" dirty="0" err="1">
                          <a:solidFill>
                            <a:srgbClr val="2C29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초기화</a:t>
                      </a:r>
                      <a:r>
                        <a:rPr lang="en-US" sz="1600" b="1" dirty="0">
                          <a:solidFill>
                            <a:srgbClr val="2C29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</a:t>
                      </a:r>
                      <a:br>
                        <a:rPr lang="en-US" sz="1600" b="1" dirty="0">
                          <a:solidFill>
                            <a:srgbClr val="2C29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sz="1600" b="1" dirty="0" err="1">
                          <a:solidFill>
                            <a:srgbClr val="2C29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완료</a:t>
                      </a:r>
                      <a:r>
                        <a:rPr lang="en-US" sz="1600" b="1" dirty="0">
                          <a:solidFill>
                            <a:srgbClr val="2C29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알림</a:t>
                      </a:r>
                      <a:endParaRPr lang="en-US" sz="1600" b="1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0">
                        <a:buNone/>
                      </a:pPr>
                      <a:r>
                        <a:rPr lang="en-US" sz="1400" dirty="0">
                          <a:solidFill>
                            <a:srgbClr val="2C29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양방향 통신 준비</a:t>
                      </a:r>
                      <a:endParaRPr lang="en-US" sz="140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0">
                        <a:buNone/>
                      </a:pPr>
                      <a:r>
                        <a:rPr lang="en-US" sz="1400" dirty="0">
                          <a:solidFill>
                            <a:srgbClr val="2C29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session.</a:t>
                      </a:r>
                      <a:r>
                        <a:rPr lang="en-US" sz="1600" b="1" dirty="0">
                          <a:solidFill>
                            <a:srgbClr val="2C29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initialize</a:t>
                      </a:r>
                      <a:r>
                        <a:rPr lang="en-US" sz="1400" dirty="0">
                          <a:solidFill>
                            <a:srgbClr val="2C29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()</a:t>
                      </a:r>
                      <a:endParaRPr lang="en-US" sz="140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6622">
                <a:tc>
                  <a:txBody>
                    <a:bodyPr/>
                    <a:lstStyle/>
                    <a:p>
                      <a:pPr marL="0" indent="0" algn="ctr" latinLnBrk="0">
                        <a:buNone/>
                      </a:pPr>
                      <a:r>
                        <a:rPr lang="en-US" sz="1400" dirty="0">
                          <a:solidFill>
                            <a:srgbClr val="2C29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3단계</a:t>
                      </a:r>
                      <a:endParaRPr lang="en-US" sz="140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indent="0" algn="ctr" latinLnBrk="0">
                        <a:buNone/>
                      </a:pPr>
                      <a:r>
                        <a:rPr lang="en-US" sz="1600" b="1" dirty="0">
                          <a:solidFill>
                            <a:srgbClr val="2C29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작업 수행</a:t>
                      </a:r>
                      <a:endParaRPr lang="en-US" sz="1600" b="1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0">
                        <a:buNone/>
                      </a:pPr>
                      <a:r>
                        <a:rPr lang="en-US" sz="1400" dirty="0">
                          <a:solidFill>
                            <a:srgbClr val="2C29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도구/리소스/프롬프트의</a:t>
                      </a:r>
                      <a:endParaRPr lang="en-US" sz="140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indent="0" algn="l" latinLnBrk="0">
                        <a:buNone/>
                      </a:pPr>
                      <a:r>
                        <a:rPr lang="en-US" sz="1400" dirty="0">
                          <a:solidFill>
                            <a:srgbClr val="2C29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목록 조회 및 실행 요청 수행</a:t>
                      </a:r>
                      <a:endParaRPr lang="en-US" sz="140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0">
                        <a:buNone/>
                      </a:pPr>
                      <a:r>
                        <a:rPr lang="en-US" sz="1400" dirty="0">
                          <a:solidFill>
                            <a:srgbClr val="2C29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도구 목록: </a:t>
                      </a:r>
                      <a:br>
                        <a:rPr lang="en-US" sz="1400" dirty="0">
                          <a:solidFill>
                            <a:srgbClr val="2C29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sz="1400" dirty="0">
                          <a:solidFill>
                            <a:srgbClr val="2C29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</a:t>
                      </a:r>
                      <a:r>
                        <a:rPr lang="en-US" sz="1400" dirty="0" err="1">
                          <a:solidFill>
                            <a:srgbClr val="2C29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session.</a:t>
                      </a:r>
                      <a:r>
                        <a:rPr lang="en-US" sz="1600" b="1" dirty="0" err="1">
                          <a:solidFill>
                            <a:srgbClr val="2C29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list_tools</a:t>
                      </a:r>
                      <a:r>
                        <a:rPr lang="en-US" sz="1400" dirty="0">
                          <a:solidFill>
                            <a:srgbClr val="2C29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()</a:t>
                      </a:r>
                      <a:endParaRPr lang="en-US" sz="140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indent="0" algn="l" latinLnBrk="0">
                        <a:buNone/>
                      </a:pPr>
                      <a:r>
                        <a:rPr lang="en-US" sz="1400" dirty="0">
                          <a:solidFill>
                            <a:srgbClr val="2C29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도구 실행: </a:t>
                      </a:r>
                      <a:br>
                        <a:rPr lang="en-US" sz="1400" dirty="0">
                          <a:solidFill>
                            <a:srgbClr val="2C29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sz="1400" dirty="0">
                          <a:solidFill>
                            <a:srgbClr val="2C29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</a:t>
                      </a:r>
                      <a:r>
                        <a:rPr lang="en-US" sz="1400" dirty="0" err="1">
                          <a:solidFill>
                            <a:srgbClr val="2C29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session.</a:t>
                      </a:r>
                      <a:r>
                        <a:rPr lang="en-US" sz="1600" b="1" dirty="0" err="1">
                          <a:solidFill>
                            <a:srgbClr val="2C29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call_tool</a:t>
                      </a:r>
                      <a:r>
                        <a:rPr lang="en-US" sz="1400" dirty="0">
                          <a:solidFill>
                            <a:srgbClr val="2C29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("이름", arguments={...})</a:t>
                      </a:r>
                      <a:endParaRPr lang="en-US" sz="140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indent="0" algn="l" latinLnBrk="0">
                        <a:buNone/>
                      </a:pPr>
                      <a:r>
                        <a:rPr lang="en-US" sz="1400" dirty="0">
                          <a:solidFill>
                            <a:srgbClr val="2C29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리소스 목록: </a:t>
                      </a:r>
                      <a:br>
                        <a:rPr lang="en-US" sz="1400" dirty="0">
                          <a:solidFill>
                            <a:srgbClr val="2C29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sz="1400" dirty="0">
                          <a:solidFill>
                            <a:srgbClr val="2C29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</a:t>
                      </a:r>
                      <a:r>
                        <a:rPr lang="en-US" sz="1400" dirty="0" err="1">
                          <a:solidFill>
                            <a:srgbClr val="2C29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session.</a:t>
                      </a:r>
                      <a:r>
                        <a:rPr lang="en-US" sz="1600" b="1" dirty="0" err="1">
                          <a:solidFill>
                            <a:srgbClr val="2C29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list_resources</a:t>
                      </a:r>
                      <a:r>
                        <a:rPr lang="en-US" sz="1400" dirty="0">
                          <a:solidFill>
                            <a:srgbClr val="2C29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()</a:t>
                      </a:r>
                      <a:endParaRPr lang="en-US" sz="140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indent="0" algn="l" latinLnBrk="0">
                        <a:buNone/>
                      </a:pPr>
                      <a:r>
                        <a:rPr lang="en-US" sz="1400" dirty="0">
                          <a:solidFill>
                            <a:srgbClr val="2C29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리소스 읽기: </a:t>
                      </a:r>
                      <a:br>
                        <a:rPr lang="en-US" sz="1400" dirty="0">
                          <a:solidFill>
                            <a:srgbClr val="2C29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sz="1400" dirty="0">
                          <a:solidFill>
                            <a:srgbClr val="2C29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</a:t>
                      </a:r>
                      <a:r>
                        <a:rPr lang="en-US" sz="1400" dirty="0" err="1">
                          <a:solidFill>
                            <a:srgbClr val="2C29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session.</a:t>
                      </a:r>
                      <a:r>
                        <a:rPr lang="en-US" sz="1600" b="1" dirty="0" err="1">
                          <a:solidFill>
                            <a:srgbClr val="2C29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read_resource</a:t>
                      </a:r>
                      <a:r>
                        <a:rPr lang="en-US" sz="1600" b="1" dirty="0">
                          <a:solidFill>
                            <a:srgbClr val="2C29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("URI")</a:t>
                      </a:r>
                      <a:endParaRPr lang="en-US" sz="1400" b="1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indent="0" algn="l" latinLnBrk="0">
                        <a:buNone/>
                      </a:pPr>
                      <a:r>
                        <a:rPr lang="en-US" sz="1400" dirty="0">
                          <a:solidFill>
                            <a:srgbClr val="2C29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프롬프트 목록: </a:t>
                      </a:r>
                      <a:br>
                        <a:rPr lang="en-US" sz="1400" dirty="0">
                          <a:solidFill>
                            <a:srgbClr val="2C29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sz="1400" dirty="0">
                          <a:solidFill>
                            <a:srgbClr val="2C29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</a:t>
                      </a:r>
                      <a:r>
                        <a:rPr lang="en-US" sz="1400" dirty="0" err="1">
                          <a:solidFill>
                            <a:srgbClr val="2C29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session.</a:t>
                      </a:r>
                      <a:r>
                        <a:rPr lang="en-US" sz="1600" b="1" dirty="0" err="1">
                          <a:solidFill>
                            <a:srgbClr val="2C29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list_prompts</a:t>
                      </a:r>
                      <a:r>
                        <a:rPr lang="en-US" sz="1400" dirty="0">
                          <a:solidFill>
                            <a:srgbClr val="2C29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()</a:t>
                      </a:r>
                      <a:endParaRPr lang="en-US" sz="140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indent="0" algn="l" latinLnBrk="0">
                        <a:buNone/>
                      </a:pPr>
                      <a:r>
                        <a:rPr lang="en-US" sz="1400" dirty="0">
                          <a:solidFill>
                            <a:srgbClr val="2C29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- 프롬프트 읽기: </a:t>
                      </a:r>
                      <a:br>
                        <a:rPr lang="en-US" sz="1400" dirty="0">
                          <a:solidFill>
                            <a:srgbClr val="2C29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</a:br>
                      <a:r>
                        <a:rPr lang="en-US" sz="1400" dirty="0">
                          <a:solidFill>
                            <a:srgbClr val="2C29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  </a:t>
                      </a:r>
                      <a:r>
                        <a:rPr lang="en-US" sz="1400" dirty="0" err="1">
                          <a:solidFill>
                            <a:srgbClr val="2C29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session.</a:t>
                      </a:r>
                      <a:r>
                        <a:rPr lang="en-US" sz="1600" b="1" dirty="0" err="1">
                          <a:solidFill>
                            <a:srgbClr val="2C29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get_prompt</a:t>
                      </a:r>
                      <a:r>
                        <a:rPr lang="en-US" sz="1400" dirty="0">
                          <a:solidFill>
                            <a:srgbClr val="2C29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("이름", arguments={...})</a:t>
                      </a:r>
                      <a:endParaRPr lang="en-US" sz="140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8295">
                <a:tc>
                  <a:txBody>
                    <a:bodyPr/>
                    <a:lstStyle/>
                    <a:p>
                      <a:pPr marL="0" indent="0" algn="ctr" latinLnBrk="0">
                        <a:buNone/>
                      </a:pPr>
                      <a:r>
                        <a:rPr lang="en-US" sz="1400" dirty="0">
                          <a:solidFill>
                            <a:srgbClr val="2C29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4단계</a:t>
                      </a:r>
                      <a:endParaRPr lang="en-US" sz="140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  <a:p>
                      <a:pPr marL="0" indent="0" algn="ctr" latinLnBrk="0">
                        <a:buNone/>
                      </a:pPr>
                      <a:r>
                        <a:rPr lang="en-US" sz="1600" b="1" dirty="0">
                          <a:solidFill>
                            <a:srgbClr val="2C29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종료</a:t>
                      </a:r>
                      <a:endParaRPr lang="en-US" sz="1600" b="1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0">
                        <a:buNone/>
                      </a:pPr>
                      <a:r>
                        <a:rPr lang="en-US" sz="1400" dirty="0">
                          <a:solidFill>
                            <a:srgbClr val="2C29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연결 종료</a:t>
                      </a:r>
                      <a:endParaRPr lang="en-US" sz="140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0">
                        <a:buNone/>
                      </a:pPr>
                      <a:r>
                        <a:rPr lang="en-US" sz="1400" dirty="0">
                          <a:solidFill>
                            <a:srgbClr val="2C2926"/>
                          </a:solidFill>
                          <a:latin typeface="Pretendard" panose="02000503000000020004" pitchFamily="50" charset="-127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a:t>자동 종료</a:t>
                      </a:r>
                      <a:endParaRPr lang="en-US" sz="1400" dirty="0">
                        <a:latin typeface="Pretendard" panose="02000503000000020004" pitchFamily="50" charset="-127"/>
                        <a:ea typeface="Pretendard" panose="02000503000000020004" pitchFamily="50" charset="-127"/>
                        <a:cs typeface="Pretendard" panose="0200050300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제목 10">
            <a:extLst>
              <a:ext uri="{FF2B5EF4-FFF2-40B4-BE49-F238E27FC236}">
                <a16:creationId xmlns:a16="http://schemas.microsoft.com/office/drawing/2014/main" id="{8C44B948-9DB4-EC8F-5941-57424F2EB8C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48641" y="100013"/>
            <a:ext cx="14081760" cy="8286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/>
            <a:r>
              <a:rPr lang="en-US" altLang="ko-KR" sz="3200" b="1" dirty="0" err="1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나만의</a:t>
            </a:r>
            <a:r>
              <a:rPr lang="en-US" altLang="ko-KR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MCP </a:t>
            </a:r>
            <a:r>
              <a:rPr lang="en-US" altLang="ko-KR" sz="3200" b="1" dirty="0" err="1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만들기</a:t>
            </a:r>
            <a:r>
              <a:rPr lang="en-US" altLang="ko-KR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MCP</a:t>
            </a:r>
            <a:r>
              <a:rPr lang="ko-KR" alt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핵심 기능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3EF7673-9E58-8651-CB3B-35680EEF7B8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D069905-AE10-E849-B625-D412908E376F}" type="slidenum">
              <a:rPr kumimoji="1" lang="ko-Kore-KR" altLang="en-US" smtClean="0"/>
              <a:pPr/>
              <a:t>8</a:t>
            </a:fld>
            <a:endParaRPr kumimoji="1" lang="ko-Kore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90C986-52B7-A25C-F425-276813F29FE4}"/>
              </a:ext>
            </a:extLst>
          </p:cNvPr>
          <p:cNvSpPr txBox="1"/>
          <p:nvPr/>
        </p:nvSpPr>
        <p:spPr>
          <a:xfrm>
            <a:off x="13488616" y="1034586"/>
            <a:ext cx="8085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hlinkClick r:id="rId4"/>
              </a:rPr>
              <a:t>상세교재</a:t>
            </a:r>
            <a:endParaRPr lang="ko-KR" alt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476F3C-A975-11BE-EA71-2638E4558E1F}"/>
              </a:ext>
            </a:extLst>
          </p:cNvPr>
          <p:cNvSpPr txBox="1"/>
          <p:nvPr/>
        </p:nvSpPr>
        <p:spPr>
          <a:xfrm>
            <a:off x="7265584" y="7390321"/>
            <a:ext cx="6400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r">
              <a:defRPr sz="14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pPr algn="l"/>
            <a:r>
              <a:rPr lang="en-US" altLang="ko-KR" dirty="0"/>
              <a:t>※ </a:t>
            </a:r>
            <a:r>
              <a:rPr lang="en-US" altLang="ko-KR" dirty="0" err="1"/>
              <a:t>FastMCP</a:t>
            </a:r>
            <a:r>
              <a:rPr lang="en-US" altLang="ko-KR" dirty="0"/>
              <a:t>: MCP </a:t>
            </a:r>
            <a:r>
              <a:rPr lang="ko-KR" altLang="en-US" dirty="0"/>
              <a:t>개발 라이브러리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339B85-43A3-AA21-754D-56BBFB7C51B5}"/>
              </a:ext>
            </a:extLst>
          </p:cNvPr>
          <p:cNvSpPr txBox="1"/>
          <p:nvPr/>
        </p:nvSpPr>
        <p:spPr>
          <a:xfrm>
            <a:off x="6323750" y="1034586"/>
            <a:ext cx="8085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hlinkClick r:id="rId5"/>
              </a:rPr>
              <a:t>상세교재</a:t>
            </a:r>
            <a:endParaRPr lang="ko-KR" alt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101576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3315E-488E-2174-7A8E-1F0BEF62B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354FE11-F6C9-0867-97F1-3A59EBC44B54}"/>
              </a:ext>
            </a:extLst>
          </p:cNvPr>
          <p:cNvGrpSpPr/>
          <p:nvPr/>
        </p:nvGrpSpPr>
        <p:grpSpPr>
          <a:xfrm>
            <a:off x="1100683" y="4801456"/>
            <a:ext cx="3960000" cy="2588805"/>
            <a:chOff x="548640" y="1920240"/>
            <a:chExt cx="6400800" cy="5029200"/>
          </a:xfrm>
        </p:grpSpPr>
        <p:sp>
          <p:nvSpPr>
            <p:cNvPr id="6" name="Shape 4">
              <a:extLst>
                <a:ext uri="{FF2B5EF4-FFF2-40B4-BE49-F238E27FC236}">
                  <a16:creationId xmlns:a16="http://schemas.microsoft.com/office/drawing/2014/main" id="{017B2A11-8323-3EBA-3564-8B05A5B09CAF}"/>
                </a:ext>
              </a:extLst>
            </p:cNvPr>
            <p:cNvSpPr/>
            <p:nvPr/>
          </p:nvSpPr>
          <p:spPr>
            <a:xfrm>
              <a:off x="548640" y="1920240"/>
              <a:ext cx="6400800" cy="5029200"/>
            </a:xfrm>
            <a:prstGeom prst="rect">
              <a:avLst/>
            </a:prstGeom>
            <a:solidFill>
              <a:srgbClr val="F8F9FA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7" name="Text 5">
              <a:extLst>
                <a:ext uri="{FF2B5EF4-FFF2-40B4-BE49-F238E27FC236}">
                  <a16:creationId xmlns:a16="http://schemas.microsoft.com/office/drawing/2014/main" id="{F7D5DEB6-604A-AD3D-9852-B5F9B5E79B81}"/>
                </a:ext>
              </a:extLst>
            </p:cNvPr>
            <p:cNvSpPr/>
            <p:nvPr/>
          </p:nvSpPr>
          <p:spPr>
            <a:xfrm>
              <a:off x="685800" y="2011680"/>
              <a:ext cx="6126480" cy="4846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C2926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async def main():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C2926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 async with stdio_client(params) as (read, write):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C2926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   async with ClientSession(read, write)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C2926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     as session: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C2926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     await </a:t>
              </a:r>
              <a:r>
                <a:rPr kumimoji="0" lang="en-US" sz="12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2C2926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session.initialize</a:t>
              </a: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2C2926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()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C2926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     tools = await </a:t>
              </a: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2C2926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session.list_tools()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C2926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     result = await </a:t>
              </a: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2C2926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session.call_tool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C2926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(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C2926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         "get_weather",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C2926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         arguments={"city": "Seoul"}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C2926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     )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C2926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     print(result.content)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C2926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     # 출력: Seoul: 15°C, 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2C2926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맑음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C2926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asyncio.run(main())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FE1367F7-6D31-E284-3C83-0227B8896BF1}"/>
              </a:ext>
            </a:extLst>
          </p:cNvPr>
          <p:cNvGrpSpPr/>
          <p:nvPr/>
        </p:nvGrpSpPr>
        <p:grpSpPr>
          <a:xfrm>
            <a:off x="1076004" y="1739723"/>
            <a:ext cx="3960000" cy="2142586"/>
            <a:chOff x="7315200" y="1920240"/>
            <a:chExt cx="6766560" cy="5029200"/>
          </a:xfrm>
        </p:grpSpPr>
        <p:sp>
          <p:nvSpPr>
            <p:cNvPr id="9" name="Shape 7">
              <a:extLst>
                <a:ext uri="{FF2B5EF4-FFF2-40B4-BE49-F238E27FC236}">
                  <a16:creationId xmlns:a16="http://schemas.microsoft.com/office/drawing/2014/main" id="{94FA28EB-9DE3-C5CB-9DA9-9758C06242EB}"/>
                </a:ext>
              </a:extLst>
            </p:cNvPr>
            <p:cNvSpPr/>
            <p:nvPr/>
          </p:nvSpPr>
          <p:spPr>
            <a:xfrm>
              <a:off x="7315200" y="1920240"/>
              <a:ext cx="6766560" cy="5029200"/>
            </a:xfrm>
            <a:prstGeom prst="rect">
              <a:avLst/>
            </a:prstGeom>
            <a:solidFill>
              <a:srgbClr val="F8F9FA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0" name="Text 8">
              <a:extLst>
                <a:ext uri="{FF2B5EF4-FFF2-40B4-BE49-F238E27FC236}">
                  <a16:creationId xmlns:a16="http://schemas.microsoft.com/office/drawing/2014/main" id="{BB5529D3-BC1B-DC0B-5E43-62771540756C}"/>
                </a:ext>
              </a:extLst>
            </p:cNvPr>
            <p:cNvSpPr/>
            <p:nvPr/>
          </p:nvSpPr>
          <p:spPr>
            <a:xfrm>
              <a:off x="7452360" y="2011680"/>
              <a:ext cx="6492240" cy="4846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C2926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from mcp.server.fastmcp import FastMCP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C2926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mcp = FastMCP("MyServer")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C2926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# @mcp.tool() 데코레이터로 도구 등록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C2926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@mcp.tool()                                           </a:t>
              </a: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2C2926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# </a:t>
              </a:r>
              <a:r>
                <a:rPr kumimoji="0" lang="ko-KR" altLang="en-US" sz="12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2C2926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데코레이터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C2926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C2926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def get_weather(city: str) -&gt; str:        </a:t>
              </a: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2C2926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# </a:t>
              </a:r>
              <a:r>
                <a:rPr kumimoji="0" lang="ko-KR" altLang="en-US" sz="12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2C2926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타입힌트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C2926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   """도시의 현재 날씨를 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2C2926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조회합니다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C2926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.""“   </a:t>
              </a: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2C2926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# docstring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C2926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   # 실제로는 API 호출 등 수행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C2926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   return f"{city}: 15°C, 맑음"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11" name="제목 10">
            <a:extLst>
              <a:ext uri="{FF2B5EF4-FFF2-40B4-BE49-F238E27FC236}">
                <a16:creationId xmlns:a16="http://schemas.microsoft.com/office/drawing/2014/main" id="{978B2A71-F7F0-3198-754C-6DC10A63685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71475" y="100013"/>
            <a:ext cx="14258925" cy="8286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/>
            <a:r>
              <a:rPr lang="en-US" altLang="ko-KR" sz="3200" b="1" dirty="0" err="1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나만의</a:t>
            </a:r>
            <a:r>
              <a:rPr lang="en-US" altLang="ko-KR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MCP </a:t>
            </a:r>
            <a:r>
              <a:rPr lang="en-US" altLang="ko-KR" sz="3200" b="1" dirty="0" err="1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만들기</a:t>
            </a:r>
            <a:r>
              <a:rPr lang="en-US" altLang="ko-KR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MCP</a:t>
            </a:r>
            <a:r>
              <a:rPr lang="ko-KR" alt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핵심 기능 예제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B6C55415-07E5-A285-D4B0-D68FBC1A288E}"/>
              </a:ext>
            </a:extLst>
          </p:cNvPr>
          <p:cNvGrpSpPr/>
          <p:nvPr/>
        </p:nvGrpSpPr>
        <p:grpSpPr>
          <a:xfrm>
            <a:off x="5708582" y="1736382"/>
            <a:ext cx="3960000" cy="2145927"/>
            <a:chOff x="7315200" y="2418508"/>
            <a:chExt cx="6766560" cy="5029200"/>
          </a:xfrm>
        </p:grpSpPr>
        <p:sp>
          <p:nvSpPr>
            <p:cNvPr id="14" name="Shape 7">
              <a:extLst>
                <a:ext uri="{FF2B5EF4-FFF2-40B4-BE49-F238E27FC236}">
                  <a16:creationId xmlns:a16="http://schemas.microsoft.com/office/drawing/2014/main" id="{C2614B7C-4509-D872-D9BB-8FC743FA6FB0}"/>
                </a:ext>
              </a:extLst>
            </p:cNvPr>
            <p:cNvSpPr/>
            <p:nvPr/>
          </p:nvSpPr>
          <p:spPr>
            <a:xfrm>
              <a:off x="7315200" y="2418508"/>
              <a:ext cx="6766560" cy="5029200"/>
            </a:xfrm>
            <a:prstGeom prst="rect">
              <a:avLst/>
            </a:prstGeom>
            <a:solidFill>
              <a:srgbClr val="F8F9FA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5" name="Text 8">
              <a:extLst>
                <a:ext uri="{FF2B5EF4-FFF2-40B4-BE49-F238E27FC236}">
                  <a16:creationId xmlns:a16="http://schemas.microsoft.com/office/drawing/2014/main" id="{A55A692E-CF54-416C-E164-ACB6BD4985B8}"/>
                </a:ext>
              </a:extLst>
            </p:cNvPr>
            <p:cNvSpPr/>
            <p:nvPr/>
          </p:nvSpPr>
          <p:spPr>
            <a:xfrm>
              <a:off x="7452360" y="2509948"/>
              <a:ext cx="6492240" cy="4846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C2926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mcp = FastMCP("MyServer")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C2926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history: list[str] = []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C2926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@mcp.resource("calc://history")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C2926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def get_history() -&gt; str: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C2926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   """지금까지의 계산 이력을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C2926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   반환합니다."""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C2926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   if not history: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C2926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       return "계산 기록이 없습니다."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C2926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   return "\n".join(history)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1A5C35B1-400E-9B2C-4259-49BF012995D3}"/>
              </a:ext>
            </a:extLst>
          </p:cNvPr>
          <p:cNvGrpSpPr/>
          <p:nvPr/>
        </p:nvGrpSpPr>
        <p:grpSpPr>
          <a:xfrm>
            <a:off x="5720922" y="4801458"/>
            <a:ext cx="3960000" cy="2588804"/>
            <a:chOff x="548640" y="2418508"/>
            <a:chExt cx="6400800" cy="5029200"/>
          </a:xfrm>
        </p:grpSpPr>
        <p:sp>
          <p:nvSpPr>
            <p:cNvPr id="20" name="Shape 4">
              <a:extLst>
                <a:ext uri="{FF2B5EF4-FFF2-40B4-BE49-F238E27FC236}">
                  <a16:creationId xmlns:a16="http://schemas.microsoft.com/office/drawing/2014/main" id="{9B46D97B-4897-6E66-3059-D23978397CE8}"/>
                </a:ext>
              </a:extLst>
            </p:cNvPr>
            <p:cNvSpPr/>
            <p:nvPr/>
          </p:nvSpPr>
          <p:spPr>
            <a:xfrm>
              <a:off x="548640" y="2418508"/>
              <a:ext cx="6400800" cy="5029200"/>
            </a:xfrm>
            <a:prstGeom prst="rect">
              <a:avLst/>
            </a:prstGeom>
            <a:solidFill>
              <a:srgbClr val="F8F9FA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21" name="Text 5">
              <a:extLst>
                <a:ext uri="{FF2B5EF4-FFF2-40B4-BE49-F238E27FC236}">
                  <a16:creationId xmlns:a16="http://schemas.microsoft.com/office/drawing/2014/main" id="{D0A0C414-76B7-B544-E525-C8E2677FB324}"/>
                </a:ext>
              </a:extLst>
            </p:cNvPr>
            <p:cNvSpPr/>
            <p:nvPr/>
          </p:nvSpPr>
          <p:spPr>
            <a:xfrm>
              <a:off x="685800" y="2509948"/>
              <a:ext cx="6126480" cy="4846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C2926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async with stdio_client(params)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C2926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 as (read, write):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C2926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 async with ClientSession(read, write)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C2926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   as session: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C2926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   await </a:t>
              </a:r>
              <a:r>
                <a:rPr kumimoji="0" lang="en-US" sz="12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2C2926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session.initialize</a:t>
              </a: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2C2926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()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C2926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   resources = await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C2926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     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2C2926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session.</a:t>
              </a:r>
              <a:r>
                <a:rPr kumimoji="0" lang="en-US" sz="12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2C2926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list_resources</a:t>
              </a: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2C2926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()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C2926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   resource = await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C2926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     session.</a:t>
              </a: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2C2926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read_resource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C2926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(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C2926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       "calc://history")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C2926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   print(resource.contents)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C2926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   # 출력: 1. 3 + 5 = 8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C2926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   #       2. 10 ÷ 3 = 3.333...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28EB1695-EC06-1254-BC25-424B564707A2}"/>
              </a:ext>
            </a:extLst>
          </p:cNvPr>
          <p:cNvGrpSpPr/>
          <p:nvPr/>
        </p:nvGrpSpPr>
        <p:grpSpPr>
          <a:xfrm>
            <a:off x="10341160" y="1730603"/>
            <a:ext cx="3960000" cy="2151706"/>
            <a:chOff x="7132320" y="2074446"/>
            <a:chExt cx="6949440" cy="4315568"/>
          </a:xfrm>
        </p:grpSpPr>
        <p:sp>
          <p:nvSpPr>
            <p:cNvPr id="23" name="Shape 6">
              <a:extLst>
                <a:ext uri="{FF2B5EF4-FFF2-40B4-BE49-F238E27FC236}">
                  <a16:creationId xmlns:a16="http://schemas.microsoft.com/office/drawing/2014/main" id="{D5D48F7B-FAC6-0871-2187-21045445F8A2}"/>
                </a:ext>
              </a:extLst>
            </p:cNvPr>
            <p:cNvSpPr/>
            <p:nvPr/>
          </p:nvSpPr>
          <p:spPr>
            <a:xfrm>
              <a:off x="7132320" y="2074446"/>
              <a:ext cx="6949440" cy="4315567"/>
            </a:xfrm>
            <a:prstGeom prst="rect">
              <a:avLst/>
            </a:prstGeom>
            <a:solidFill>
              <a:srgbClr val="F8F9FA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24" name="Text 7">
              <a:extLst>
                <a:ext uri="{FF2B5EF4-FFF2-40B4-BE49-F238E27FC236}">
                  <a16:creationId xmlns:a16="http://schemas.microsoft.com/office/drawing/2014/main" id="{C30FE98D-A65F-E255-98CB-37049FF9E996}"/>
                </a:ext>
              </a:extLst>
            </p:cNvPr>
            <p:cNvSpPr/>
            <p:nvPr/>
          </p:nvSpPr>
          <p:spPr>
            <a:xfrm>
              <a:off x="7269480" y="2165887"/>
              <a:ext cx="6675120" cy="422412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2C2926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mcp</a:t>
              </a: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C2926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= </a:t>
              </a:r>
              <a:r>
                <a:rPr kumimoji="0" lang="en-US" altLang="ko-KR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2C2926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FastMCP</a:t>
              </a: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C2926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("</a:t>
              </a:r>
              <a:r>
                <a:rPr kumimoji="0" lang="en-US" altLang="ko-KR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2C2926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MyServer</a:t>
              </a: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C2926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")</a:t>
              </a:r>
            </a:p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C2926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@mcp.prompt()</a:t>
              </a:r>
            </a:p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C2926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def </a:t>
              </a:r>
              <a:r>
                <a:rPr kumimoji="0" lang="en-US" altLang="ko-KR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2C2926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code_review</a:t>
              </a: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C2926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(code: str, language: str = "Python") -&gt; str:</a:t>
              </a:r>
            </a:p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C2926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   """</a:t>
              </a: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C2926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코드 리뷰 프롬프트</a:t>
              </a: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C2926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"""</a:t>
              </a:r>
            </a:p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C2926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   return (</a:t>
              </a:r>
            </a:p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C2926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       f"</a:t>
              </a: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C2926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다음 </a:t>
              </a: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C2926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{language} </a:t>
              </a: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C2926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코드를 리뷰해주세요</a:t>
              </a: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C2926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.\n"</a:t>
              </a:r>
            </a:p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C2926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       f"</a:t>
              </a: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C2926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보안</a:t>
              </a: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C2926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, </a:t>
              </a: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C2926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성능</a:t>
              </a: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C2926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, </a:t>
              </a: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C2926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가독성 관점에서 분석하고</a:t>
              </a: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C2926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\n"</a:t>
              </a:r>
            </a:p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C2926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       f"</a:t>
              </a: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C2926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개선점을 제안해주세요</a:t>
              </a: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C2926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.\n"</a:t>
              </a:r>
            </a:p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C2926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       f"```{</a:t>
              </a:r>
              <a:r>
                <a:rPr kumimoji="0" lang="en-US" altLang="ko-KR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2C2926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language.lower</a:t>
              </a: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C2926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()}\n{code}\n```"</a:t>
              </a:r>
            </a:p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C2926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   )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C87B9D5A-67A6-A4B9-C7F4-96E7C1D36DEA}"/>
              </a:ext>
            </a:extLst>
          </p:cNvPr>
          <p:cNvGrpSpPr/>
          <p:nvPr/>
        </p:nvGrpSpPr>
        <p:grpSpPr>
          <a:xfrm>
            <a:off x="371475" y="1727941"/>
            <a:ext cx="490459" cy="2387860"/>
            <a:chOff x="548640" y="1051560"/>
            <a:chExt cx="2011680" cy="384048"/>
          </a:xfrm>
        </p:grpSpPr>
        <p:sp>
          <p:nvSpPr>
            <p:cNvPr id="29" name="Shape 2">
              <a:extLst>
                <a:ext uri="{FF2B5EF4-FFF2-40B4-BE49-F238E27FC236}">
                  <a16:creationId xmlns:a16="http://schemas.microsoft.com/office/drawing/2014/main" id="{5D76C2C9-85F5-1764-86E8-7EB582C8BF74}"/>
                </a:ext>
              </a:extLst>
            </p:cNvPr>
            <p:cNvSpPr/>
            <p:nvPr/>
          </p:nvSpPr>
          <p:spPr>
            <a:xfrm>
              <a:off x="548640" y="1051560"/>
              <a:ext cx="2011680" cy="384048"/>
            </a:xfrm>
            <a:prstGeom prst="rect">
              <a:avLst/>
            </a:prstGeom>
            <a:noFill/>
            <a:ln w="19050">
              <a:solidFill>
                <a:srgbClr val="1E293B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retendard" panose="02000503000000020004" pitchFamily="50" charset="-127"/>
                <a:cs typeface="+mn-cs"/>
              </a:endParaRPr>
            </a:p>
          </p:txBody>
        </p:sp>
        <p:sp>
          <p:nvSpPr>
            <p:cNvPr id="30" name="Text 3">
              <a:extLst>
                <a:ext uri="{FF2B5EF4-FFF2-40B4-BE49-F238E27FC236}">
                  <a16:creationId xmlns:a16="http://schemas.microsoft.com/office/drawing/2014/main" id="{E3DFFDA9-B53E-DFF8-8DA5-D348A50C1357}"/>
                </a:ext>
              </a:extLst>
            </p:cNvPr>
            <p:cNvSpPr/>
            <p:nvPr/>
          </p:nvSpPr>
          <p:spPr>
            <a:xfrm>
              <a:off x="548640" y="1051560"/>
              <a:ext cx="2011680" cy="38404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/>
          </p:spPr>
          <p:txBody>
            <a:bodyPr vert="eaVert" wrap="square"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SERVER</a:t>
              </a: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897F26E4-8D2D-05F0-9637-EECB4115FE2A}"/>
              </a:ext>
            </a:extLst>
          </p:cNvPr>
          <p:cNvGrpSpPr/>
          <p:nvPr/>
        </p:nvGrpSpPr>
        <p:grpSpPr>
          <a:xfrm>
            <a:off x="371475" y="4813446"/>
            <a:ext cx="490459" cy="2576815"/>
            <a:chOff x="548640" y="1051560"/>
            <a:chExt cx="2011680" cy="384048"/>
          </a:xfrm>
        </p:grpSpPr>
        <p:sp>
          <p:nvSpPr>
            <p:cNvPr id="32" name="Shape 2">
              <a:extLst>
                <a:ext uri="{FF2B5EF4-FFF2-40B4-BE49-F238E27FC236}">
                  <a16:creationId xmlns:a16="http://schemas.microsoft.com/office/drawing/2014/main" id="{C8825AD7-5DEF-304E-211F-EC3CB7FCB069}"/>
                </a:ext>
              </a:extLst>
            </p:cNvPr>
            <p:cNvSpPr/>
            <p:nvPr/>
          </p:nvSpPr>
          <p:spPr>
            <a:xfrm>
              <a:off x="548640" y="1051560"/>
              <a:ext cx="2011680" cy="384048"/>
            </a:xfrm>
            <a:prstGeom prst="rect">
              <a:avLst/>
            </a:prstGeom>
            <a:noFill/>
            <a:ln w="19050">
              <a:solidFill>
                <a:srgbClr val="1E293B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retendard" panose="02000503000000020004" pitchFamily="50" charset="-127"/>
                <a:cs typeface="+mn-cs"/>
              </a:endParaRPr>
            </a:p>
          </p:txBody>
        </p:sp>
        <p:sp>
          <p:nvSpPr>
            <p:cNvPr id="33" name="Text 3">
              <a:extLst>
                <a:ext uri="{FF2B5EF4-FFF2-40B4-BE49-F238E27FC236}">
                  <a16:creationId xmlns:a16="http://schemas.microsoft.com/office/drawing/2014/main" id="{EB8049A1-5833-7F05-F202-59C8DA643041}"/>
                </a:ext>
              </a:extLst>
            </p:cNvPr>
            <p:cNvSpPr/>
            <p:nvPr/>
          </p:nvSpPr>
          <p:spPr>
            <a:xfrm>
              <a:off x="548640" y="1051560"/>
              <a:ext cx="2011680" cy="38404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/>
          </p:spPr>
          <p:txBody>
            <a:bodyPr vert="eaVert" wrap="square"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CLIENT</a:t>
              </a: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892C3CF4-5BE7-AA48-B318-1C57608A2028}"/>
              </a:ext>
            </a:extLst>
          </p:cNvPr>
          <p:cNvGrpSpPr/>
          <p:nvPr/>
        </p:nvGrpSpPr>
        <p:grpSpPr>
          <a:xfrm>
            <a:off x="2005216" y="1109994"/>
            <a:ext cx="2011680" cy="384048"/>
            <a:chOff x="548640" y="1051560"/>
            <a:chExt cx="2011680" cy="384048"/>
          </a:xfrm>
        </p:grpSpPr>
        <p:sp>
          <p:nvSpPr>
            <p:cNvPr id="35" name="Shape 2">
              <a:extLst>
                <a:ext uri="{FF2B5EF4-FFF2-40B4-BE49-F238E27FC236}">
                  <a16:creationId xmlns:a16="http://schemas.microsoft.com/office/drawing/2014/main" id="{E9524C1C-9A0B-474E-E847-B281F405A7F3}"/>
                </a:ext>
              </a:extLst>
            </p:cNvPr>
            <p:cNvSpPr/>
            <p:nvPr/>
          </p:nvSpPr>
          <p:spPr>
            <a:xfrm>
              <a:off x="548640" y="1051560"/>
              <a:ext cx="2011680" cy="384048"/>
            </a:xfrm>
            <a:prstGeom prst="rect">
              <a:avLst/>
            </a:prstGeom>
            <a:noFill/>
            <a:ln w="19050">
              <a:solidFill>
                <a:srgbClr val="1E293B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36" name="Text 3">
              <a:extLst>
                <a:ext uri="{FF2B5EF4-FFF2-40B4-BE49-F238E27FC236}">
                  <a16:creationId xmlns:a16="http://schemas.microsoft.com/office/drawing/2014/main" id="{C2B3B741-6EE4-4D8A-B343-1A74977DAE71}"/>
                </a:ext>
              </a:extLst>
            </p:cNvPr>
            <p:cNvSpPr/>
            <p:nvPr/>
          </p:nvSpPr>
          <p:spPr>
            <a:xfrm>
              <a:off x="548640" y="1051560"/>
              <a:ext cx="20116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1E293B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Tools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BBA09E61-AEB3-B636-AE23-01AC0FEA52C8}"/>
              </a:ext>
            </a:extLst>
          </p:cNvPr>
          <p:cNvGrpSpPr/>
          <p:nvPr/>
        </p:nvGrpSpPr>
        <p:grpSpPr>
          <a:xfrm>
            <a:off x="6682741" y="1109994"/>
            <a:ext cx="2011680" cy="384048"/>
            <a:chOff x="548640" y="1051560"/>
            <a:chExt cx="2011680" cy="384048"/>
          </a:xfrm>
        </p:grpSpPr>
        <p:sp>
          <p:nvSpPr>
            <p:cNvPr id="38" name="Shape 2">
              <a:extLst>
                <a:ext uri="{FF2B5EF4-FFF2-40B4-BE49-F238E27FC236}">
                  <a16:creationId xmlns:a16="http://schemas.microsoft.com/office/drawing/2014/main" id="{5341B3BF-4A4C-69D4-C532-5C5CFD530EA7}"/>
                </a:ext>
              </a:extLst>
            </p:cNvPr>
            <p:cNvSpPr/>
            <p:nvPr/>
          </p:nvSpPr>
          <p:spPr>
            <a:xfrm>
              <a:off x="548640" y="1051560"/>
              <a:ext cx="2011680" cy="384048"/>
            </a:xfrm>
            <a:prstGeom prst="rect">
              <a:avLst/>
            </a:prstGeom>
            <a:noFill/>
            <a:ln w="19050">
              <a:solidFill>
                <a:srgbClr val="1E293B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39" name="Text 3">
              <a:extLst>
                <a:ext uri="{FF2B5EF4-FFF2-40B4-BE49-F238E27FC236}">
                  <a16:creationId xmlns:a16="http://schemas.microsoft.com/office/drawing/2014/main" id="{61506674-FB31-06A7-C100-4362D7373464}"/>
                </a:ext>
              </a:extLst>
            </p:cNvPr>
            <p:cNvSpPr/>
            <p:nvPr/>
          </p:nvSpPr>
          <p:spPr>
            <a:xfrm>
              <a:off x="548640" y="1051560"/>
              <a:ext cx="20116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1E293B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Resources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820D077B-44F4-1591-F9C2-28ACF725C3BD}"/>
              </a:ext>
            </a:extLst>
          </p:cNvPr>
          <p:cNvGrpSpPr/>
          <p:nvPr/>
        </p:nvGrpSpPr>
        <p:grpSpPr>
          <a:xfrm>
            <a:off x="11343373" y="1109994"/>
            <a:ext cx="2011680" cy="384048"/>
            <a:chOff x="548640" y="1051560"/>
            <a:chExt cx="2011680" cy="384048"/>
          </a:xfrm>
        </p:grpSpPr>
        <p:sp>
          <p:nvSpPr>
            <p:cNvPr id="41" name="Shape 2">
              <a:extLst>
                <a:ext uri="{FF2B5EF4-FFF2-40B4-BE49-F238E27FC236}">
                  <a16:creationId xmlns:a16="http://schemas.microsoft.com/office/drawing/2014/main" id="{32C21AC8-6199-914D-4907-759DDB309816}"/>
                </a:ext>
              </a:extLst>
            </p:cNvPr>
            <p:cNvSpPr/>
            <p:nvPr/>
          </p:nvSpPr>
          <p:spPr>
            <a:xfrm>
              <a:off x="548640" y="1051560"/>
              <a:ext cx="2011680" cy="384048"/>
            </a:xfrm>
            <a:prstGeom prst="rect">
              <a:avLst/>
            </a:prstGeom>
            <a:noFill/>
            <a:ln w="19050">
              <a:solidFill>
                <a:srgbClr val="1E293B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42" name="Text 3">
              <a:extLst>
                <a:ext uri="{FF2B5EF4-FFF2-40B4-BE49-F238E27FC236}">
                  <a16:creationId xmlns:a16="http://schemas.microsoft.com/office/drawing/2014/main" id="{6218AC43-F9DC-F72B-B375-AF8B2CAF808A}"/>
                </a:ext>
              </a:extLst>
            </p:cNvPr>
            <p:cNvSpPr/>
            <p:nvPr/>
          </p:nvSpPr>
          <p:spPr>
            <a:xfrm>
              <a:off x="548640" y="1051560"/>
              <a:ext cx="20116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1E293B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Prompts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43" name="Text 2">
            <a:extLst>
              <a:ext uri="{FF2B5EF4-FFF2-40B4-BE49-F238E27FC236}">
                <a16:creationId xmlns:a16="http://schemas.microsoft.com/office/drawing/2014/main" id="{121DD2C1-B404-F11F-EC97-ED08CA5DCCFF}"/>
              </a:ext>
            </a:extLst>
          </p:cNvPr>
          <p:cNvSpPr/>
          <p:nvPr/>
        </p:nvSpPr>
        <p:spPr>
          <a:xfrm>
            <a:off x="1076004" y="3953881"/>
            <a:ext cx="3940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타입 힌트 + docstring으로 도구를 작성하면 MCP가 JSON </a:t>
            </a: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</a:b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Schema를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자동 생성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2">
            <a:extLst>
              <a:ext uri="{FF2B5EF4-FFF2-40B4-BE49-F238E27FC236}">
                <a16:creationId xmlns:a16="http://schemas.microsoft.com/office/drawing/2014/main" id="{D959AA9E-BAC2-86B0-7A28-6D07AD376BAF}"/>
              </a:ext>
            </a:extLst>
          </p:cNvPr>
          <p:cNvSpPr/>
          <p:nvPr/>
        </p:nvSpPr>
        <p:spPr>
          <a:xfrm>
            <a:off x="10341160" y="3953881"/>
            <a:ext cx="36734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타입힌트 + docstring으로 인자 목록을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생성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475569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46" name="Text 2">
            <a:extLst>
              <a:ext uri="{FF2B5EF4-FFF2-40B4-BE49-F238E27FC236}">
                <a16:creationId xmlns:a16="http://schemas.microsoft.com/office/drawing/2014/main" id="{B9C86F90-B9BE-A36D-2A01-E55AC12F6F1E}"/>
              </a:ext>
            </a:extLst>
          </p:cNvPr>
          <p:cNvSpPr/>
          <p:nvPr/>
        </p:nvSpPr>
        <p:spPr>
          <a:xfrm>
            <a:off x="5689615" y="3953881"/>
            <a:ext cx="407647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• 데코레이터 URI + docstring으로 리소스 메타 정보를 자동 생성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• 구독(subscribe)으로 변경 알림 수신 가능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• URL스킴은 리소스 유형을 나타내며 자유롭게 정의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9CBBBDE-3161-2E2E-669D-4DB4E7BE342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D069905-AE10-E849-B625-D412908E376F}" type="slidenum">
              <a:rPr kumimoji="1" lang="ko-Kore-KR" altLang="en-US" smtClean="0"/>
              <a:pPr/>
              <a:t>9</a:t>
            </a:fld>
            <a:endParaRPr kumimoji="1" lang="ko-Kore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45C80E-AE89-0AEB-9EF3-03B156A66BFD}"/>
              </a:ext>
            </a:extLst>
          </p:cNvPr>
          <p:cNvSpPr txBox="1"/>
          <p:nvPr/>
        </p:nvSpPr>
        <p:spPr>
          <a:xfrm>
            <a:off x="4227434" y="1152754"/>
            <a:ext cx="8085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hlinkClick r:id="rId3"/>
              </a:rPr>
              <a:t>상세교재</a:t>
            </a:r>
            <a:endParaRPr lang="ko-KR" alt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4C0151-3E92-F14E-B445-047DC57645CF}"/>
              </a:ext>
            </a:extLst>
          </p:cNvPr>
          <p:cNvSpPr txBox="1"/>
          <p:nvPr/>
        </p:nvSpPr>
        <p:spPr>
          <a:xfrm>
            <a:off x="8872352" y="1152754"/>
            <a:ext cx="8085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hlinkClick r:id="rId4"/>
              </a:rPr>
              <a:t>상세교재</a:t>
            </a:r>
            <a:endParaRPr lang="ko-KR" alt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4ACC35-E3F4-CF28-86DB-D7C0EF9F8465}"/>
              </a:ext>
            </a:extLst>
          </p:cNvPr>
          <p:cNvSpPr txBox="1"/>
          <p:nvPr/>
        </p:nvSpPr>
        <p:spPr>
          <a:xfrm>
            <a:off x="13492590" y="1152754"/>
            <a:ext cx="8085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hlinkClick r:id="rId5"/>
              </a:rPr>
              <a:t>상세교재</a:t>
            </a:r>
            <a:endParaRPr lang="ko-KR" alt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67285CA2-0A20-D1F8-D70F-F654108F3C69}"/>
              </a:ext>
            </a:extLst>
          </p:cNvPr>
          <p:cNvGrpSpPr/>
          <p:nvPr/>
        </p:nvGrpSpPr>
        <p:grpSpPr>
          <a:xfrm>
            <a:off x="10341160" y="4779061"/>
            <a:ext cx="3960000" cy="2588804"/>
            <a:chOff x="548640" y="2418508"/>
            <a:chExt cx="6400800" cy="5029200"/>
          </a:xfrm>
        </p:grpSpPr>
        <p:sp>
          <p:nvSpPr>
            <p:cNvPr id="17" name="Shape 4">
              <a:extLst>
                <a:ext uri="{FF2B5EF4-FFF2-40B4-BE49-F238E27FC236}">
                  <a16:creationId xmlns:a16="http://schemas.microsoft.com/office/drawing/2014/main" id="{16C76560-6B6F-03DB-85FF-83E621BE77F6}"/>
                </a:ext>
              </a:extLst>
            </p:cNvPr>
            <p:cNvSpPr/>
            <p:nvPr/>
          </p:nvSpPr>
          <p:spPr>
            <a:xfrm>
              <a:off x="548640" y="2418508"/>
              <a:ext cx="6400800" cy="5029200"/>
            </a:xfrm>
            <a:prstGeom prst="rect">
              <a:avLst/>
            </a:prstGeom>
            <a:solidFill>
              <a:srgbClr val="F8F9FA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8" name="Text 5">
              <a:extLst>
                <a:ext uri="{FF2B5EF4-FFF2-40B4-BE49-F238E27FC236}">
                  <a16:creationId xmlns:a16="http://schemas.microsoft.com/office/drawing/2014/main" id="{8E09B2F9-4FF6-3B65-7E64-24256CDBBF9F}"/>
                </a:ext>
              </a:extLst>
            </p:cNvPr>
            <p:cNvSpPr/>
            <p:nvPr/>
          </p:nvSpPr>
          <p:spPr>
            <a:xfrm>
              <a:off x="685800" y="2509948"/>
              <a:ext cx="6126480" cy="4846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C2926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async with stdio_client(params)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C2926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 as (read, write):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C2926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 async with ClientSession(read, write)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C2926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   as session: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C2926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   await </a:t>
              </a:r>
              <a:r>
                <a:rPr kumimoji="0" lang="en-US" sz="12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2C2926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session.initialize</a:t>
              </a: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2C2926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()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C2926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   prompts = await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C2926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     </a:t>
              </a:r>
              <a:r>
                <a:rPr kumimoji="0" lang="en-US" sz="12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2C2926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session.list_prompts</a:t>
              </a: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2C2926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()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C2926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   result = await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C2926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     </a:t>
              </a:r>
              <a:r>
                <a:rPr kumimoji="0" lang="en-US" sz="12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2C2926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session.get_prompt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C2926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(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C2926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       “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2C2926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code_review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C2926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“,</a:t>
              </a:r>
            </a:p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dirty="0">
                  <a:solidFill>
                    <a:srgbClr val="2C2926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      arguments={</a:t>
              </a:r>
            </a:p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dirty="0">
                  <a:solidFill>
                    <a:srgbClr val="2C2926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         “code”: “{</a:t>
              </a:r>
              <a:r>
                <a:rPr lang="ko-KR" altLang="en-US" sz="1200" dirty="0">
                  <a:solidFill>
                    <a:srgbClr val="2C2926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대상코드</a:t>
              </a:r>
              <a:r>
                <a:rPr lang="en-US" altLang="ko-KR" sz="1200" dirty="0">
                  <a:solidFill>
                    <a:srgbClr val="2C2926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}”, “language”: “Python” </a:t>
              </a:r>
              <a:r>
                <a:rPr lang="en-US" sz="1200" dirty="0">
                  <a:solidFill>
                    <a:srgbClr val="2C2926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} </a:t>
              </a:r>
            </a:p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C2926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      )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C2926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   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987292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E879C-6BA8-AC5E-F0B1-62CD2C3E1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>
            <a:extLst>
              <a:ext uri="{FF2B5EF4-FFF2-40B4-BE49-F238E27FC236}">
                <a16:creationId xmlns:a16="http://schemas.microsoft.com/office/drawing/2014/main" id="{874DC865-9324-D705-7B94-8798445E403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89655" y="100013"/>
            <a:ext cx="13940746" cy="8286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/>
            <a:r>
              <a:rPr lang="en-US" altLang="ko-KR" sz="3200" b="1" dirty="0" err="1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나만의</a:t>
            </a:r>
            <a:r>
              <a:rPr lang="en-US" altLang="ko-KR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MCP </a:t>
            </a:r>
            <a:r>
              <a:rPr lang="en-US" altLang="ko-KR" sz="3200" b="1" dirty="0" err="1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만들기</a:t>
            </a:r>
            <a:r>
              <a:rPr lang="en-US" altLang="ko-KR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MCP </a:t>
            </a:r>
            <a:r>
              <a:rPr lang="ko-KR" alt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고급 기능</a:t>
            </a:r>
          </a:p>
        </p:txBody>
      </p:sp>
      <p:pic>
        <p:nvPicPr>
          <p:cNvPr id="14" name="Image 0" descr="/sessions/nice-trusting-lovelace/mnt/aistudy/claude/images/roots.png">
            <a:extLst>
              <a:ext uri="{FF2B5EF4-FFF2-40B4-BE49-F238E27FC236}">
                <a16:creationId xmlns:a16="http://schemas.microsoft.com/office/drawing/2014/main" id="{5754BC7D-0FCF-DA99-F33A-EB3C594009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8365" y="1871404"/>
            <a:ext cx="7425617" cy="4050337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3055D492-94C8-814D-8585-29C6169750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32646"/>
            <a:ext cx="4540483" cy="2463927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2DB14A62-8728-A37A-3A5F-8D41CE48BA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706" y="4902062"/>
            <a:ext cx="4743694" cy="232421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1648319-AA55-DCC4-497C-B8799B89D388}"/>
              </a:ext>
            </a:extLst>
          </p:cNvPr>
          <p:cNvSpPr txBox="1"/>
          <p:nvPr/>
        </p:nvSpPr>
        <p:spPr>
          <a:xfrm>
            <a:off x="2860553" y="3248574"/>
            <a:ext cx="3426440" cy="89255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300" b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kumimoji="0" lang="en-US" altLang="ko-KR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1. Server</a:t>
            </a: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 </a:t>
            </a:r>
            <a:r>
              <a:rPr kumimoji="0" lang="en-US" altLang="ko-KR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Sampling </a:t>
            </a: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요청을 </a:t>
            </a:r>
            <a:r>
              <a:rPr kumimoji="0" lang="en-US" altLang="ko-KR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Client</a:t>
            </a: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 전달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kumimoji="0" lang="en-US" altLang="ko-KR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2. Host</a:t>
            </a: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 요청을 검토</a:t>
            </a:r>
            <a:r>
              <a:rPr kumimoji="0" lang="en-US" altLang="ko-KR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</a:t>
            </a: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승인</a:t>
            </a:r>
            <a:r>
              <a:rPr kumimoji="0" lang="en-US" altLang="ko-KR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</a:t>
            </a: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거부 </a:t>
            </a:r>
            <a:r>
              <a:rPr kumimoji="0" lang="en-US" altLang="ko-KR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보안 정책</a:t>
            </a:r>
            <a:r>
              <a:rPr kumimoji="0" lang="en-US" altLang="ko-KR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3. </a:t>
            </a: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승인 시 </a:t>
            </a:r>
            <a:r>
              <a:rPr kumimoji="0" lang="en-US" altLang="ko-KR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Host </a:t>
            </a: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내부의 </a:t>
            </a:r>
            <a:r>
              <a:rPr kumimoji="0" lang="en-US" altLang="ko-KR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LLM</a:t>
            </a: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 응답 생성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kumimoji="0" lang="en-US" altLang="ko-KR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4. </a:t>
            </a: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응답이 </a:t>
            </a:r>
            <a:r>
              <a:rPr kumimoji="0" lang="en-US" altLang="ko-KR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Client</a:t>
            </a: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를 통해 </a:t>
            </a:r>
            <a:r>
              <a:rPr kumimoji="0" lang="en-US" altLang="ko-KR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Server</a:t>
            </a: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로 전달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8A0DF8A-8CFD-C87F-68F0-E149541FF649}"/>
              </a:ext>
            </a:extLst>
          </p:cNvPr>
          <p:cNvSpPr txBox="1"/>
          <p:nvPr/>
        </p:nvSpPr>
        <p:spPr>
          <a:xfrm>
            <a:off x="2525864" y="6745845"/>
            <a:ext cx="4272501" cy="89255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300" b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kumimoji="0" lang="en-US" altLang="ko-KR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1. Server</a:t>
            </a: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 </a:t>
            </a:r>
            <a:r>
              <a:rPr kumimoji="0" lang="en-US" altLang="ko-KR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Elicitation </a:t>
            </a: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요청</a:t>
            </a:r>
            <a:r>
              <a:rPr kumimoji="0" lang="en-US" altLang="ko-KR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스키마 포함</a:t>
            </a:r>
            <a:r>
              <a:rPr kumimoji="0" lang="en-US" altLang="ko-KR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을 </a:t>
            </a:r>
            <a:r>
              <a:rPr kumimoji="0" lang="en-US" altLang="ko-KR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Client</a:t>
            </a: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 전달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kumimoji="0" lang="en-US" altLang="ko-KR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2. Host</a:t>
            </a: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 요청을 검토하고 스키마에 맞는 </a:t>
            </a:r>
            <a:r>
              <a:rPr kumimoji="0" lang="en-US" altLang="ko-KR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UI</a:t>
            </a: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를 렌더링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kumimoji="0" lang="en-US" altLang="ko-KR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3. </a:t>
            </a: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사용자가 입력하면 </a:t>
            </a:r>
            <a:r>
              <a:rPr kumimoji="0" lang="en-US" altLang="ko-KR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Host</a:t>
            </a: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 </a:t>
            </a:r>
            <a:r>
              <a:rPr kumimoji="0" lang="ko-KR" alt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입력값을</a:t>
            </a: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검증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kumimoji="0" lang="en-US" altLang="ko-KR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4. </a:t>
            </a: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검증된 데이터가 </a:t>
            </a:r>
            <a:r>
              <a:rPr kumimoji="0" lang="en-US" altLang="ko-KR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Client</a:t>
            </a: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를 통해 </a:t>
            </a:r>
            <a:r>
              <a:rPr kumimoji="0" lang="en-US" altLang="ko-KR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Server</a:t>
            </a: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로 전달</a:t>
            </a: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BD5009D5-4DF4-E756-ECD7-3B044B7A55E6}"/>
              </a:ext>
            </a:extLst>
          </p:cNvPr>
          <p:cNvGrpSpPr/>
          <p:nvPr/>
        </p:nvGrpSpPr>
        <p:grpSpPr>
          <a:xfrm>
            <a:off x="689654" y="971803"/>
            <a:ext cx="4479032" cy="384048"/>
            <a:chOff x="548640" y="1051560"/>
            <a:chExt cx="2011680" cy="384048"/>
          </a:xfrm>
          <a:solidFill>
            <a:schemeClr val="bg1">
              <a:lumMod val="95000"/>
            </a:schemeClr>
          </a:solidFill>
        </p:grpSpPr>
        <p:sp>
          <p:nvSpPr>
            <p:cNvPr id="22" name="Shape 2">
              <a:extLst>
                <a:ext uri="{FF2B5EF4-FFF2-40B4-BE49-F238E27FC236}">
                  <a16:creationId xmlns:a16="http://schemas.microsoft.com/office/drawing/2014/main" id="{E1AD6EC7-5767-CC76-846E-DC4345C25A59}"/>
                </a:ext>
              </a:extLst>
            </p:cNvPr>
            <p:cNvSpPr/>
            <p:nvPr/>
          </p:nvSpPr>
          <p:spPr>
            <a:xfrm>
              <a:off x="548640" y="1051560"/>
              <a:ext cx="2011680" cy="384048"/>
            </a:xfrm>
            <a:prstGeom prst="rect">
              <a:avLst/>
            </a:prstGeom>
            <a:grpFill/>
            <a:ln w="19050">
              <a:solidFill>
                <a:srgbClr val="1E293B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retendard" panose="02000503000000020004" pitchFamily="50" charset="-127"/>
                <a:cs typeface="+mn-cs"/>
              </a:endParaRPr>
            </a:p>
          </p:txBody>
        </p:sp>
        <p:sp>
          <p:nvSpPr>
            <p:cNvPr id="23" name="Text 3">
              <a:extLst>
                <a:ext uri="{FF2B5EF4-FFF2-40B4-BE49-F238E27FC236}">
                  <a16:creationId xmlns:a16="http://schemas.microsoft.com/office/drawing/2014/main" id="{D5D4E22E-C6EA-6ADC-F074-115B16E59C98}"/>
                </a:ext>
              </a:extLst>
            </p:cNvPr>
            <p:cNvSpPr/>
            <p:nvPr/>
          </p:nvSpPr>
          <p:spPr>
            <a:xfrm>
              <a:off x="548640" y="1051560"/>
              <a:ext cx="2011680" cy="384048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1E293B"/>
                  </a:solidFill>
                  <a:effectLst/>
                  <a:uLnTx/>
                  <a:uFillTx/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Sampling: LLM </a:t>
              </a:r>
              <a:r>
                <a:rPr kumimoji="0" lang="en-US" altLang="ko-KR" sz="14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1E293B"/>
                  </a:solidFill>
                  <a:effectLst/>
                  <a:uLnTx/>
                  <a:uFillTx/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샘플링</a:t>
              </a:r>
              <a:r>
                <a:rPr kumimoji="0" lang="en-US" altLang="ko-KR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1E293B"/>
                  </a:solidFill>
                  <a:effectLst/>
                  <a:uLnTx/>
                  <a:uFillTx/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(</a:t>
              </a:r>
              <a:r>
                <a:rPr kumimoji="0" lang="en-US" altLang="ko-KR" sz="14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1E293B"/>
                  </a:solidFill>
                  <a:effectLst/>
                  <a:uLnTx/>
                  <a:uFillTx/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텍스트</a:t>
              </a:r>
              <a:r>
                <a:rPr kumimoji="0" lang="en-US" altLang="ko-KR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1E293B"/>
                  </a:solidFill>
                  <a:effectLst/>
                  <a:uLnTx/>
                  <a:uFillTx/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</a:t>
              </a:r>
              <a:r>
                <a:rPr kumimoji="0" lang="en-US" altLang="ko-KR" sz="14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1E293B"/>
                  </a:solidFill>
                  <a:effectLst/>
                  <a:uLnTx/>
                  <a:uFillTx/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생성</a:t>
              </a:r>
              <a:r>
                <a:rPr kumimoji="0" lang="en-US" altLang="ko-KR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1E293B"/>
                  </a:solidFill>
                  <a:effectLst/>
                  <a:uLnTx/>
                  <a:uFillTx/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)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119F75A2-7BFD-F4D3-9F49-1D0E390609D6}"/>
              </a:ext>
            </a:extLst>
          </p:cNvPr>
          <p:cNvGrpSpPr/>
          <p:nvPr/>
        </p:nvGrpSpPr>
        <p:grpSpPr>
          <a:xfrm>
            <a:off x="8271657" y="971803"/>
            <a:ext cx="4479032" cy="384048"/>
            <a:chOff x="548640" y="1051560"/>
            <a:chExt cx="2011680" cy="384048"/>
          </a:xfrm>
        </p:grpSpPr>
        <p:sp>
          <p:nvSpPr>
            <p:cNvPr id="25" name="Shape 2">
              <a:extLst>
                <a:ext uri="{FF2B5EF4-FFF2-40B4-BE49-F238E27FC236}">
                  <a16:creationId xmlns:a16="http://schemas.microsoft.com/office/drawing/2014/main" id="{14B596F6-E839-B5E8-9885-CF7AB21906B3}"/>
                </a:ext>
              </a:extLst>
            </p:cNvPr>
            <p:cNvSpPr/>
            <p:nvPr/>
          </p:nvSpPr>
          <p:spPr>
            <a:xfrm>
              <a:off x="548640" y="1051560"/>
              <a:ext cx="2011680" cy="384048"/>
            </a:xfrm>
            <a:prstGeom prst="rect">
              <a:avLst/>
            </a:prstGeom>
            <a:noFill/>
            <a:ln w="19050">
              <a:solidFill>
                <a:srgbClr val="1E293B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retendard" panose="02000503000000020004" pitchFamily="50" charset="-127"/>
                <a:cs typeface="+mn-cs"/>
              </a:endParaRPr>
            </a:p>
          </p:txBody>
        </p:sp>
        <p:sp>
          <p:nvSpPr>
            <p:cNvPr id="26" name="Text 3">
              <a:extLst>
                <a:ext uri="{FF2B5EF4-FFF2-40B4-BE49-F238E27FC236}">
                  <a16:creationId xmlns:a16="http://schemas.microsoft.com/office/drawing/2014/main" id="{424CCF4F-BB99-1CE3-9F45-1DA2CA4F89DD}"/>
                </a:ext>
              </a:extLst>
            </p:cNvPr>
            <p:cNvSpPr/>
            <p:nvPr/>
          </p:nvSpPr>
          <p:spPr>
            <a:xfrm>
              <a:off x="548640" y="1051560"/>
              <a:ext cx="2011680" cy="38404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1E293B"/>
                  </a:solidFill>
                  <a:effectLst/>
                  <a:uLnTx/>
                  <a:uFillTx/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Roots: </a:t>
              </a:r>
              <a:r>
                <a:rPr kumimoji="0" lang="en-US" altLang="ko-KR" sz="14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1E293B"/>
                  </a:solidFill>
                  <a:effectLst/>
                  <a:uLnTx/>
                  <a:uFillTx/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작업</a:t>
              </a:r>
              <a:r>
                <a:rPr kumimoji="0" lang="en-US" altLang="ko-KR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1E293B"/>
                  </a:solidFill>
                  <a:effectLst/>
                  <a:uLnTx/>
                  <a:uFillTx/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</a:t>
              </a:r>
              <a:r>
                <a:rPr kumimoji="0" lang="en-US" altLang="ko-KR" sz="14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1E293B"/>
                  </a:solidFill>
                  <a:effectLst/>
                  <a:uLnTx/>
                  <a:uFillTx/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루트</a:t>
              </a:r>
              <a:r>
                <a:rPr kumimoji="0" lang="en-US" altLang="ko-KR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1E293B"/>
                  </a:solidFill>
                  <a:effectLst/>
                  <a:uLnTx/>
                  <a:uFillTx/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</a:t>
              </a:r>
              <a:r>
                <a:rPr kumimoji="0" lang="en-US" altLang="ko-KR" sz="14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1E293B"/>
                  </a:solidFill>
                  <a:effectLst/>
                  <a:uLnTx/>
                  <a:uFillTx/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디렉터리</a:t>
              </a:r>
              <a:r>
                <a:rPr kumimoji="0" lang="en-US" altLang="ko-KR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1E293B"/>
                  </a:solidFill>
                  <a:effectLst/>
                  <a:uLnTx/>
                  <a:uFillTx/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</a:t>
              </a:r>
              <a:r>
                <a:rPr kumimoji="0" lang="en-US" altLang="ko-KR" sz="14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1E293B"/>
                  </a:solidFill>
                  <a:effectLst/>
                  <a:uLnTx/>
                  <a:uFillTx/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권고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A1D995FE-2DD4-5B6A-A6EF-465DA85AF48D}"/>
              </a:ext>
            </a:extLst>
          </p:cNvPr>
          <p:cNvGrpSpPr/>
          <p:nvPr/>
        </p:nvGrpSpPr>
        <p:grpSpPr>
          <a:xfrm>
            <a:off x="689654" y="4398749"/>
            <a:ext cx="4479032" cy="384048"/>
            <a:chOff x="548640" y="1051560"/>
            <a:chExt cx="2011680" cy="384048"/>
          </a:xfrm>
          <a:solidFill>
            <a:schemeClr val="bg1">
              <a:lumMod val="95000"/>
            </a:schemeClr>
          </a:solidFill>
        </p:grpSpPr>
        <p:sp>
          <p:nvSpPr>
            <p:cNvPr id="30" name="Shape 2">
              <a:extLst>
                <a:ext uri="{FF2B5EF4-FFF2-40B4-BE49-F238E27FC236}">
                  <a16:creationId xmlns:a16="http://schemas.microsoft.com/office/drawing/2014/main" id="{D1739AC2-10D2-D720-E62D-44EAE37C2980}"/>
                </a:ext>
              </a:extLst>
            </p:cNvPr>
            <p:cNvSpPr/>
            <p:nvPr/>
          </p:nvSpPr>
          <p:spPr>
            <a:xfrm>
              <a:off x="548640" y="1051560"/>
              <a:ext cx="2011680" cy="384048"/>
            </a:xfrm>
            <a:prstGeom prst="rect">
              <a:avLst/>
            </a:prstGeom>
            <a:grpFill/>
            <a:ln w="19050">
              <a:solidFill>
                <a:srgbClr val="1E293B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retendard" panose="02000503000000020004" pitchFamily="50" charset="-127"/>
                <a:cs typeface="+mn-cs"/>
              </a:endParaRPr>
            </a:p>
          </p:txBody>
        </p:sp>
        <p:sp>
          <p:nvSpPr>
            <p:cNvPr id="31" name="Text 3">
              <a:extLst>
                <a:ext uri="{FF2B5EF4-FFF2-40B4-BE49-F238E27FC236}">
                  <a16:creationId xmlns:a16="http://schemas.microsoft.com/office/drawing/2014/main" id="{DB89D6C5-E4F9-3ECF-B8C1-04EBC511B031}"/>
                </a:ext>
              </a:extLst>
            </p:cNvPr>
            <p:cNvSpPr/>
            <p:nvPr/>
          </p:nvSpPr>
          <p:spPr>
            <a:xfrm>
              <a:off x="548640" y="1051560"/>
              <a:ext cx="2011680" cy="384048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1E293B"/>
                  </a:solidFill>
                  <a:effectLst/>
                  <a:uLnTx/>
                  <a:uFillTx/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Elicitation(</a:t>
              </a:r>
              <a:r>
                <a:rPr kumimoji="0" lang="en-US" altLang="ko-KR" sz="14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1E293B"/>
                  </a:solidFill>
                  <a:effectLst/>
                  <a:uLnTx/>
                  <a:uFillTx/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일리시테이션</a:t>
              </a:r>
              <a:r>
                <a:rPr kumimoji="0" lang="en-US" altLang="ko-KR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1E293B"/>
                  </a:solidFill>
                  <a:effectLst/>
                  <a:uLnTx/>
                  <a:uFillTx/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): </a:t>
              </a:r>
              <a:r>
                <a:rPr kumimoji="0" lang="en-US" altLang="ko-KR" sz="14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1E293B"/>
                  </a:solidFill>
                  <a:effectLst/>
                  <a:uLnTx/>
                  <a:uFillTx/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추가</a:t>
              </a:r>
              <a:r>
                <a:rPr kumimoji="0" lang="en-US" altLang="ko-KR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1E293B"/>
                  </a:solidFill>
                  <a:effectLst/>
                  <a:uLnTx/>
                  <a:uFillTx/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</a:t>
              </a:r>
              <a:r>
                <a:rPr kumimoji="0" lang="en-US" altLang="ko-KR" sz="14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1E293B"/>
                  </a:solidFill>
                  <a:effectLst/>
                  <a:uLnTx/>
                  <a:uFillTx/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정보</a:t>
              </a:r>
              <a:r>
                <a:rPr kumimoji="0" lang="en-US" altLang="ko-KR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1E293B"/>
                  </a:solidFill>
                  <a:effectLst/>
                  <a:uLnTx/>
                  <a:uFillTx/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</a:t>
              </a:r>
              <a:r>
                <a:rPr kumimoji="0" lang="en-US" altLang="ko-KR" sz="14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1E293B"/>
                  </a:solidFill>
                  <a:effectLst/>
                  <a:uLnTx/>
                  <a:uFillTx/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끌어내기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F8301DE-5BD5-B4F4-56DD-FF5E5A0DA67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D069905-AE10-E849-B625-D412908E376F}" type="slidenum">
              <a:rPr kumimoji="1" lang="ko-Kore-KR" altLang="en-US" smtClean="0"/>
              <a:pPr/>
              <a:t>10</a:t>
            </a:fld>
            <a:endParaRPr kumimoji="1" lang="ko-Kore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8E3E95-B34F-00B8-E226-7B6BD86DA2E4}"/>
              </a:ext>
            </a:extLst>
          </p:cNvPr>
          <p:cNvSpPr txBox="1"/>
          <p:nvPr/>
        </p:nvSpPr>
        <p:spPr>
          <a:xfrm>
            <a:off x="5232400" y="1041258"/>
            <a:ext cx="8085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hlinkClick r:id="rId6"/>
              </a:rPr>
              <a:t>상세교재</a:t>
            </a:r>
            <a:endParaRPr lang="ko-KR" alt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35E05A-7D7D-A32B-2BCF-4C8C10DCFDDA}"/>
              </a:ext>
            </a:extLst>
          </p:cNvPr>
          <p:cNvSpPr txBox="1"/>
          <p:nvPr/>
        </p:nvSpPr>
        <p:spPr>
          <a:xfrm>
            <a:off x="12935744" y="1041258"/>
            <a:ext cx="8085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hlinkClick r:id="rId7"/>
              </a:rPr>
              <a:t>상세교재</a:t>
            </a:r>
            <a:endParaRPr lang="ko-KR" alt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262835-74D9-420A-6007-430CD3B01C0E}"/>
              </a:ext>
            </a:extLst>
          </p:cNvPr>
          <p:cNvSpPr txBox="1"/>
          <p:nvPr/>
        </p:nvSpPr>
        <p:spPr>
          <a:xfrm>
            <a:off x="5232400" y="4427980"/>
            <a:ext cx="8085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hlinkClick r:id="rId8"/>
              </a:rPr>
              <a:t>상세교재</a:t>
            </a:r>
            <a:endParaRPr lang="ko-KR" alt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479DA20-4D37-6B63-2D43-C37936E38EA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00051" y="5843157"/>
            <a:ext cx="5194468" cy="148123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D0D4374-06E0-129A-8903-BBC144217259}"/>
              </a:ext>
            </a:extLst>
          </p:cNvPr>
          <p:cNvSpPr txBox="1"/>
          <p:nvPr/>
        </p:nvSpPr>
        <p:spPr>
          <a:xfrm>
            <a:off x="8015288" y="7319584"/>
            <a:ext cx="5279231" cy="4924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R="0" lvl="0" indent="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r>
              <a:rPr lang="en-US" altLang="ko-KR" dirty="0"/>
              <a:t>Roots</a:t>
            </a:r>
            <a:r>
              <a:rPr lang="ko-KR" altLang="en-US" dirty="0"/>
              <a:t>는 </a:t>
            </a:r>
            <a:r>
              <a:rPr lang="en-US" altLang="ko-KR" dirty="0"/>
              <a:t>"</a:t>
            </a:r>
            <a:r>
              <a:rPr lang="ko-KR" altLang="en-US" dirty="0"/>
              <a:t>잘 만들어진 서버</a:t>
            </a:r>
            <a:r>
              <a:rPr lang="en-US" altLang="ko-KR" dirty="0"/>
              <a:t>"</a:t>
            </a:r>
            <a:r>
              <a:rPr lang="ko-KR" altLang="en-US" dirty="0"/>
              <a:t>가 지키도록 </a:t>
            </a:r>
            <a:r>
              <a:rPr lang="ko-KR" altLang="en-US" b="1" dirty="0"/>
              <a:t>약속한 규약</a:t>
            </a:r>
            <a:r>
              <a:rPr lang="ko-KR" altLang="en-US" dirty="0"/>
              <a:t>이며</a:t>
            </a:r>
            <a:r>
              <a:rPr lang="en-US" altLang="ko-KR" dirty="0"/>
              <a:t>, </a:t>
            </a:r>
            <a:r>
              <a:rPr lang="ko-KR" altLang="en-US" dirty="0"/>
              <a:t>클라이언트가 </a:t>
            </a:r>
            <a:r>
              <a:rPr lang="ko-KR" altLang="en-US" dirty="0" err="1"/>
              <a:t>콜백을</a:t>
            </a:r>
            <a:r>
              <a:rPr lang="ko-KR" altLang="en-US" dirty="0"/>
              <a:t> 등록해도 서버가 호출하지 않으면 의미 없음</a:t>
            </a:r>
          </a:p>
        </p:txBody>
      </p:sp>
    </p:spTree>
    <p:extLst>
      <p:ext uri="{BB962C8B-B14F-4D97-AF65-F5344CB8AC3E}">
        <p14:creationId xmlns:p14="http://schemas.microsoft.com/office/powerpoint/2010/main" val="24395304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E1414C-2330-D90B-5359-1A32BD932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342FBEF3-8FD4-743C-6F64-204DE5847C6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71475" y="100013"/>
            <a:ext cx="14258925" cy="8286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/>
            <a:r>
              <a:rPr lang="en-US" altLang="ko-KR" sz="3200" b="1" dirty="0" err="1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나만의</a:t>
            </a:r>
            <a:r>
              <a:rPr lang="en-US" altLang="ko-KR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MCP </a:t>
            </a:r>
            <a:r>
              <a:rPr lang="en-US" altLang="ko-KR" sz="3200" b="1" dirty="0" err="1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만들기</a:t>
            </a:r>
            <a:r>
              <a:rPr lang="en-US" altLang="ko-KR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MCP</a:t>
            </a:r>
            <a:r>
              <a:rPr lang="ko-KR" alt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인증</a:t>
            </a:r>
            <a:r>
              <a:rPr lang="en-US" altLang="ko-KR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</a:t>
            </a:r>
            <a:r>
              <a:rPr lang="ko-KR" alt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인가</a:t>
            </a:r>
            <a:r>
              <a:rPr lang="en-US" altLang="ko-KR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 OAuth </a:t>
            </a:r>
            <a:r>
              <a:rPr lang="ko-KR" alt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방식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33FC6DE-EE84-F75B-81A8-36294140C9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475" y="1929416"/>
            <a:ext cx="7340792" cy="346948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F0F6F5F-5D99-F1FB-892D-BC6C63961F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6993" y="1929416"/>
            <a:ext cx="6401129" cy="1587582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B9023B1E-3715-962D-80C9-DABD16B08F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2738" y="3962814"/>
            <a:ext cx="6506823" cy="1803929"/>
          </a:xfrm>
          <a:prstGeom prst="rect">
            <a:avLst/>
          </a:prstGeom>
        </p:spPr>
      </p:pic>
      <p:grpSp>
        <p:nvGrpSpPr>
          <p:cNvPr id="13" name="그룹 12">
            <a:extLst>
              <a:ext uri="{FF2B5EF4-FFF2-40B4-BE49-F238E27FC236}">
                <a16:creationId xmlns:a16="http://schemas.microsoft.com/office/drawing/2014/main" id="{8C183368-719A-D81F-E5E8-50E61D23544F}"/>
              </a:ext>
            </a:extLst>
          </p:cNvPr>
          <p:cNvGrpSpPr/>
          <p:nvPr/>
        </p:nvGrpSpPr>
        <p:grpSpPr>
          <a:xfrm>
            <a:off x="1724918" y="1327088"/>
            <a:ext cx="4479032" cy="384048"/>
            <a:chOff x="548640" y="1051560"/>
            <a:chExt cx="2011680" cy="384048"/>
          </a:xfrm>
          <a:solidFill>
            <a:schemeClr val="bg1">
              <a:lumMod val="95000"/>
            </a:schemeClr>
          </a:solidFill>
        </p:grpSpPr>
        <p:sp>
          <p:nvSpPr>
            <p:cNvPr id="14" name="Shape 2">
              <a:extLst>
                <a:ext uri="{FF2B5EF4-FFF2-40B4-BE49-F238E27FC236}">
                  <a16:creationId xmlns:a16="http://schemas.microsoft.com/office/drawing/2014/main" id="{CC7E7ACE-40BB-347C-00FC-43E95BF81E65}"/>
                </a:ext>
              </a:extLst>
            </p:cNvPr>
            <p:cNvSpPr/>
            <p:nvPr/>
          </p:nvSpPr>
          <p:spPr>
            <a:xfrm>
              <a:off x="548640" y="1051560"/>
              <a:ext cx="2011680" cy="384048"/>
            </a:xfrm>
            <a:prstGeom prst="rect">
              <a:avLst/>
            </a:prstGeom>
            <a:grpFill/>
            <a:ln w="19050">
              <a:solidFill>
                <a:srgbClr val="1E293B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retendard" panose="02000503000000020004" pitchFamily="50" charset="-127"/>
                <a:cs typeface="+mn-cs"/>
              </a:endParaRPr>
            </a:p>
          </p:txBody>
        </p:sp>
        <p:sp>
          <p:nvSpPr>
            <p:cNvPr id="15" name="Text 3">
              <a:extLst>
                <a:ext uri="{FF2B5EF4-FFF2-40B4-BE49-F238E27FC236}">
                  <a16:creationId xmlns:a16="http://schemas.microsoft.com/office/drawing/2014/main" id="{4EB980DE-B032-B546-A4BB-8F0DC2BE8DE4}"/>
                </a:ext>
              </a:extLst>
            </p:cNvPr>
            <p:cNvSpPr/>
            <p:nvPr/>
          </p:nvSpPr>
          <p:spPr>
            <a:xfrm>
              <a:off x="548640" y="1051560"/>
              <a:ext cx="2011680" cy="384048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OAuth: Public Client </a:t>
              </a:r>
              <a:r>
                <a:rPr kumimoji="0" lang="ko-KR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방식</a:t>
              </a:r>
              <a:endPara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0D4DBBEA-42DB-9561-33B0-4F2F94D86237}"/>
              </a:ext>
            </a:extLst>
          </p:cNvPr>
          <p:cNvGrpSpPr/>
          <p:nvPr/>
        </p:nvGrpSpPr>
        <p:grpSpPr>
          <a:xfrm>
            <a:off x="8946633" y="1327088"/>
            <a:ext cx="4479032" cy="384048"/>
            <a:chOff x="548640" y="1051560"/>
            <a:chExt cx="2011680" cy="384048"/>
          </a:xfrm>
          <a:solidFill>
            <a:schemeClr val="bg1">
              <a:lumMod val="95000"/>
            </a:schemeClr>
          </a:solidFill>
        </p:grpSpPr>
        <p:sp>
          <p:nvSpPr>
            <p:cNvPr id="17" name="Shape 2">
              <a:extLst>
                <a:ext uri="{FF2B5EF4-FFF2-40B4-BE49-F238E27FC236}">
                  <a16:creationId xmlns:a16="http://schemas.microsoft.com/office/drawing/2014/main" id="{AB0CA871-DCF9-1E8E-C6B3-B0BCBCF68265}"/>
                </a:ext>
              </a:extLst>
            </p:cNvPr>
            <p:cNvSpPr/>
            <p:nvPr/>
          </p:nvSpPr>
          <p:spPr>
            <a:xfrm>
              <a:off x="548640" y="1051560"/>
              <a:ext cx="2011680" cy="384048"/>
            </a:xfrm>
            <a:prstGeom prst="rect">
              <a:avLst/>
            </a:prstGeom>
            <a:grpFill/>
            <a:ln w="19050">
              <a:solidFill>
                <a:srgbClr val="1E293B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Pretendard" panose="02000503000000020004" pitchFamily="50" charset="-127"/>
                <a:cs typeface="+mn-cs"/>
              </a:endParaRPr>
            </a:p>
          </p:txBody>
        </p:sp>
        <p:sp>
          <p:nvSpPr>
            <p:cNvPr id="18" name="Text 3">
              <a:extLst>
                <a:ext uri="{FF2B5EF4-FFF2-40B4-BE49-F238E27FC236}">
                  <a16:creationId xmlns:a16="http://schemas.microsoft.com/office/drawing/2014/main" id="{5C422D55-C372-60CC-7990-A4D275B7FA8F}"/>
                </a:ext>
              </a:extLst>
            </p:cNvPr>
            <p:cNvSpPr/>
            <p:nvPr/>
          </p:nvSpPr>
          <p:spPr>
            <a:xfrm>
              <a:off x="548640" y="1051560"/>
              <a:ext cx="2011680" cy="384048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OAuth: Credential Client </a:t>
              </a:r>
              <a:r>
                <a:rPr kumimoji="0" lang="ko-KR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방식</a:t>
              </a:r>
              <a:endPara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aphicFrame>
        <p:nvGraphicFramePr>
          <p:cNvPr id="19" name="Table 0">
            <a:extLst>
              <a:ext uri="{FF2B5EF4-FFF2-40B4-BE49-F238E27FC236}">
                <a16:creationId xmlns:a16="http://schemas.microsoft.com/office/drawing/2014/main" id="{42D20970-9963-1354-4CDD-D6408E873441}"/>
              </a:ext>
            </a:extLst>
          </p:cNvPr>
          <p:cNvGraphicFramePr>
            <a:graphicFrameLocks noGrp="1"/>
          </p:cNvGraphicFramePr>
          <p:nvPr/>
        </p:nvGraphicFramePr>
        <p:xfrm>
          <a:off x="1929539" y="6556282"/>
          <a:ext cx="10972800" cy="1207008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인증/인가 방식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실행 환경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적합 환경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Public Client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로컬: 사용자 PC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Claude Desktop, IDE 플러그인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Credential Client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서버: VM, Container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백엔드 서비스, 배치 작업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E37B3DFE-F68E-6682-F56D-35620FB24DCE}"/>
              </a:ext>
            </a:extLst>
          </p:cNvPr>
          <p:cNvSpPr txBox="1"/>
          <p:nvPr/>
        </p:nvSpPr>
        <p:spPr>
          <a:xfrm>
            <a:off x="743999" y="5424419"/>
            <a:ext cx="6136486" cy="109260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300" b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※ PKCE(Proof Key for Code Exchange) </a:t>
            </a: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원리</a:t>
            </a:r>
            <a:r>
              <a:rPr kumimoji="0" lang="en-US" altLang="ko-KR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br>
              <a:rPr kumimoji="0" lang="en-US" altLang="ko-KR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</a:br>
            <a:r>
              <a:rPr kumimoji="0" lang="en-US" altLang="ko-KR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 Client</a:t>
            </a: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 </a:t>
            </a:r>
            <a:r>
              <a:rPr kumimoji="0" lang="en-US" altLang="ko-KR" sz="13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code_verifier</a:t>
            </a:r>
            <a:r>
              <a:rPr kumimoji="0" lang="en-US" altLang="ko-KR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생성</a:t>
            </a:r>
            <a:r>
              <a:rPr kumimoji="0" lang="en-US" altLang="ko-KR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인증 시작 시 랜덤 문자열로 생성</a:t>
            </a:r>
            <a:endParaRPr kumimoji="0" lang="en-US" altLang="ko-KR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0" dirty="0">
                <a:solidFill>
                  <a:prstClr val="black"/>
                </a:solidFill>
              </a:rPr>
              <a:t>- Client</a:t>
            </a:r>
            <a:r>
              <a:rPr lang="ko-KR" altLang="en-US" b="0" dirty="0">
                <a:solidFill>
                  <a:prstClr val="black"/>
                </a:solidFill>
              </a:rPr>
              <a:t>가 </a:t>
            </a:r>
            <a:r>
              <a:rPr lang="en-US" altLang="ko-KR" b="0" dirty="0" err="1">
                <a:solidFill>
                  <a:prstClr val="black"/>
                </a:solidFill>
              </a:rPr>
              <a:t>code_challenge</a:t>
            </a:r>
            <a:r>
              <a:rPr lang="en-US" altLang="ko-KR" b="0" dirty="0">
                <a:solidFill>
                  <a:prstClr val="black"/>
                </a:solidFill>
              </a:rPr>
              <a:t> </a:t>
            </a:r>
            <a:r>
              <a:rPr lang="ko-KR" altLang="en-US" b="0" dirty="0">
                <a:solidFill>
                  <a:prstClr val="black"/>
                </a:solidFill>
              </a:rPr>
              <a:t>생성하여 인증 요청</a:t>
            </a:r>
            <a:r>
              <a:rPr lang="en-US" altLang="ko-KR" b="0" dirty="0">
                <a:solidFill>
                  <a:prstClr val="black"/>
                </a:solidFill>
              </a:rPr>
              <a:t>: </a:t>
            </a:r>
            <a:r>
              <a:rPr lang="en-US" altLang="ko-KR" b="0" dirty="0" err="1">
                <a:solidFill>
                  <a:prstClr val="black"/>
                </a:solidFill>
              </a:rPr>
              <a:t>code_verifier</a:t>
            </a:r>
            <a:r>
              <a:rPr lang="ko-KR" altLang="en-US" b="0" dirty="0">
                <a:solidFill>
                  <a:prstClr val="black"/>
                </a:solidFill>
              </a:rPr>
              <a:t>로 단방향 암호화한 공개키</a:t>
            </a:r>
            <a:r>
              <a:rPr lang="en-US" altLang="ko-KR" b="0" dirty="0">
                <a:solidFill>
                  <a:prstClr val="black"/>
                </a:solidFill>
              </a:rPr>
              <a:t> </a:t>
            </a:r>
            <a:endParaRPr kumimoji="0" lang="en-US" altLang="ko-KR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 </a:t>
            </a:r>
            <a:r>
              <a:rPr lang="en-US" altLang="ko-KR" b="0" dirty="0">
                <a:solidFill>
                  <a:prstClr val="black"/>
                </a:solidFill>
              </a:rPr>
              <a:t>Access</a:t>
            </a:r>
            <a:r>
              <a:rPr lang="ko-KR" altLang="en-US" b="0" dirty="0">
                <a:solidFill>
                  <a:prstClr val="black"/>
                </a:solidFill>
              </a:rPr>
              <a:t> </a:t>
            </a:r>
            <a:r>
              <a:rPr lang="en-US" altLang="ko-KR" b="0" dirty="0">
                <a:solidFill>
                  <a:prstClr val="black"/>
                </a:solidFill>
              </a:rPr>
              <a:t>token</a:t>
            </a:r>
            <a:r>
              <a:rPr lang="ko-KR" altLang="en-US" b="0" dirty="0">
                <a:solidFill>
                  <a:prstClr val="black"/>
                </a:solidFill>
              </a:rPr>
              <a:t> 요청 시 </a:t>
            </a:r>
            <a:r>
              <a:rPr lang="en-US" altLang="ko-KR" b="0" dirty="0" err="1">
                <a:solidFill>
                  <a:prstClr val="black"/>
                </a:solidFill>
              </a:rPr>
              <a:t>code_verifier</a:t>
            </a:r>
            <a:r>
              <a:rPr lang="en-US" altLang="ko-KR" b="0" dirty="0">
                <a:solidFill>
                  <a:prstClr val="black"/>
                </a:solidFill>
              </a:rPr>
              <a:t> </a:t>
            </a:r>
            <a:r>
              <a:rPr lang="ko-KR" altLang="en-US" b="0" dirty="0">
                <a:solidFill>
                  <a:prstClr val="black"/>
                </a:solidFill>
              </a:rPr>
              <a:t>보냄</a:t>
            </a:r>
            <a:endParaRPr lang="en-US" altLang="ko-KR" b="0" dirty="0">
              <a:solidFill>
                <a:prstClr val="black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 </a:t>
            </a:r>
            <a:r>
              <a:rPr lang="ko-KR" altLang="en-US" b="0" dirty="0">
                <a:solidFill>
                  <a:prstClr val="black"/>
                </a:solidFill>
              </a:rPr>
              <a:t>인증 서버는 </a:t>
            </a:r>
            <a:r>
              <a:rPr lang="en-US" altLang="ko-KR" b="0" dirty="0" err="1">
                <a:solidFill>
                  <a:prstClr val="black"/>
                </a:solidFill>
              </a:rPr>
              <a:t>code_verifie</a:t>
            </a:r>
            <a:r>
              <a:rPr lang="ko-KR" altLang="en-US" b="0" dirty="0">
                <a:solidFill>
                  <a:prstClr val="black"/>
                </a:solidFill>
              </a:rPr>
              <a:t>로 </a:t>
            </a:r>
            <a:r>
              <a:rPr lang="en-US" altLang="ko-KR" b="0" dirty="0" err="1">
                <a:solidFill>
                  <a:prstClr val="black"/>
                </a:solidFill>
              </a:rPr>
              <a:t>code_challenge</a:t>
            </a:r>
            <a:r>
              <a:rPr lang="ko-KR" altLang="en-US" b="0" dirty="0">
                <a:solidFill>
                  <a:prstClr val="black"/>
                </a:solidFill>
              </a:rPr>
              <a:t>값을 해독하여 동일인임을 검증</a:t>
            </a:r>
            <a:endParaRPr kumimoji="0" lang="en-US" altLang="ko-KR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2A3DB3B-89EF-3A70-0E51-C9FF90E81E53}"/>
              </a:ext>
            </a:extLst>
          </p:cNvPr>
          <p:cNvSpPr/>
          <p:nvPr/>
        </p:nvSpPr>
        <p:spPr>
          <a:xfrm>
            <a:off x="2414296" y="3902437"/>
            <a:ext cx="965985" cy="21236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rgbClr val="FF0000"/>
                </a:solidFill>
              </a:ln>
              <a:noFill/>
              <a:ea typeface="Pretendard" panose="0200050300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6ABF51C-A9BD-C6EA-7BA2-EFAAD854F364}"/>
              </a:ext>
            </a:extLst>
          </p:cNvPr>
          <p:cNvSpPr/>
          <p:nvPr/>
        </p:nvSpPr>
        <p:spPr>
          <a:xfrm>
            <a:off x="10220164" y="2915585"/>
            <a:ext cx="1262302" cy="21236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rgbClr val="FF0000"/>
                </a:solidFill>
              </a:ln>
              <a:noFill/>
              <a:ea typeface="Pretendard" panose="0200050300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BA3D562-CEC7-DF8D-F98A-1DED2B3A7E0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D069905-AE10-E849-B625-D412908E376F}" type="slidenum">
              <a:rPr kumimoji="1" lang="ko-Kore-KR" altLang="en-US" smtClean="0"/>
              <a:pPr/>
              <a:t>11</a:t>
            </a:fld>
            <a:endParaRPr kumimoji="1" lang="ko-Kore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586A44-2315-4BB7-AA77-A8EF7D63BC1B}"/>
              </a:ext>
            </a:extLst>
          </p:cNvPr>
          <p:cNvSpPr txBox="1"/>
          <p:nvPr/>
        </p:nvSpPr>
        <p:spPr>
          <a:xfrm>
            <a:off x="6361113" y="1403359"/>
            <a:ext cx="8085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hlinkClick r:id="rId6"/>
              </a:rPr>
              <a:t>상세교재</a:t>
            </a:r>
            <a:endParaRPr lang="ko-KR" alt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FD5A20-6AE9-1BB2-2E8D-ECE4A26D81DC}"/>
              </a:ext>
            </a:extLst>
          </p:cNvPr>
          <p:cNvSpPr txBox="1"/>
          <p:nvPr/>
        </p:nvSpPr>
        <p:spPr>
          <a:xfrm>
            <a:off x="13376060" y="1403359"/>
            <a:ext cx="8085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hlinkClick r:id="rId7"/>
              </a:rPr>
              <a:t>상세교재</a:t>
            </a:r>
            <a:endParaRPr lang="ko-KR" alt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2DFAA1-0FE0-A698-F206-0D0361E882DB}"/>
              </a:ext>
            </a:extLst>
          </p:cNvPr>
          <p:cNvSpPr txBox="1"/>
          <p:nvPr/>
        </p:nvSpPr>
        <p:spPr>
          <a:xfrm>
            <a:off x="600074" y="974227"/>
            <a:ext cx="13523119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R="0" lvl="0" indent="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r>
              <a:rPr lang="en-US" altLang="ko-KR" sz="1600" b="1" dirty="0"/>
              <a:t>MCP</a:t>
            </a:r>
            <a:r>
              <a:rPr lang="ko-KR" altLang="en-US" sz="1600" b="1" dirty="0"/>
              <a:t>의 표준 인증</a:t>
            </a:r>
            <a:r>
              <a:rPr lang="en-US" altLang="ko-KR" sz="1600" b="1" dirty="0"/>
              <a:t>/</a:t>
            </a:r>
            <a:r>
              <a:rPr lang="ko-KR" altLang="en-US" sz="1600" b="1" dirty="0"/>
              <a:t>인가 방식은 </a:t>
            </a:r>
            <a:r>
              <a:rPr lang="en-US" altLang="ko-KR" sz="1600" b="1" dirty="0"/>
              <a:t>OAuth </a:t>
            </a:r>
            <a:r>
              <a:rPr lang="ko-KR" altLang="en-US" sz="1600" b="1" dirty="0"/>
              <a:t>임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D378F2CA-CDA3-015A-BC27-23F69753F477}"/>
              </a:ext>
            </a:extLst>
          </p:cNvPr>
          <p:cNvGrpSpPr/>
          <p:nvPr/>
        </p:nvGrpSpPr>
        <p:grpSpPr>
          <a:xfrm>
            <a:off x="9365455" y="297184"/>
            <a:ext cx="5074105" cy="677043"/>
            <a:chOff x="457200" y="3383280"/>
            <a:chExt cx="6583680" cy="804672"/>
          </a:xfrm>
        </p:grpSpPr>
        <p:sp>
          <p:nvSpPr>
            <p:cNvPr id="21" name="Shape 7">
              <a:extLst>
                <a:ext uri="{FF2B5EF4-FFF2-40B4-BE49-F238E27FC236}">
                  <a16:creationId xmlns:a16="http://schemas.microsoft.com/office/drawing/2014/main" id="{3512851E-2F15-5E1B-9AC7-CCF4A6635B95}"/>
                </a:ext>
              </a:extLst>
            </p:cNvPr>
            <p:cNvSpPr/>
            <p:nvPr/>
          </p:nvSpPr>
          <p:spPr>
            <a:xfrm>
              <a:off x="457200" y="3383280"/>
              <a:ext cx="6583680" cy="804672"/>
            </a:xfrm>
            <a:prstGeom prst="roundRect">
              <a:avLst>
                <a:gd name="adj" fmla="val 6818"/>
              </a:avLst>
            </a:prstGeom>
            <a:solidFill>
              <a:srgbClr val="D97706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Text 8">
              <a:extLst>
                <a:ext uri="{FF2B5EF4-FFF2-40B4-BE49-F238E27FC236}">
                  <a16:creationId xmlns:a16="http://schemas.microsoft.com/office/drawing/2014/main" id="{ACDBBEFE-E0F1-43C9-6092-124AC668328E}"/>
                </a:ext>
              </a:extLst>
            </p:cNvPr>
            <p:cNvSpPr/>
            <p:nvPr/>
          </p:nvSpPr>
          <p:spPr>
            <a:xfrm>
              <a:off x="457200" y="3383280"/>
              <a:ext cx="6583680" cy="8046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HTTP </a:t>
              </a:r>
              <a:r>
                <a:rPr lang="ko-KR" altLang="en-US" sz="16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방식일때만 필요</a:t>
              </a:r>
              <a:endParaRPr lang="en-US" altLang="ko-KR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endParaRPr>
            </a:p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STDIO </a:t>
              </a:r>
              <a:r>
                <a:rPr lang="ko-KR" altLang="en-US" sz="14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방식은 </a:t>
              </a:r>
              <a:r>
                <a:rPr lang="en-US" altLang="ko-KR" sz="14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MCP Host</a:t>
              </a:r>
              <a:r>
                <a:rPr lang="ko-KR" altLang="en-US" sz="14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가 서브 프로세스로 직접 실행하므로 불필요  </a:t>
              </a:r>
              <a:endParaRPr 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26688646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8979A-0870-ACD6-806C-8C3BBE1A7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/sessions/nice-trusting-lovelace/mnt/aistudy/claude/images/jwt_direct.png">
            <a:extLst>
              <a:ext uri="{FF2B5EF4-FFF2-40B4-BE49-F238E27FC236}">
                <a16:creationId xmlns:a16="http://schemas.microsoft.com/office/drawing/2014/main" id="{F925B4E1-DC0D-F084-9B34-8229277791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040" y="1787248"/>
            <a:ext cx="6583680" cy="3591098"/>
          </a:xfrm>
          <a:prstGeom prst="rect">
            <a:avLst/>
          </a:prstGeom>
        </p:spPr>
      </p:pic>
      <p:pic>
        <p:nvPicPr>
          <p:cNvPr id="5" name="Image 1" descr="/sessions/nice-trusting-lovelace/mnt/aistudy/claude/images/jwt_authserver.png">
            <a:extLst>
              <a:ext uri="{FF2B5EF4-FFF2-40B4-BE49-F238E27FC236}">
                <a16:creationId xmlns:a16="http://schemas.microsoft.com/office/drawing/2014/main" id="{5CF6E72B-E27C-A96B-0337-AB0F979438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2480" y="1787248"/>
            <a:ext cx="6583680" cy="3591098"/>
          </a:xfrm>
          <a:prstGeom prst="rect">
            <a:avLst/>
          </a:prstGeom>
        </p:spPr>
      </p:pic>
      <p:graphicFrame>
        <p:nvGraphicFramePr>
          <p:cNvPr id="10" name="Table 0">
            <a:extLst>
              <a:ext uri="{FF2B5EF4-FFF2-40B4-BE49-F238E27FC236}">
                <a16:creationId xmlns:a16="http://schemas.microsoft.com/office/drawing/2014/main" id="{B01F047F-8359-3D71-7676-71C288B772AA}"/>
              </a:ext>
            </a:extLst>
          </p:cNvPr>
          <p:cNvGraphicFramePr>
            <a:graphicFrameLocks noGrp="1"/>
          </p:cNvGraphicFramePr>
          <p:nvPr/>
        </p:nvGraphicFramePr>
        <p:xfrm>
          <a:off x="1473200" y="5744106"/>
          <a:ext cx="10972800" cy="1207008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인증/인가 방식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실행 환경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적합 환경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JWT 직접 발급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로컬 또는 서버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프로토타입, 단일 서비스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JWT 인증서버 발급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로컬 또는 서버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내부 시스템, 다수 서버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제목 5">
            <a:extLst>
              <a:ext uri="{FF2B5EF4-FFF2-40B4-BE49-F238E27FC236}">
                <a16:creationId xmlns:a16="http://schemas.microsoft.com/office/drawing/2014/main" id="{75C60CA2-3669-1B6D-EA21-8D6F872A067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50081" y="100013"/>
            <a:ext cx="13980319" cy="8286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/>
            <a:r>
              <a:rPr lang="en-US" altLang="ko-KR" sz="3200" b="1" dirty="0" err="1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나만의</a:t>
            </a:r>
            <a:r>
              <a:rPr lang="en-US" altLang="ko-KR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MCP </a:t>
            </a:r>
            <a:r>
              <a:rPr lang="en-US" altLang="ko-KR" sz="3200" b="1" dirty="0" err="1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만들기</a:t>
            </a:r>
            <a:r>
              <a:rPr lang="en-US" altLang="ko-KR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MCP </a:t>
            </a:r>
            <a:r>
              <a:rPr lang="ko-KR" alt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인증</a:t>
            </a:r>
            <a:r>
              <a:rPr lang="en-US" altLang="ko-KR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</a:t>
            </a:r>
            <a:r>
              <a:rPr lang="ko-KR" alt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인가</a:t>
            </a:r>
            <a:r>
              <a:rPr lang="en-US" altLang="ko-KR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 JWT </a:t>
            </a:r>
            <a:r>
              <a:rPr lang="ko-KR" alt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방식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69A49F5-3C4C-2033-A430-4F5F5E414233}"/>
              </a:ext>
            </a:extLst>
          </p:cNvPr>
          <p:cNvSpPr/>
          <p:nvPr/>
        </p:nvSpPr>
        <p:spPr>
          <a:xfrm>
            <a:off x="4385349" y="2672467"/>
            <a:ext cx="631151" cy="21236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rgbClr val="FF0000"/>
                </a:solidFill>
              </a:ln>
              <a:noFill/>
              <a:ea typeface="Pretendard" panose="0200050300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8BD47CD-0EBE-680A-9C69-37607B033507}"/>
              </a:ext>
            </a:extLst>
          </p:cNvPr>
          <p:cNvSpPr/>
          <p:nvPr/>
        </p:nvSpPr>
        <p:spPr>
          <a:xfrm>
            <a:off x="11133421" y="4273915"/>
            <a:ext cx="2507628" cy="30230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rgbClr val="FF0000"/>
                </a:solidFill>
              </a:ln>
              <a:noFill/>
              <a:ea typeface="Pretendard" panose="02000503000000020004" pitchFamily="50" charset="-127"/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412F032-CAA5-7669-AF18-BA331321A49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D069905-AE10-E849-B625-D412908E376F}" type="slidenum">
              <a:rPr kumimoji="1" lang="ko-Kore-KR" altLang="en-US" smtClean="0"/>
              <a:pPr/>
              <a:t>12</a:t>
            </a:fld>
            <a:endParaRPr kumimoji="1" lang="ko-Kore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4A80B6-34D3-549E-1C17-D18D2A1CB171}"/>
              </a:ext>
            </a:extLst>
          </p:cNvPr>
          <p:cNvSpPr txBox="1"/>
          <p:nvPr/>
        </p:nvSpPr>
        <p:spPr>
          <a:xfrm>
            <a:off x="600074" y="1038523"/>
            <a:ext cx="13523119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R="0" lvl="0" indent="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r>
              <a:rPr lang="en-US" altLang="ko-KR" sz="1600" dirty="0"/>
              <a:t>OAuth </a:t>
            </a:r>
            <a:r>
              <a:rPr lang="ko-KR" altLang="en-US" sz="1600" dirty="0"/>
              <a:t>없이 </a:t>
            </a:r>
            <a:r>
              <a:rPr lang="en-US" altLang="ko-KR" sz="1600" dirty="0"/>
              <a:t>JWT(JSON Web Token)</a:t>
            </a:r>
            <a:r>
              <a:rPr lang="ko-KR" altLang="en-US" sz="1600" dirty="0"/>
              <a:t>만으로 인증을 구현하는 방식</a:t>
            </a:r>
            <a:r>
              <a:rPr lang="en-US" altLang="ko-KR" sz="1600" dirty="0"/>
              <a:t>. </a:t>
            </a:r>
          </a:p>
          <a:p>
            <a:r>
              <a:rPr lang="en-US" altLang="ko-KR" sz="1600" dirty="0"/>
              <a:t>MCP </a:t>
            </a:r>
            <a:r>
              <a:rPr lang="ko-KR" altLang="en-US" sz="1600" dirty="0"/>
              <a:t>스펙은 </a:t>
            </a:r>
            <a:r>
              <a:rPr lang="en-US" altLang="ko-KR" sz="1600" dirty="0"/>
              <a:t>OAuth 2.1</a:t>
            </a:r>
            <a:r>
              <a:rPr lang="ko-KR" altLang="en-US" sz="1600" dirty="0"/>
              <a:t>을 표준으로 지정하지만</a:t>
            </a:r>
            <a:r>
              <a:rPr lang="en-US" altLang="ko-KR" sz="1600" dirty="0"/>
              <a:t>, </a:t>
            </a:r>
            <a:r>
              <a:rPr lang="ko-KR" altLang="en-US" sz="1600" dirty="0"/>
              <a:t>내부 시스템이나 프로토타입 단계에서는 </a:t>
            </a:r>
            <a:r>
              <a:rPr lang="en-US" altLang="ko-KR" sz="1600" dirty="0"/>
              <a:t>JWT </a:t>
            </a:r>
            <a:r>
              <a:rPr lang="ko-KR" altLang="en-US" sz="1600" dirty="0"/>
              <a:t>단독 인증도 사용 가능함</a:t>
            </a:r>
            <a:r>
              <a:rPr lang="en-US" altLang="ko-KR" sz="1600" dirty="0"/>
              <a:t>.</a:t>
            </a:r>
            <a:endParaRPr lang="ko-KR" altLang="en-US" sz="1600" dirty="0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6E23FCD5-97FE-A749-8EAD-162209B5B310}"/>
              </a:ext>
            </a:extLst>
          </p:cNvPr>
          <p:cNvGrpSpPr/>
          <p:nvPr/>
        </p:nvGrpSpPr>
        <p:grpSpPr>
          <a:xfrm>
            <a:off x="9365455" y="297184"/>
            <a:ext cx="5074105" cy="677043"/>
            <a:chOff x="457200" y="3383280"/>
            <a:chExt cx="6583680" cy="804672"/>
          </a:xfrm>
        </p:grpSpPr>
        <p:sp>
          <p:nvSpPr>
            <p:cNvPr id="14" name="Shape 7">
              <a:extLst>
                <a:ext uri="{FF2B5EF4-FFF2-40B4-BE49-F238E27FC236}">
                  <a16:creationId xmlns:a16="http://schemas.microsoft.com/office/drawing/2014/main" id="{8A3FDD7F-F2EF-0F5C-D18D-5A0FD1793D16}"/>
                </a:ext>
              </a:extLst>
            </p:cNvPr>
            <p:cNvSpPr/>
            <p:nvPr/>
          </p:nvSpPr>
          <p:spPr>
            <a:xfrm>
              <a:off x="457200" y="3383280"/>
              <a:ext cx="6583680" cy="804672"/>
            </a:xfrm>
            <a:prstGeom prst="roundRect">
              <a:avLst>
                <a:gd name="adj" fmla="val 6818"/>
              </a:avLst>
            </a:prstGeom>
            <a:solidFill>
              <a:srgbClr val="D97706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Text 8">
              <a:extLst>
                <a:ext uri="{FF2B5EF4-FFF2-40B4-BE49-F238E27FC236}">
                  <a16:creationId xmlns:a16="http://schemas.microsoft.com/office/drawing/2014/main" id="{206FE1B4-8192-477D-373D-254D6466178B}"/>
                </a:ext>
              </a:extLst>
            </p:cNvPr>
            <p:cNvSpPr/>
            <p:nvPr/>
          </p:nvSpPr>
          <p:spPr>
            <a:xfrm>
              <a:off x="457200" y="3383280"/>
              <a:ext cx="6583680" cy="8046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HTTP </a:t>
              </a:r>
              <a:r>
                <a:rPr lang="ko-KR" altLang="en-US" sz="16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방식일때만 필요</a:t>
              </a:r>
              <a:endParaRPr lang="en-US" altLang="ko-KR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endParaRPr>
            </a:p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STDIO </a:t>
              </a:r>
              <a:r>
                <a:rPr lang="ko-KR" altLang="en-US" sz="14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방식은 </a:t>
              </a:r>
              <a:r>
                <a:rPr lang="en-US" altLang="ko-KR" sz="14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MCP Host</a:t>
              </a:r>
              <a:r>
                <a:rPr lang="ko-KR" altLang="en-US" sz="14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가 서브 프로세스로 직접 실행하므로 불필요  </a:t>
              </a:r>
              <a:endParaRPr 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22255330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411480"/>
            <a:ext cx="1371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나만의 MCP 만들기 — 자작 도구를 표준 도구로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69848"/>
            <a:ext cx="1371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코드는 </a:t>
            </a:r>
            <a:r>
              <a:rPr lang="en-US" sz="2000" b="1" dirty="0" err="1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Claude가</a:t>
            </a:r>
            <a:r>
              <a:rPr lang="en-US" sz="20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2000" b="1" dirty="0" err="1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생성</a:t>
            </a:r>
            <a:r>
              <a:rPr lang="ko-KR" altLang="en-US" sz="20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하고 </a:t>
            </a:r>
            <a:r>
              <a:rPr lang="en-US" sz="2000" b="1" dirty="0" err="1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설명</a:t>
            </a:r>
            <a:r>
              <a:rPr lang="ko-KR" altLang="en-US" sz="20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 줌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13716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MCP "서버" = 내 기능(도구)을 표준 방식으로 노출하는 작은 프로그램 — 만들면 Claude가 "도구함"에 </a:t>
            </a:r>
            <a:r>
              <a:rPr lang="en-US" sz="1700" b="1" dirty="0" err="1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넣고</a:t>
            </a:r>
            <a:r>
              <a:rPr lang="en-US" sz="17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씀. </a:t>
            </a:r>
          </a:p>
          <a:p>
            <a:pPr marL="0" indent="0" algn="l">
              <a:lnSpc>
                <a:spcPct val="108000"/>
              </a:lnSpc>
              <a:buNone/>
            </a:pPr>
            <a:r>
              <a:rPr lang="ko-KR" altLang="en-US" sz="17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교육에서는 원격 </a:t>
            </a:r>
            <a:r>
              <a:rPr lang="en-US" altLang="ko-KR" sz="17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MCP</a:t>
            </a:r>
            <a:r>
              <a:rPr lang="ko-KR" altLang="en-US" sz="17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제작은 다루지 않고 </a:t>
            </a:r>
            <a:r>
              <a:rPr lang="en-US" altLang="ko-KR" sz="17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Local</a:t>
            </a:r>
            <a:r>
              <a:rPr lang="ko-KR" altLang="en-US" sz="17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 </a:t>
            </a:r>
            <a:r>
              <a:rPr lang="en-US" altLang="ko-KR" sz="17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MCP</a:t>
            </a:r>
            <a:r>
              <a:rPr lang="ko-KR" altLang="en-US" sz="17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를 개발하여 연동하는 방법만 학습함 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217170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만드는 흐름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583184"/>
            <a:ext cx="6583680" cy="1060130"/>
          </a:xfrm>
          <a:prstGeom prst="roundRect">
            <a:avLst>
              <a:gd name="adj" fmla="val 6818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57200" y="2433164"/>
            <a:ext cx="6583680" cy="12887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</a:t>
            </a:r>
            <a:r>
              <a:rPr lang="en-US" sz="1600" b="1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</a:t>
            </a: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 </a:t>
            </a:r>
            <a:r>
              <a:rPr lang="ko-KR" alt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프롬프트 </a:t>
            </a:r>
            <a:r>
              <a:rPr lang="en-US" altLang="ko-KR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r>
              <a:rPr lang="ko-KR" alt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 요소로 개발 요청</a:t>
            </a:r>
            <a:endParaRPr lang="en-US" altLang="ko-KR" sz="1600" b="1" dirty="0">
              <a:solidFill>
                <a:srgbClr val="FFFFFF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ctr">
              <a:buNone/>
            </a:pPr>
            <a:r>
              <a:rPr lang="en-US" altLang="ko-KR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MCP</a:t>
            </a:r>
            <a:r>
              <a:rPr lang="ko-KR" alt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아키텍처</a:t>
            </a:r>
            <a:r>
              <a:rPr lang="en-US" altLang="ko-KR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(Host/Client/Server), </a:t>
            </a:r>
            <a:r>
              <a:rPr lang="ko-KR" alt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통신방식</a:t>
            </a:r>
            <a:r>
              <a:rPr lang="en-US" altLang="ko-KR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(STDIO/HTTP), </a:t>
            </a:r>
            <a:br>
              <a:rPr lang="en-US" altLang="ko-KR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</a:br>
            <a:r>
              <a:rPr lang="ko-KR" alt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핵심기능</a:t>
            </a:r>
            <a:r>
              <a:rPr lang="en-US" altLang="ko-KR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(Tools, Resources, Prompts)</a:t>
            </a:r>
            <a:r>
              <a:rPr lang="ko-KR" alt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 이해</a:t>
            </a:r>
            <a:r>
              <a:rPr lang="en-US" altLang="ko-KR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1400" dirty="0"/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1722093D-2C37-F7D0-C89E-EABA291284C3}"/>
              </a:ext>
            </a:extLst>
          </p:cNvPr>
          <p:cNvGrpSpPr/>
          <p:nvPr/>
        </p:nvGrpSpPr>
        <p:grpSpPr>
          <a:xfrm>
            <a:off x="457200" y="3847627"/>
            <a:ext cx="6583680" cy="804672"/>
            <a:chOff x="457200" y="3383280"/>
            <a:chExt cx="6583680" cy="804672"/>
          </a:xfrm>
        </p:grpSpPr>
        <p:sp>
          <p:nvSpPr>
            <p:cNvPr id="9" name="Shape 7"/>
            <p:cNvSpPr/>
            <p:nvPr/>
          </p:nvSpPr>
          <p:spPr>
            <a:xfrm>
              <a:off x="457200" y="3383280"/>
              <a:ext cx="6583680" cy="804672"/>
            </a:xfrm>
            <a:prstGeom prst="roundRect">
              <a:avLst>
                <a:gd name="adj" fmla="val 6818"/>
              </a:avLst>
            </a:prstGeom>
            <a:solidFill>
              <a:srgbClr val="D97706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Text 8"/>
            <p:cNvSpPr/>
            <p:nvPr/>
          </p:nvSpPr>
          <p:spPr>
            <a:xfrm>
              <a:off x="457200" y="3383280"/>
              <a:ext cx="6583680" cy="8046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② 생성: Claude가 파이썬/노드 SDK 코드를 </a:t>
              </a:r>
              <a:r>
                <a:rPr lang="en-US" sz="1600" b="1" dirty="0" err="1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작성·설명</a:t>
              </a:r>
              <a:endParaRPr lang="en-US" sz="1600" dirty="0"/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32D5218A-DE45-169C-C9D4-18BD76AB0CEB}"/>
              </a:ext>
            </a:extLst>
          </p:cNvPr>
          <p:cNvGrpSpPr/>
          <p:nvPr/>
        </p:nvGrpSpPr>
        <p:grpSpPr>
          <a:xfrm>
            <a:off x="457200" y="4854893"/>
            <a:ext cx="6583680" cy="804672"/>
            <a:chOff x="457200" y="4297680"/>
            <a:chExt cx="6583680" cy="804672"/>
          </a:xfrm>
        </p:grpSpPr>
        <p:sp>
          <p:nvSpPr>
            <p:cNvPr id="11" name="Shape 9"/>
            <p:cNvSpPr/>
            <p:nvPr/>
          </p:nvSpPr>
          <p:spPr>
            <a:xfrm>
              <a:off x="457200" y="4297680"/>
              <a:ext cx="6583680" cy="804672"/>
            </a:xfrm>
            <a:prstGeom prst="roundRect">
              <a:avLst>
                <a:gd name="adj" fmla="val 6818"/>
              </a:avLst>
            </a:prstGeom>
            <a:solidFill>
              <a:srgbClr val="05966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 10"/>
            <p:cNvSpPr/>
            <p:nvPr/>
          </p:nvSpPr>
          <p:spPr>
            <a:xfrm>
              <a:off x="457200" y="4297680"/>
              <a:ext cx="6583680" cy="8046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③ </a:t>
              </a:r>
              <a:r>
                <a:rPr lang="en-US" sz="1600" b="1" dirty="0" err="1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MCP로</a:t>
              </a:r>
              <a:r>
                <a:rPr lang="en-US" sz="16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</a:t>
              </a:r>
              <a:r>
                <a:rPr lang="en-US" sz="1600" b="1" dirty="0" err="1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등록</a:t>
              </a:r>
              <a:r>
                <a:rPr lang="en-US" sz="16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: “</a:t>
              </a:r>
              <a:r>
                <a:rPr lang="ko-KR" altLang="en-US" sz="1600" b="1" dirty="0" err="1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유저스콥으로</a:t>
              </a:r>
              <a:r>
                <a:rPr lang="ko-KR" altLang="en-US" sz="16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</a:t>
              </a:r>
              <a:r>
                <a:rPr lang="en-US" altLang="ko-KR" sz="16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‘xxx’</a:t>
              </a:r>
              <a:r>
                <a:rPr lang="ko-KR" altLang="en-US" sz="16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라는 이름으로 </a:t>
              </a:r>
              <a:r>
                <a:rPr lang="en-US" altLang="ko-KR" sz="16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MCP </a:t>
              </a:r>
              <a:r>
                <a:rPr lang="ko-KR" altLang="en-US" sz="16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등록해요</a:t>
              </a:r>
              <a:r>
                <a:rPr lang="en-US" altLang="ko-KR" sz="16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”</a:t>
              </a:r>
              <a:r>
                <a:rPr lang="ko-KR" altLang="en-US" sz="16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</a:t>
              </a:r>
              <a:endParaRPr lang="en-US" sz="1600" dirty="0"/>
            </a:p>
          </p:txBody>
        </p:sp>
      </p:grpSp>
      <p:sp>
        <p:nvSpPr>
          <p:cNvPr id="13" name="Shape 11"/>
          <p:cNvSpPr/>
          <p:nvPr/>
        </p:nvSpPr>
        <p:spPr>
          <a:xfrm>
            <a:off x="7315200" y="2583184"/>
            <a:ext cx="6858000" cy="3403279"/>
          </a:xfrm>
          <a:prstGeom prst="roundRect">
            <a:avLst>
              <a:gd name="adj" fmla="val 3077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7479792" y="2614328"/>
            <a:ext cx="6528816" cy="33649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ko-KR" altLang="en-US" sz="1600" b="1" dirty="0"/>
              <a:t>비개발자도 아래 개념만 이해하면 프롬프트로 개발 가능</a:t>
            </a:r>
            <a:endParaRPr lang="en-US" altLang="ko-KR" sz="1600" b="1" dirty="0"/>
          </a:p>
          <a:p>
            <a:pPr marL="0" indent="0" algn="l">
              <a:lnSpc>
                <a:spcPct val="112000"/>
              </a:lnSpc>
              <a:buNone/>
            </a:pPr>
            <a:endParaRPr lang="en-US" sz="1600" dirty="0"/>
          </a:p>
          <a:p>
            <a:pPr marL="342900" indent="-342900" algn="l">
              <a:lnSpc>
                <a:spcPct val="112000"/>
              </a:lnSpc>
              <a:buAutoNum type="arabicPeriod"/>
            </a:pPr>
            <a:r>
              <a:rPr lang="en-US" sz="1400" dirty="0">
                <a:solidFill>
                  <a:srgbClr val="2C2926"/>
                </a:solidFill>
                <a:ea typeface="Consolas" pitchFamily="34" charset="-122"/>
                <a:cs typeface="Consolas" pitchFamily="34" charset="-120"/>
              </a:rPr>
              <a:t>MCP </a:t>
            </a:r>
            <a:r>
              <a:rPr lang="ko-KR" altLang="en-US" sz="1400" dirty="0">
                <a:solidFill>
                  <a:srgbClr val="2C2926"/>
                </a:solidFill>
                <a:ea typeface="Consolas" pitchFamily="34" charset="-122"/>
                <a:cs typeface="Consolas" pitchFamily="34" charset="-120"/>
              </a:rPr>
              <a:t>아키텍처</a:t>
            </a:r>
            <a:br>
              <a:rPr lang="en-US" altLang="ko-KR" sz="1400" dirty="0">
                <a:solidFill>
                  <a:srgbClr val="2C2926"/>
                </a:solidFill>
                <a:ea typeface="Consolas" pitchFamily="34" charset="-122"/>
                <a:cs typeface="Consolas" pitchFamily="34" charset="-120"/>
              </a:rPr>
            </a:br>
            <a:r>
              <a:rPr lang="en-US" altLang="ko-KR" sz="1400" dirty="0">
                <a:solidFill>
                  <a:srgbClr val="2C2926"/>
                </a:solidFill>
                <a:ea typeface="Consolas" pitchFamily="34" charset="-122"/>
                <a:cs typeface="Consolas" pitchFamily="34" charset="-120"/>
              </a:rPr>
              <a:t>- Host: MCP</a:t>
            </a:r>
            <a:r>
              <a:rPr lang="ko-KR" altLang="en-US" sz="1400" dirty="0">
                <a:solidFill>
                  <a:srgbClr val="2C2926"/>
                </a:solidFill>
                <a:ea typeface="Consolas" pitchFamily="34" charset="-122"/>
                <a:cs typeface="Consolas" pitchFamily="34" charset="-120"/>
              </a:rPr>
              <a:t> </a:t>
            </a:r>
            <a:r>
              <a:rPr lang="en-US" altLang="ko-KR" sz="1400" dirty="0">
                <a:solidFill>
                  <a:srgbClr val="2C2926"/>
                </a:solidFill>
                <a:ea typeface="Consolas" pitchFamily="34" charset="-122"/>
                <a:cs typeface="Consolas" pitchFamily="34" charset="-120"/>
              </a:rPr>
              <a:t>Client</a:t>
            </a:r>
            <a:r>
              <a:rPr lang="ko-KR" altLang="en-US" sz="1400" dirty="0">
                <a:solidFill>
                  <a:srgbClr val="2C2926"/>
                </a:solidFill>
                <a:ea typeface="Consolas" pitchFamily="34" charset="-122"/>
                <a:cs typeface="Consolas" pitchFamily="34" charset="-120"/>
              </a:rPr>
              <a:t>를 구동하는 머신</a:t>
            </a:r>
            <a:br>
              <a:rPr lang="en-US" altLang="ko-KR" sz="1400" dirty="0">
                <a:solidFill>
                  <a:srgbClr val="2C2926"/>
                </a:solidFill>
                <a:ea typeface="Consolas" pitchFamily="34" charset="-122"/>
                <a:cs typeface="Consolas" pitchFamily="34" charset="-120"/>
              </a:rPr>
            </a:br>
            <a:r>
              <a:rPr lang="en-US" altLang="ko-KR" sz="1400" dirty="0">
                <a:solidFill>
                  <a:srgbClr val="2C2926"/>
                </a:solidFill>
                <a:ea typeface="Consolas" pitchFamily="34" charset="-122"/>
                <a:cs typeface="Consolas" pitchFamily="34" charset="-120"/>
              </a:rPr>
              <a:t>- Client: MCP Server</a:t>
            </a:r>
            <a:r>
              <a:rPr lang="ko-KR" altLang="en-US" sz="1400" dirty="0">
                <a:solidFill>
                  <a:srgbClr val="2C2926"/>
                </a:solidFill>
                <a:ea typeface="Consolas" pitchFamily="34" charset="-122"/>
                <a:cs typeface="Consolas" pitchFamily="34" charset="-120"/>
              </a:rPr>
              <a:t>와 통신하는 앱</a:t>
            </a:r>
            <a:r>
              <a:rPr lang="en-US" altLang="ko-KR" sz="1400" dirty="0">
                <a:solidFill>
                  <a:srgbClr val="2C2926"/>
                </a:solidFill>
                <a:ea typeface="Consolas" pitchFamily="34" charset="-122"/>
                <a:cs typeface="Consolas" pitchFamily="34" charset="-120"/>
              </a:rPr>
              <a:t>(</a:t>
            </a:r>
            <a:r>
              <a:rPr lang="ko-KR" altLang="en-US" sz="1400" dirty="0">
                <a:solidFill>
                  <a:srgbClr val="2C2926"/>
                </a:solidFill>
                <a:ea typeface="Consolas" pitchFamily="34" charset="-122"/>
                <a:cs typeface="Consolas" pitchFamily="34" charset="-120"/>
              </a:rPr>
              <a:t>예</a:t>
            </a:r>
            <a:r>
              <a:rPr lang="en-US" altLang="ko-KR" sz="1400" dirty="0">
                <a:solidFill>
                  <a:srgbClr val="2C2926"/>
                </a:solidFill>
                <a:ea typeface="Consolas" pitchFamily="34" charset="-122"/>
                <a:cs typeface="Consolas" pitchFamily="34" charset="-120"/>
              </a:rPr>
              <a:t>: Claude Code)</a:t>
            </a:r>
            <a:br>
              <a:rPr lang="en-US" altLang="ko-KR" sz="1400" dirty="0">
                <a:solidFill>
                  <a:srgbClr val="2C2926"/>
                </a:solidFill>
                <a:ea typeface="Consolas" pitchFamily="34" charset="-122"/>
                <a:cs typeface="Consolas" pitchFamily="34" charset="-120"/>
              </a:rPr>
            </a:br>
            <a:r>
              <a:rPr lang="en-US" altLang="ko-KR" sz="1400" dirty="0">
                <a:solidFill>
                  <a:srgbClr val="2C2926"/>
                </a:solidFill>
                <a:ea typeface="Consolas" pitchFamily="34" charset="-122"/>
                <a:cs typeface="Consolas" pitchFamily="34" charset="-120"/>
              </a:rPr>
              <a:t>- Server: Tools, Resources, Prompts </a:t>
            </a:r>
            <a:r>
              <a:rPr lang="ko-KR" altLang="en-US" sz="1400" dirty="0">
                <a:solidFill>
                  <a:srgbClr val="2C2926"/>
                </a:solidFill>
                <a:ea typeface="Consolas" pitchFamily="34" charset="-122"/>
                <a:cs typeface="Consolas" pitchFamily="34" charset="-120"/>
              </a:rPr>
              <a:t>기능 제공 서버</a:t>
            </a:r>
            <a:endParaRPr lang="en-US" altLang="ko-KR" sz="1400" dirty="0">
              <a:solidFill>
                <a:srgbClr val="2C2926"/>
              </a:solidFill>
              <a:ea typeface="Consolas" pitchFamily="34" charset="-122"/>
              <a:cs typeface="Consolas" pitchFamily="34" charset="-120"/>
            </a:endParaRPr>
          </a:p>
          <a:p>
            <a:pPr marL="342900" indent="-342900" algn="l">
              <a:lnSpc>
                <a:spcPct val="112000"/>
              </a:lnSpc>
              <a:buAutoNum type="arabicPeriod"/>
            </a:pPr>
            <a:r>
              <a:rPr lang="en-US" sz="1400" dirty="0">
                <a:solidFill>
                  <a:srgbClr val="2C2926"/>
                </a:solidFill>
                <a:ea typeface="Consolas" pitchFamily="34" charset="-122"/>
                <a:cs typeface="Consolas" pitchFamily="34" charset="-120"/>
              </a:rPr>
              <a:t>MCP </a:t>
            </a:r>
            <a:r>
              <a:rPr lang="ko-KR" altLang="en-US" sz="1400" dirty="0">
                <a:solidFill>
                  <a:srgbClr val="2C2926"/>
                </a:solidFill>
                <a:ea typeface="Consolas" pitchFamily="34" charset="-122"/>
                <a:cs typeface="Consolas" pitchFamily="34" charset="-120"/>
              </a:rPr>
              <a:t>핵심기능</a:t>
            </a:r>
            <a:br>
              <a:rPr lang="en-US" altLang="ko-KR" sz="1400" dirty="0">
                <a:solidFill>
                  <a:srgbClr val="2C2926"/>
                </a:solidFill>
                <a:ea typeface="Consolas" pitchFamily="34" charset="-122"/>
                <a:cs typeface="Consolas" pitchFamily="34" charset="-120"/>
              </a:rPr>
            </a:br>
            <a:r>
              <a:rPr lang="en-US" altLang="ko-KR" sz="1400" dirty="0">
                <a:solidFill>
                  <a:srgbClr val="2C2926"/>
                </a:solidFill>
                <a:ea typeface="Consolas" pitchFamily="34" charset="-122"/>
                <a:cs typeface="Consolas" pitchFamily="34" charset="-120"/>
              </a:rPr>
              <a:t>- </a:t>
            </a:r>
            <a:r>
              <a:rPr lang="en-US" sz="1400" dirty="0" err="1">
                <a:solidFill>
                  <a:srgbClr val="2C2926"/>
                </a:solidFill>
                <a:ea typeface="Consolas" pitchFamily="34" charset="-122"/>
                <a:cs typeface="Consolas" pitchFamily="34" charset="-120"/>
              </a:rPr>
              <a:t>도구</a:t>
            </a:r>
            <a:r>
              <a:rPr lang="en-US" sz="1400" dirty="0">
                <a:solidFill>
                  <a:srgbClr val="2C2926"/>
                </a:solidFill>
                <a:ea typeface="Consolas" pitchFamily="34" charset="-122"/>
                <a:cs typeface="Consolas" pitchFamily="34" charset="-120"/>
              </a:rPr>
              <a:t>(Tools)     : Claude가 </a:t>
            </a:r>
            <a:r>
              <a:rPr lang="en-US" sz="1400" dirty="0" err="1">
                <a:solidFill>
                  <a:srgbClr val="2C2926"/>
                </a:solidFill>
                <a:ea typeface="Consolas" pitchFamily="34" charset="-122"/>
                <a:cs typeface="Consolas" pitchFamily="34" charset="-120"/>
              </a:rPr>
              <a:t>호출하는</a:t>
            </a:r>
            <a:r>
              <a:rPr lang="en-US" sz="1400" dirty="0">
                <a:solidFill>
                  <a:srgbClr val="2C2926"/>
                </a:solidFill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 err="1">
                <a:solidFill>
                  <a:srgbClr val="2C2926"/>
                </a:solidFill>
                <a:ea typeface="Consolas" pitchFamily="34" charset="-122"/>
                <a:cs typeface="Consolas" pitchFamily="34" charset="-120"/>
              </a:rPr>
              <a:t>기능</a:t>
            </a:r>
            <a:br>
              <a:rPr lang="en-US" sz="1400" dirty="0">
                <a:solidFill>
                  <a:srgbClr val="2C2926"/>
                </a:solidFill>
                <a:ea typeface="Consolas" pitchFamily="34" charset="-122"/>
                <a:cs typeface="Consolas" pitchFamily="34" charset="-120"/>
              </a:rPr>
            </a:br>
            <a:r>
              <a:rPr lang="en-US" sz="1400" dirty="0">
                <a:solidFill>
                  <a:srgbClr val="2C2926"/>
                </a:solidFill>
                <a:ea typeface="Consolas" pitchFamily="34" charset="-122"/>
                <a:cs typeface="Consolas" pitchFamily="34" charset="-120"/>
              </a:rPr>
              <a:t>- </a:t>
            </a:r>
            <a:r>
              <a:rPr lang="en-US" sz="1400" dirty="0" err="1">
                <a:solidFill>
                  <a:srgbClr val="2C2926"/>
                </a:solidFill>
                <a:ea typeface="Consolas" pitchFamily="34" charset="-122"/>
                <a:cs typeface="Consolas" pitchFamily="34" charset="-120"/>
              </a:rPr>
              <a:t>리소스</a:t>
            </a:r>
            <a:r>
              <a:rPr lang="en-US" sz="1400" dirty="0">
                <a:solidFill>
                  <a:srgbClr val="2C2926"/>
                </a:solidFill>
                <a:ea typeface="Consolas" pitchFamily="34" charset="-122"/>
                <a:cs typeface="Consolas" pitchFamily="34" charset="-120"/>
              </a:rPr>
              <a:t>(Resources): 읽어올 </a:t>
            </a:r>
            <a:r>
              <a:rPr lang="en-US" sz="1400" dirty="0" err="1">
                <a:solidFill>
                  <a:srgbClr val="2C2926"/>
                </a:solidFill>
                <a:ea typeface="Consolas" pitchFamily="34" charset="-122"/>
                <a:cs typeface="Consolas" pitchFamily="34" charset="-120"/>
              </a:rPr>
              <a:t>데이터</a:t>
            </a:r>
            <a:r>
              <a:rPr lang="en-US" sz="1400" dirty="0">
                <a:solidFill>
                  <a:srgbClr val="2C2926"/>
                </a:solidFill>
                <a:ea typeface="Consolas" pitchFamily="34" charset="-122"/>
                <a:cs typeface="Consolas" pitchFamily="34" charset="-120"/>
              </a:rPr>
              <a:t>(</a:t>
            </a:r>
            <a:r>
              <a:rPr lang="ko-KR" altLang="en-US" sz="1400" dirty="0">
                <a:solidFill>
                  <a:srgbClr val="2C2926"/>
                </a:solidFill>
                <a:ea typeface="Consolas" pitchFamily="34" charset="-122"/>
                <a:cs typeface="Consolas" pitchFamily="34" charset="-120"/>
              </a:rPr>
              <a:t>설정</a:t>
            </a:r>
            <a:r>
              <a:rPr lang="en-US" altLang="ko-KR" sz="1400" dirty="0">
                <a:solidFill>
                  <a:srgbClr val="2C2926"/>
                </a:solidFill>
                <a:ea typeface="Consolas" pitchFamily="34" charset="-122"/>
                <a:cs typeface="Consolas" pitchFamily="34" charset="-120"/>
              </a:rPr>
              <a:t>, </a:t>
            </a:r>
            <a:r>
              <a:rPr lang="ko-KR" altLang="en-US" sz="1400" dirty="0">
                <a:solidFill>
                  <a:srgbClr val="2C2926"/>
                </a:solidFill>
                <a:ea typeface="Consolas" pitchFamily="34" charset="-122"/>
                <a:cs typeface="Consolas" pitchFamily="34" charset="-120"/>
              </a:rPr>
              <a:t>처리 히스토리</a:t>
            </a:r>
            <a:r>
              <a:rPr lang="en-US" sz="1400" dirty="0">
                <a:solidFill>
                  <a:srgbClr val="2C2926"/>
                </a:solidFill>
                <a:ea typeface="Consolas" pitchFamily="34" charset="-122"/>
                <a:cs typeface="Consolas" pitchFamily="34" charset="-120"/>
              </a:rPr>
              <a:t>)</a:t>
            </a:r>
            <a:br>
              <a:rPr lang="en-US" sz="1400" dirty="0">
                <a:solidFill>
                  <a:srgbClr val="2C2926"/>
                </a:solidFill>
                <a:ea typeface="Consolas" pitchFamily="34" charset="-122"/>
                <a:cs typeface="Consolas" pitchFamily="34" charset="-120"/>
              </a:rPr>
            </a:br>
            <a:r>
              <a:rPr lang="en-US" sz="1400" dirty="0">
                <a:solidFill>
                  <a:srgbClr val="2C2926"/>
                </a:solidFill>
                <a:ea typeface="Consolas" pitchFamily="34" charset="-122"/>
                <a:cs typeface="Consolas" pitchFamily="34" charset="-120"/>
              </a:rPr>
              <a:t>- </a:t>
            </a:r>
            <a:r>
              <a:rPr lang="en-US" sz="1400" dirty="0" err="1">
                <a:solidFill>
                  <a:srgbClr val="2C2926"/>
                </a:solidFill>
                <a:ea typeface="Consolas" pitchFamily="34" charset="-122"/>
                <a:cs typeface="Consolas" pitchFamily="34" charset="-120"/>
              </a:rPr>
              <a:t>프롬프트</a:t>
            </a:r>
            <a:r>
              <a:rPr lang="en-US" sz="1400" dirty="0">
                <a:solidFill>
                  <a:srgbClr val="2C2926"/>
                </a:solidFill>
                <a:ea typeface="Consolas" pitchFamily="34" charset="-122"/>
                <a:cs typeface="Consolas" pitchFamily="34" charset="-120"/>
              </a:rPr>
              <a:t>(Prompts): 자주 </a:t>
            </a:r>
            <a:r>
              <a:rPr lang="en-US" sz="1400" dirty="0" err="1">
                <a:solidFill>
                  <a:srgbClr val="2C2926"/>
                </a:solidFill>
                <a:ea typeface="Consolas" pitchFamily="34" charset="-122"/>
                <a:cs typeface="Consolas" pitchFamily="34" charset="-120"/>
              </a:rPr>
              <a:t>쓰는</a:t>
            </a:r>
            <a:r>
              <a:rPr lang="en-US" sz="1400" dirty="0">
                <a:solidFill>
                  <a:srgbClr val="2C2926"/>
                </a:solidFill>
                <a:ea typeface="Consolas" pitchFamily="34" charset="-122"/>
                <a:cs typeface="Consolas" pitchFamily="34" charset="-120"/>
              </a:rPr>
              <a:t> </a:t>
            </a:r>
            <a:r>
              <a:rPr lang="ko-KR" altLang="en-US" sz="1400" dirty="0">
                <a:solidFill>
                  <a:srgbClr val="2C2926"/>
                </a:solidFill>
                <a:ea typeface="Consolas" pitchFamily="34" charset="-122"/>
                <a:cs typeface="Consolas" pitchFamily="34" charset="-120"/>
              </a:rPr>
              <a:t>프롬프트</a:t>
            </a:r>
            <a:r>
              <a:rPr lang="en-US" sz="1400" dirty="0">
                <a:solidFill>
                  <a:srgbClr val="2C2926"/>
                </a:solidFill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 err="1">
                <a:solidFill>
                  <a:srgbClr val="2C2926"/>
                </a:solidFill>
                <a:ea typeface="Consolas" pitchFamily="34" charset="-122"/>
                <a:cs typeface="Consolas" pitchFamily="34" charset="-120"/>
              </a:rPr>
              <a:t>템플릿</a:t>
            </a:r>
            <a:endParaRPr lang="en-US" sz="1400" dirty="0">
              <a:solidFill>
                <a:srgbClr val="2C2926"/>
              </a:solidFill>
              <a:ea typeface="Consolas" pitchFamily="34" charset="-122"/>
              <a:cs typeface="Consolas" pitchFamily="34" charset="-120"/>
            </a:endParaRPr>
          </a:p>
          <a:p>
            <a:pPr marL="342900" indent="-342900" algn="l">
              <a:lnSpc>
                <a:spcPct val="112000"/>
              </a:lnSpc>
              <a:buAutoNum type="arabicPeriod"/>
            </a:pPr>
            <a:r>
              <a:rPr lang="ko-KR" altLang="en-US" sz="1400" dirty="0">
                <a:solidFill>
                  <a:srgbClr val="2C2926"/>
                </a:solidFill>
              </a:rPr>
              <a:t>통신방식</a:t>
            </a:r>
            <a:br>
              <a:rPr lang="en-US" altLang="ko-KR" sz="1400" dirty="0">
                <a:solidFill>
                  <a:srgbClr val="2C2926"/>
                </a:solidFill>
              </a:rPr>
            </a:br>
            <a:r>
              <a:rPr lang="en-US" altLang="ko-KR" sz="1400" dirty="0">
                <a:solidFill>
                  <a:srgbClr val="2C2926"/>
                </a:solidFill>
              </a:rPr>
              <a:t>- STDIO: MCP</a:t>
            </a:r>
            <a:r>
              <a:rPr lang="ko-KR" altLang="en-US" sz="1400" dirty="0">
                <a:solidFill>
                  <a:srgbClr val="2C2926"/>
                </a:solidFill>
              </a:rPr>
              <a:t> </a:t>
            </a:r>
            <a:r>
              <a:rPr lang="en-US" altLang="ko-KR" sz="1400" dirty="0">
                <a:solidFill>
                  <a:srgbClr val="2C2926"/>
                </a:solidFill>
              </a:rPr>
              <a:t>Host</a:t>
            </a:r>
            <a:r>
              <a:rPr lang="ko-KR" altLang="en-US" sz="1400" dirty="0">
                <a:solidFill>
                  <a:srgbClr val="2C2926"/>
                </a:solidFill>
              </a:rPr>
              <a:t>가 서브 프로세스로 호출</a:t>
            </a:r>
            <a:r>
              <a:rPr lang="en-US" altLang="ko-KR" sz="1400" dirty="0">
                <a:solidFill>
                  <a:srgbClr val="2C2926"/>
                </a:solidFill>
              </a:rPr>
              <a:t>. Client</a:t>
            </a:r>
            <a:r>
              <a:rPr lang="ko-KR" altLang="en-US" sz="1400" dirty="0">
                <a:solidFill>
                  <a:srgbClr val="2C2926"/>
                </a:solidFill>
              </a:rPr>
              <a:t>와 동일 </a:t>
            </a:r>
            <a:r>
              <a:rPr lang="ko-KR" altLang="en-US" sz="1400" dirty="0" err="1">
                <a:solidFill>
                  <a:srgbClr val="2C2926"/>
                </a:solidFill>
              </a:rPr>
              <a:t>머신에</a:t>
            </a:r>
            <a:r>
              <a:rPr lang="ko-KR" altLang="en-US" sz="1400" dirty="0">
                <a:solidFill>
                  <a:srgbClr val="2C2926"/>
                </a:solidFill>
              </a:rPr>
              <a:t> 존재</a:t>
            </a:r>
            <a:br>
              <a:rPr lang="en-US" altLang="ko-KR" sz="1400" dirty="0">
                <a:solidFill>
                  <a:srgbClr val="2C2926"/>
                </a:solidFill>
              </a:rPr>
            </a:br>
            <a:r>
              <a:rPr lang="en-US" altLang="ko-KR" sz="1400" dirty="0">
                <a:solidFill>
                  <a:srgbClr val="2C2926"/>
                </a:solidFill>
              </a:rPr>
              <a:t>- HTTP: MCP Client</a:t>
            </a:r>
            <a:r>
              <a:rPr lang="ko-KR" altLang="en-US" sz="1400" dirty="0">
                <a:solidFill>
                  <a:srgbClr val="2C2926"/>
                </a:solidFill>
              </a:rPr>
              <a:t>가 </a:t>
            </a:r>
            <a:r>
              <a:rPr lang="en-US" altLang="ko-KR" sz="1400" dirty="0">
                <a:solidFill>
                  <a:srgbClr val="2C2926"/>
                </a:solidFill>
              </a:rPr>
              <a:t>HTTP</a:t>
            </a:r>
            <a:r>
              <a:rPr lang="ko-KR" altLang="en-US" sz="1400" dirty="0">
                <a:solidFill>
                  <a:srgbClr val="2C2926"/>
                </a:solidFill>
              </a:rPr>
              <a:t>로 호출</a:t>
            </a:r>
            <a:r>
              <a:rPr lang="en-US" altLang="ko-KR" sz="1400" dirty="0">
                <a:solidFill>
                  <a:srgbClr val="2C2926"/>
                </a:solidFill>
              </a:rPr>
              <a:t>. </a:t>
            </a:r>
            <a:r>
              <a:rPr lang="ko-KR" altLang="en-US" sz="1400" dirty="0">
                <a:solidFill>
                  <a:srgbClr val="2C2926"/>
                </a:solidFill>
              </a:rPr>
              <a:t>보통 </a:t>
            </a:r>
            <a:r>
              <a:rPr lang="en-US" altLang="ko-KR" sz="1400" dirty="0">
                <a:solidFill>
                  <a:srgbClr val="2C2926"/>
                </a:solidFill>
              </a:rPr>
              <a:t>Client</a:t>
            </a:r>
            <a:r>
              <a:rPr lang="ko-KR" altLang="en-US" sz="1400" dirty="0">
                <a:solidFill>
                  <a:srgbClr val="2C2926"/>
                </a:solidFill>
              </a:rPr>
              <a:t>와 다른 </a:t>
            </a:r>
            <a:r>
              <a:rPr lang="ko-KR" altLang="en-US" sz="1400" dirty="0" err="1">
                <a:solidFill>
                  <a:srgbClr val="2C2926"/>
                </a:solidFill>
              </a:rPr>
              <a:t>머신에</a:t>
            </a:r>
            <a:r>
              <a:rPr lang="ko-KR" altLang="en-US" sz="1400" dirty="0">
                <a:solidFill>
                  <a:srgbClr val="2C2926"/>
                </a:solidFill>
              </a:rPr>
              <a:t> 존재</a:t>
            </a:r>
            <a:endParaRPr lang="en-US" sz="1400" dirty="0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66DC32C6-DBF7-BBC1-7ACB-EF3BEE15C8B9}"/>
              </a:ext>
            </a:extLst>
          </p:cNvPr>
          <p:cNvGrpSpPr/>
          <p:nvPr/>
        </p:nvGrpSpPr>
        <p:grpSpPr>
          <a:xfrm>
            <a:off x="457200" y="6905156"/>
            <a:ext cx="13716000" cy="685800"/>
            <a:chOff x="457200" y="6762278"/>
            <a:chExt cx="13716000" cy="685800"/>
          </a:xfrm>
        </p:grpSpPr>
        <p:sp>
          <p:nvSpPr>
            <p:cNvPr id="16" name="Shape 13"/>
            <p:cNvSpPr/>
            <p:nvPr/>
          </p:nvSpPr>
          <p:spPr>
            <a:xfrm>
              <a:off x="457200" y="6762278"/>
              <a:ext cx="13716000" cy="685800"/>
            </a:xfrm>
            <a:prstGeom prst="roundRect">
              <a:avLst>
                <a:gd name="adj" fmla="val 10667"/>
              </a:avLst>
            </a:prstGeom>
            <a:solidFill>
              <a:srgbClr val="CCFBF1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Text 14"/>
            <p:cNvSpPr/>
            <p:nvPr/>
          </p:nvSpPr>
          <p:spPr>
            <a:xfrm>
              <a:off x="640080" y="6762278"/>
              <a:ext cx="13350240" cy="685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lnSpc>
                  <a:spcPct val="105000"/>
                </a:lnSpc>
                <a:buNone/>
              </a:pPr>
              <a:r>
                <a:rPr lang="en-US" sz="1600" b="1" dirty="0">
                  <a:solidFill>
                    <a:srgbClr val="2C2926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핵심: 비개발자도 가능 — 코드는 Claude가 쓰고 설명함. 핵심은 "어떤 기능을, 어떤 입력으로, 무엇을 돌려줄지"를 내가 말로 정의하는 것.</a:t>
              </a:r>
              <a:endParaRPr lang="en-US" sz="1600" dirty="0"/>
            </a:p>
          </p:txBody>
        </p:sp>
      </p:grp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624560" y="78638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11723260-CCAA-A72D-BD25-DD7CAD7902FA}"/>
              </a:ext>
            </a:extLst>
          </p:cNvPr>
          <p:cNvGrpSpPr/>
          <p:nvPr/>
        </p:nvGrpSpPr>
        <p:grpSpPr>
          <a:xfrm>
            <a:off x="457200" y="5831019"/>
            <a:ext cx="6583680" cy="804672"/>
            <a:chOff x="457200" y="4297680"/>
            <a:chExt cx="6583680" cy="804672"/>
          </a:xfrm>
        </p:grpSpPr>
        <p:sp>
          <p:nvSpPr>
            <p:cNvPr id="22" name="Shape 9">
              <a:extLst>
                <a:ext uri="{FF2B5EF4-FFF2-40B4-BE49-F238E27FC236}">
                  <a16:creationId xmlns:a16="http://schemas.microsoft.com/office/drawing/2014/main" id="{EA8AD3E9-CA64-5491-F349-7AD622D48271}"/>
                </a:ext>
              </a:extLst>
            </p:cNvPr>
            <p:cNvSpPr/>
            <p:nvPr/>
          </p:nvSpPr>
          <p:spPr>
            <a:xfrm>
              <a:off x="457200" y="4297680"/>
              <a:ext cx="6583680" cy="804672"/>
            </a:xfrm>
            <a:prstGeom prst="roundRect">
              <a:avLst>
                <a:gd name="adj" fmla="val 6818"/>
              </a:avLst>
            </a:prstGeom>
            <a:solidFill>
              <a:srgbClr val="05966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" name="Text 10">
              <a:extLst>
                <a:ext uri="{FF2B5EF4-FFF2-40B4-BE49-F238E27FC236}">
                  <a16:creationId xmlns:a16="http://schemas.microsoft.com/office/drawing/2014/main" id="{75207916-0FBE-ECF4-2655-D01335CABB33}"/>
                </a:ext>
              </a:extLst>
            </p:cNvPr>
            <p:cNvSpPr/>
            <p:nvPr/>
          </p:nvSpPr>
          <p:spPr>
            <a:xfrm>
              <a:off x="457200" y="4297680"/>
              <a:ext cx="6583680" cy="8046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ko-KR" altLang="en-US" sz="16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④</a:t>
              </a:r>
              <a:r>
                <a:rPr lang="en-US" sz="16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</a:t>
              </a:r>
              <a:r>
                <a:rPr lang="en-US" sz="1600" b="1" dirty="0" err="1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확인</a:t>
              </a:r>
              <a:r>
                <a:rPr lang="en-US" sz="16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: </a:t>
              </a:r>
              <a:r>
                <a:rPr lang="ko-KR" altLang="en-US" sz="16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터미널에서 </a:t>
              </a:r>
              <a:r>
                <a:rPr lang="en-US" altLang="ko-KR" sz="16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“</a:t>
              </a:r>
              <a:r>
                <a:rPr lang="en-US" altLang="ko-KR" sz="1600" b="1" dirty="0" err="1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claude</a:t>
              </a:r>
              <a:r>
                <a:rPr lang="en-US" altLang="ko-KR" sz="16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</a:t>
              </a:r>
              <a:r>
                <a:rPr lang="en-US" altLang="ko-KR" sz="1600" b="1" dirty="0" err="1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mcp</a:t>
              </a:r>
              <a:r>
                <a:rPr lang="en-US" altLang="ko-KR" sz="16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list” </a:t>
              </a:r>
              <a:r>
                <a:rPr lang="ko-KR" altLang="en-US" sz="16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명령으로 확인</a:t>
              </a:r>
              <a:r>
                <a:rPr lang="en-US" altLang="ko-KR" sz="16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. </a:t>
              </a:r>
            </a:p>
            <a:p>
              <a:pPr marL="0" indent="0" algn="ctr">
                <a:buNone/>
              </a:pPr>
              <a:r>
                <a:rPr lang="en-US" altLang="ko-KR" sz="16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Claude Code </a:t>
              </a:r>
              <a:r>
                <a:rPr lang="ko-KR" altLang="en-US" sz="16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재시작</a:t>
              </a:r>
              <a:r>
                <a:rPr lang="en-US" altLang="ko-KR" sz="16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(X</a:t>
              </a:r>
              <a:r>
                <a:rPr lang="ko-KR" altLang="en-US" sz="16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버튼이 아니라 </a:t>
              </a:r>
              <a:r>
                <a:rPr lang="ko-KR" altLang="en-US" sz="1600" b="1" dirty="0" err="1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메인메뉴에서</a:t>
              </a:r>
              <a:r>
                <a:rPr lang="ko-KR" altLang="en-US" sz="16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종료해야 함</a:t>
              </a:r>
              <a:r>
                <a:rPr lang="en-US" altLang="ko-KR" sz="16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)</a:t>
              </a:r>
              <a:endParaRPr lang="en-US" sz="1600" dirty="0"/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DE7C1158-52AE-257D-7B74-B3EBD457A662}"/>
              </a:ext>
            </a:extLst>
          </p:cNvPr>
          <p:cNvGrpSpPr/>
          <p:nvPr/>
        </p:nvGrpSpPr>
        <p:grpSpPr>
          <a:xfrm>
            <a:off x="7315200" y="6062190"/>
            <a:ext cx="6858000" cy="573501"/>
            <a:chOff x="457200" y="3383280"/>
            <a:chExt cx="6583680" cy="804672"/>
          </a:xfrm>
        </p:grpSpPr>
        <p:sp>
          <p:nvSpPr>
            <p:cNvPr id="26" name="Shape 7">
              <a:hlinkClick r:id="rId3"/>
              <a:extLst>
                <a:ext uri="{FF2B5EF4-FFF2-40B4-BE49-F238E27FC236}">
                  <a16:creationId xmlns:a16="http://schemas.microsoft.com/office/drawing/2014/main" id="{A10837F7-754E-6C1D-0B9E-F1147ADDEC0B}"/>
                </a:ext>
              </a:extLst>
            </p:cNvPr>
            <p:cNvSpPr/>
            <p:nvPr/>
          </p:nvSpPr>
          <p:spPr>
            <a:xfrm>
              <a:off x="457200" y="3383280"/>
              <a:ext cx="6583680" cy="804672"/>
            </a:xfrm>
            <a:prstGeom prst="roundRect">
              <a:avLst>
                <a:gd name="adj" fmla="val 6818"/>
              </a:avLst>
            </a:prstGeom>
            <a:solidFill>
              <a:srgbClr val="D97706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Text 8">
              <a:extLst>
                <a:ext uri="{FF2B5EF4-FFF2-40B4-BE49-F238E27FC236}">
                  <a16:creationId xmlns:a16="http://schemas.microsoft.com/office/drawing/2014/main" id="{07E9BFF1-AEF9-8B09-0FF3-CB225348F266}"/>
                </a:ext>
              </a:extLst>
            </p:cNvPr>
            <p:cNvSpPr/>
            <p:nvPr/>
          </p:nvSpPr>
          <p:spPr>
            <a:xfrm>
              <a:off x="457200" y="3383280"/>
              <a:ext cx="6583680" cy="8046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ko-KR" altLang="en-US" sz="16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예제 프롬프트</a:t>
              </a:r>
              <a:r>
                <a:rPr lang="en-US" altLang="ko-KR" sz="16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 </a:t>
              </a:r>
              <a:r>
                <a:rPr lang="ko-KR" altLang="en-US" sz="16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보기</a:t>
              </a:r>
              <a:endParaRPr lang="en-US" altLang="ko-KR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411480"/>
            <a:ext cx="1371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 3종 — 웹 조회 / 논문 요약 / MCP 제작·연동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69848"/>
            <a:ext cx="1371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손으로 해보기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4434840" cy="4011930"/>
          </a:xfrm>
          <a:prstGeom prst="roundRect">
            <a:avLst>
              <a:gd name="adj" fmla="val 2424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4434840" cy="502920"/>
          </a:xfrm>
          <a:prstGeom prst="roundRect">
            <a:avLst>
              <a:gd name="adj" fmla="val 14545"/>
            </a:avLst>
          </a:prstGeom>
          <a:solidFill>
            <a:srgbClr val="1A6E3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Cloud LLM API Key </a:t>
            </a:r>
            <a:r>
              <a:rPr lang="ko-KR" alt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발행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8368" y="2724911"/>
            <a:ext cx="4032504" cy="319725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altLang="ko-KR" sz="16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 in Chrome</a:t>
            </a:r>
            <a:r>
              <a:rPr lang="en-US" sz="16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600" dirty="0" err="1">
                <a:latin typeface="Pretendard" pitchFamily="34" charset="0"/>
                <a:ea typeface="Pretendard" pitchFamily="34" charset="-122"/>
                <a:cs typeface="Pretendard" pitchFamily="34" charset="-120"/>
              </a:rPr>
              <a:t>MCP로</a:t>
            </a:r>
            <a:r>
              <a:rPr lang="en-US" sz="16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6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API</a:t>
            </a:r>
            <a:r>
              <a:rPr lang="ko-KR" altLang="en-US" sz="16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발행 대상 서비스를 입력하면</a:t>
            </a:r>
            <a:r>
              <a:rPr lang="en-US" sz="16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6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발행하는 프롬프트 작성</a:t>
            </a:r>
            <a:endParaRPr lang="en-US" altLang="ko-KR" sz="1600" dirty="0"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177800" indent="-1778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ko-KR" altLang="en-US" sz="16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프롬프트를 이용하여 스킬로 개발</a:t>
            </a:r>
            <a:endParaRPr lang="en-US" altLang="ko-KR" sz="1600" dirty="0"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177800" indent="-1778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API </a:t>
            </a:r>
            <a:r>
              <a:rPr lang="ko-KR" altLang="en-US" sz="16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발생 서비스 예</a:t>
            </a:r>
            <a:r>
              <a:rPr lang="en-US" altLang="ko-KR" sz="16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: OpenAI, Claude, Gemini, </a:t>
            </a:r>
            <a:r>
              <a:rPr lang="en-US" altLang="ko-KR" sz="1600" dirty="0" err="1"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Groq</a:t>
            </a:r>
            <a:r>
              <a:rPr lang="en-US" altLang="ko-KR" sz="16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 Google Place, Google Data API </a:t>
            </a:r>
            <a:r>
              <a:rPr lang="ko-KR" altLang="en-US" sz="16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</a:t>
            </a:r>
            <a:endParaRPr lang="en-US" altLang="ko-KR" sz="1600" dirty="0"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177800" indent="-1778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ko-KR" altLang="en-US" sz="16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스킬은 작업 디렉토리 작성 후</a:t>
            </a:r>
            <a:r>
              <a:rPr lang="en-US" altLang="ko-KR" sz="1600" dirty="0">
                <a:latin typeface="Pretendard" pitchFamily="34" charset="0"/>
                <a:ea typeface="Pretendard" pitchFamily="34" charset="-122"/>
                <a:cs typeface="Pretendard" pitchFamily="34" charset="-120"/>
                <a:sym typeface="Wingdings" panose="05000000000000000000" pitchFamily="2" charset="2"/>
              </a:rPr>
              <a:t> </a:t>
            </a:r>
            <a:r>
              <a:rPr lang="ko-KR" altLang="en-US" sz="1600" dirty="0">
                <a:latin typeface="Pretendard" pitchFamily="34" charset="0"/>
                <a:ea typeface="Pretendard" pitchFamily="34" charset="-122"/>
                <a:cs typeface="Pretendard" pitchFamily="34" charset="-120"/>
                <a:sym typeface="Wingdings" panose="05000000000000000000" pitchFamily="2" charset="2"/>
              </a:rPr>
              <a:t>시스템 프롬프트 구성하여 수행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93208" y="2103120"/>
            <a:ext cx="4434840" cy="4011930"/>
          </a:xfrm>
          <a:prstGeom prst="roundRect">
            <a:avLst>
              <a:gd name="adj" fmla="val 2424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5093208" y="2103120"/>
            <a:ext cx="4434840" cy="502920"/>
          </a:xfrm>
          <a:prstGeom prst="roundRect">
            <a:avLst>
              <a:gd name="adj" fmla="val 14545"/>
            </a:avLst>
          </a:prstGeom>
          <a:solidFill>
            <a:srgbClr val="C0530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093208" y="210312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</a:t>
            </a:r>
            <a:r>
              <a:rPr lang="en-US" sz="1600" b="1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논문</a:t>
            </a: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요약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294376" y="2724911"/>
            <a:ext cx="4032504" cy="319725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Playwright </a:t>
            </a:r>
            <a:r>
              <a:rPr lang="en-US" sz="1600" dirty="0" err="1">
                <a:latin typeface="Pretendard" pitchFamily="34" charset="0"/>
                <a:ea typeface="Pretendard" pitchFamily="34" charset="-122"/>
                <a:cs typeface="Pretendard" pitchFamily="34" charset="-120"/>
              </a:rPr>
              <a:t>MCP로</a:t>
            </a:r>
            <a:r>
              <a:rPr lang="en-US" sz="16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600" dirty="0" err="1"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아카이브</a:t>
            </a:r>
            <a:r>
              <a:rPr lang="en-US" sz="16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6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또는 </a:t>
            </a:r>
            <a:r>
              <a:rPr lang="en-US" altLang="ko-KR" sz="16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Google </a:t>
            </a:r>
            <a:r>
              <a:rPr lang="en-US" altLang="ko-KR" sz="1600" dirty="0" err="1"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Scholar</a:t>
            </a:r>
            <a:r>
              <a:rPr lang="en-US" sz="1600" dirty="0" err="1"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에서</a:t>
            </a:r>
            <a:r>
              <a:rPr lang="en-US" sz="16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6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특정 키워드</a:t>
            </a:r>
            <a:r>
              <a:rPr lang="en-US" sz="16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논문 </a:t>
            </a:r>
            <a:r>
              <a:rPr lang="en-US" sz="1600" dirty="0" err="1"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</a:t>
            </a:r>
            <a:r>
              <a:rPr lang="en-US" sz="16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6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하여</a:t>
            </a:r>
            <a:r>
              <a:rPr lang="en-US" sz="16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600" dirty="0" err="1"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제목·초록</a:t>
            </a:r>
            <a:r>
              <a:rPr lang="en-US" sz="16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600" dirty="0" err="1"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요약</a:t>
            </a:r>
            <a:r>
              <a:rPr lang="ko-KR" altLang="en-US" sz="16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하는 프롬프트 작성</a:t>
            </a:r>
            <a:endParaRPr lang="en-US" altLang="ko-KR" sz="1600" dirty="0"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177800" indent="-1778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ko-KR" altLang="en-US" sz="1600" dirty="0"/>
              <a:t>프롬프트를 이용하여 논문요약 스킬 개발</a:t>
            </a:r>
            <a:endParaRPr lang="en-US" altLang="ko-KR" sz="160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FontTx/>
              <a:buChar char="•"/>
            </a:pPr>
            <a:r>
              <a:rPr lang="ko-KR" altLang="en-US" sz="16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스킬은 작업 디렉토리 작성 후</a:t>
            </a:r>
            <a:r>
              <a:rPr lang="en-US" altLang="ko-KR" sz="1600" dirty="0">
                <a:latin typeface="Pretendard" pitchFamily="34" charset="0"/>
                <a:ea typeface="Pretendard" pitchFamily="34" charset="-122"/>
                <a:cs typeface="Pretendard" pitchFamily="34" charset="-120"/>
                <a:sym typeface="Wingdings" panose="05000000000000000000" pitchFamily="2" charset="2"/>
              </a:rPr>
              <a:t> </a:t>
            </a:r>
            <a:r>
              <a:rPr lang="ko-KR" altLang="en-US" sz="1600" dirty="0">
                <a:latin typeface="Pretendard" pitchFamily="34" charset="0"/>
                <a:ea typeface="Pretendard" pitchFamily="34" charset="-122"/>
                <a:cs typeface="Pretendard" pitchFamily="34" charset="-120"/>
                <a:sym typeface="Wingdings" panose="05000000000000000000" pitchFamily="2" charset="2"/>
              </a:rPr>
              <a:t>시스템 프롬프트 구성하여 수행</a:t>
            </a:r>
            <a:endParaRPr lang="en-US" altLang="ko-KR" sz="1600" dirty="0"/>
          </a:p>
        </p:txBody>
      </p:sp>
      <p:sp>
        <p:nvSpPr>
          <p:cNvPr id="13" name="Shape 11"/>
          <p:cNvSpPr/>
          <p:nvPr/>
        </p:nvSpPr>
        <p:spPr>
          <a:xfrm>
            <a:off x="9729216" y="2103120"/>
            <a:ext cx="4434840" cy="4011930"/>
          </a:xfrm>
          <a:prstGeom prst="roundRect">
            <a:avLst>
              <a:gd name="adj" fmla="val 2424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9729216" y="2103120"/>
            <a:ext cx="4434840" cy="502920"/>
          </a:xfrm>
          <a:prstGeom prst="roundRect">
            <a:avLst>
              <a:gd name="adj" fmla="val 14545"/>
            </a:avLst>
          </a:prstGeom>
          <a:solidFill>
            <a:srgbClr val="8B1A1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9729216" y="210312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</a:t>
            </a:r>
            <a:r>
              <a:rPr lang="ko-KR" alt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 생성 </a:t>
            </a: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MCP</a:t>
            </a:r>
            <a:r>
              <a:rPr lang="ko-KR" alt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를 정보조사 스킬에 통합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930384" y="2724911"/>
            <a:ext cx="4032504" cy="319725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3회차 </a:t>
            </a:r>
            <a:r>
              <a:rPr lang="ko-KR" altLang="en-US" sz="16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기업 </a:t>
            </a:r>
            <a:r>
              <a:rPr lang="en-US" sz="1600" dirty="0" err="1"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정보조사</a:t>
            </a:r>
            <a:r>
              <a:rPr lang="en-US" sz="16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600" dirty="0" err="1"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스킬에</a:t>
            </a:r>
            <a:r>
              <a:rPr lang="en-US" sz="16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 PPT </a:t>
            </a:r>
            <a:r>
              <a:rPr lang="ko-KR" altLang="en-US" sz="16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생성 시 이미지 생성 </a:t>
            </a:r>
            <a:r>
              <a:rPr lang="en-US" altLang="ko-KR" sz="16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MCP</a:t>
            </a:r>
            <a:r>
              <a:rPr lang="ko-KR" altLang="en-US" sz="16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를 이용하여 필요한 이미지 생성하여 장표에 추가하도록 수정</a:t>
            </a:r>
            <a:endParaRPr lang="en-US" sz="1600" dirty="0"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177800" indent="-1778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/>
              <a:t>Claude</a:t>
            </a:r>
            <a:r>
              <a:rPr lang="ko-KR" altLang="en-US" sz="1600" dirty="0"/>
              <a:t> </a:t>
            </a:r>
            <a:r>
              <a:rPr lang="en-US" altLang="ko-KR" sz="1600" dirty="0"/>
              <a:t>Code</a:t>
            </a:r>
            <a:r>
              <a:rPr lang="ko-KR" altLang="en-US" sz="1600" dirty="0"/>
              <a:t>에서 작업 디렉토리를 정보조사 프로젝트로 변경하고 수행</a:t>
            </a:r>
            <a:endParaRPr lang="en-US" altLang="ko-KR" sz="1600" dirty="0"/>
          </a:p>
          <a:p>
            <a:pPr algn="l">
              <a:lnSpc>
                <a:spcPct val="105000"/>
              </a:lnSpc>
              <a:spcAft>
                <a:spcPts val="800"/>
              </a:spcAft>
              <a:buSzPct val="100000"/>
            </a:pPr>
            <a:r>
              <a:rPr lang="ko-KR" altLang="en-US" sz="1600" dirty="0" err="1"/>
              <a:t>지침예시</a:t>
            </a:r>
            <a:r>
              <a:rPr lang="en-US" altLang="ko-KR" sz="1600" dirty="0"/>
              <a:t>:</a:t>
            </a:r>
          </a:p>
          <a:p>
            <a:r>
              <a:rPr lang="ko-KR" altLang="ko-KR" sz="1400" dirty="0"/>
              <a:t>- PPT 슬라이드의 내용 이해를 위한 이미지를 </a:t>
            </a:r>
            <a:r>
              <a:rPr lang="ko-KR" altLang="ko-KR" sz="1400" dirty="0" err="1"/>
              <a:t>gpt-image-mcp</a:t>
            </a:r>
            <a:r>
              <a:rPr lang="ko-KR" altLang="ko-KR" sz="1400" dirty="0"/>
              <a:t> </a:t>
            </a:r>
            <a:r>
              <a:rPr lang="ko-KR" altLang="ko-KR" sz="1400" dirty="0" err="1"/>
              <a:t>를</a:t>
            </a:r>
            <a:r>
              <a:rPr lang="ko-KR" altLang="ko-KR" sz="1400" dirty="0"/>
              <a:t> 이용하여 생성 </a:t>
            </a:r>
          </a:p>
          <a:p>
            <a:r>
              <a:rPr lang="ko-KR" altLang="ko-KR" sz="1400" dirty="0"/>
              <a:t>  - 장식적인 이미지는 지양 </a:t>
            </a:r>
          </a:p>
          <a:p>
            <a:r>
              <a:rPr lang="ko-KR" altLang="ko-KR" sz="1400" dirty="0"/>
              <a:t>  - 내용 이해를 돕는 </a:t>
            </a:r>
            <a:r>
              <a:rPr lang="ko-KR" altLang="ko-KR" sz="1400" dirty="0" err="1"/>
              <a:t>인포그래픽</a:t>
            </a:r>
            <a:r>
              <a:rPr lang="ko-KR" altLang="ko-KR" sz="1400" dirty="0"/>
              <a:t> 위주로 생성</a:t>
            </a:r>
          </a:p>
          <a:p>
            <a:r>
              <a:rPr lang="ko-KR" altLang="ko-KR" sz="1400" dirty="0"/>
              <a:t>  - 생성된 이미지는 PPT 슬라이드에 삽입하여 활용 </a:t>
            </a:r>
          </a:p>
          <a:p>
            <a:pPr algn="l">
              <a:lnSpc>
                <a:spcPct val="105000"/>
              </a:lnSpc>
              <a:spcAft>
                <a:spcPts val="800"/>
              </a:spcAft>
              <a:buSzPct val="100000"/>
            </a:pPr>
            <a:endParaRPr lang="en-US" altLang="ko-KR" sz="1600" dirty="0"/>
          </a:p>
          <a:p>
            <a:pPr marL="177800" indent="-177800" algn="l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624560" y="78638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D1CAC921-9E7A-9EF1-C924-031A4062AD27}"/>
              </a:ext>
            </a:extLst>
          </p:cNvPr>
          <p:cNvGrpSpPr/>
          <p:nvPr/>
        </p:nvGrpSpPr>
        <p:grpSpPr>
          <a:xfrm>
            <a:off x="457200" y="6423666"/>
            <a:ext cx="4434840" cy="505770"/>
            <a:chOff x="457200" y="5492123"/>
            <a:chExt cx="5943600" cy="822960"/>
          </a:xfrm>
        </p:grpSpPr>
        <p:sp>
          <p:nvSpPr>
            <p:cNvPr id="20" name="Shape 8">
              <a:hlinkClick r:id="rId3"/>
              <a:extLst>
                <a:ext uri="{FF2B5EF4-FFF2-40B4-BE49-F238E27FC236}">
                  <a16:creationId xmlns:a16="http://schemas.microsoft.com/office/drawing/2014/main" id="{C88FF081-D3C0-AFCD-A8B1-2055DF8BF79F}"/>
                </a:ext>
              </a:extLst>
            </p:cNvPr>
            <p:cNvSpPr/>
            <p:nvPr/>
          </p:nvSpPr>
          <p:spPr>
            <a:xfrm>
              <a:off x="457200" y="5492123"/>
              <a:ext cx="5943600" cy="822960"/>
            </a:xfrm>
            <a:prstGeom prst="roundRect">
              <a:avLst>
                <a:gd name="adj" fmla="val 6667"/>
              </a:avLst>
            </a:prstGeom>
            <a:solidFill>
              <a:srgbClr val="05966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Text 9">
              <a:extLst>
                <a:ext uri="{FF2B5EF4-FFF2-40B4-BE49-F238E27FC236}">
                  <a16:creationId xmlns:a16="http://schemas.microsoft.com/office/drawing/2014/main" id="{7EDB3EB1-6491-69BE-294E-BAE3907B1A6E}"/>
                </a:ext>
              </a:extLst>
            </p:cNvPr>
            <p:cNvSpPr/>
            <p:nvPr/>
          </p:nvSpPr>
          <p:spPr>
            <a:xfrm>
              <a:off x="457200" y="5492123"/>
              <a:ext cx="5943600" cy="8229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ko-KR" altLang="en-US" sz="16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프롬프트 예시</a:t>
              </a:r>
              <a:endParaRPr lang="en-US" sz="1600" dirty="0"/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DAEDF64C-9D74-8A53-942E-E14587B99C14}"/>
              </a:ext>
            </a:extLst>
          </p:cNvPr>
          <p:cNvGrpSpPr/>
          <p:nvPr/>
        </p:nvGrpSpPr>
        <p:grpSpPr>
          <a:xfrm>
            <a:off x="5120354" y="6423666"/>
            <a:ext cx="4434840" cy="505770"/>
            <a:chOff x="457200" y="5492123"/>
            <a:chExt cx="5943600" cy="822960"/>
          </a:xfrm>
        </p:grpSpPr>
        <p:sp>
          <p:nvSpPr>
            <p:cNvPr id="23" name="Shape 8">
              <a:hlinkClick r:id="rId4"/>
              <a:extLst>
                <a:ext uri="{FF2B5EF4-FFF2-40B4-BE49-F238E27FC236}">
                  <a16:creationId xmlns:a16="http://schemas.microsoft.com/office/drawing/2014/main" id="{6B56DA24-F510-5A78-76BA-50A76C9B5488}"/>
                </a:ext>
              </a:extLst>
            </p:cNvPr>
            <p:cNvSpPr>
              <a:spLocks/>
            </p:cNvSpPr>
            <p:nvPr/>
          </p:nvSpPr>
          <p:spPr>
            <a:xfrm>
              <a:off x="457200" y="5492123"/>
              <a:ext cx="5943600" cy="822960"/>
            </a:xfrm>
            <a:prstGeom prst="roundRect">
              <a:avLst>
                <a:gd name="adj" fmla="val 6667"/>
              </a:avLst>
            </a:prstGeom>
            <a:solidFill>
              <a:srgbClr val="05966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" name="Text 9">
              <a:extLst>
                <a:ext uri="{FF2B5EF4-FFF2-40B4-BE49-F238E27FC236}">
                  <a16:creationId xmlns:a16="http://schemas.microsoft.com/office/drawing/2014/main" id="{CB88A281-0B8C-F1F2-55C6-144B5BBA5F56}"/>
                </a:ext>
              </a:extLst>
            </p:cNvPr>
            <p:cNvSpPr/>
            <p:nvPr/>
          </p:nvSpPr>
          <p:spPr>
            <a:xfrm>
              <a:off x="457200" y="5492123"/>
              <a:ext cx="5943600" cy="8229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ko-KR" altLang="en-US" sz="16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프롬프트 예시</a:t>
              </a:r>
              <a:endParaRPr lang="en-US" sz="1600" dirty="0"/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132F8B9C-70E3-C13D-95A2-44F5DE7C77D0}"/>
              </a:ext>
            </a:extLst>
          </p:cNvPr>
          <p:cNvGrpSpPr/>
          <p:nvPr/>
        </p:nvGrpSpPr>
        <p:grpSpPr>
          <a:xfrm>
            <a:off x="9738360" y="6423666"/>
            <a:ext cx="4434840" cy="505770"/>
            <a:chOff x="457200" y="5492123"/>
            <a:chExt cx="5943600" cy="822960"/>
          </a:xfrm>
        </p:grpSpPr>
        <p:sp>
          <p:nvSpPr>
            <p:cNvPr id="27" name="Shape 8">
              <a:hlinkClick r:id="rId5"/>
              <a:extLst>
                <a:ext uri="{FF2B5EF4-FFF2-40B4-BE49-F238E27FC236}">
                  <a16:creationId xmlns:a16="http://schemas.microsoft.com/office/drawing/2014/main" id="{1F2A0980-9DD2-1EEA-7AD8-39AFEEB09533}"/>
                </a:ext>
              </a:extLst>
            </p:cNvPr>
            <p:cNvSpPr/>
            <p:nvPr/>
          </p:nvSpPr>
          <p:spPr>
            <a:xfrm>
              <a:off x="457200" y="5492123"/>
              <a:ext cx="5943600" cy="822960"/>
            </a:xfrm>
            <a:prstGeom prst="roundRect">
              <a:avLst>
                <a:gd name="adj" fmla="val 6667"/>
              </a:avLst>
            </a:prstGeom>
            <a:solidFill>
              <a:srgbClr val="059669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8" name="Text 9">
              <a:extLst>
                <a:ext uri="{FF2B5EF4-FFF2-40B4-BE49-F238E27FC236}">
                  <a16:creationId xmlns:a16="http://schemas.microsoft.com/office/drawing/2014/main" id="{D1C57674-2737-4E95-A146-2C9FDF1F9877}"/>
                </a:ext>
              </a:extLst>
            </p:cNvPr>
            <p:cNvSpPr/>
            <p:nvPr/>
          </p:nvSpPr>
          <p:spPr>
            <a:xfrm>
              <a:off x="457200" y="5492123"/>
              <a:ext cx="5943600" cy="8229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ko-KR" altLang="en-US" sz="16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스킬 예시</a:t>
              </a:r>
              <a:endParaRPr lang="en-US" sz="1600" dirty="0"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411480"/>
            <a:ext cx="1371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정리 · 회차 흐름 · 2주 과제 · 5회차 예고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69848"/>
            <a:ext cx="1371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요약 / 흐름 / 할 일 / 다음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6766560" cy="2194560"/>
          </a:xfrm>
          <a:prstGeom prst="roundRect">
            <a:avLst>
              <a:gd name="adj" fmla="val 3333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85800" y="161848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배운 것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13232" y="2075688"/>
            <a:ext cx="63093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 algn="l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MCP = Claude에 외부 도구를 잇는 표준 콘센트: 웹브라우저(Playwright·Chrome)·도우미(context7·sequential thinking)·자작 도구까지 연결</a:t>
            </a:r>
            <a:endParaRPr lang="en-US" sz="1600" dirty="0"/>
          </a:p>
          <a:p>
            <a:pPr marL="177800" indent="-177800" algn="l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Skill + MCP = 레고 조합: 지침 Skill에 도구를 붙여 웹 조회 Skill / MCP 연동 Skill 완성 — 코드는 Claude가 생성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589520" y="15087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회차 흐름</a:t>
            </a:r>
            <a:endParaRPr lang="en-US" sz="17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1920240"/>
          <a:ext cx="6583680" cy="2182368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회차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핵심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한 줄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3회차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Skill 기초(SKILL.md)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반복 작업 재사용 승격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4회차(오늘)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Skill 심화 + 웹 MCP + MCP 개발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0596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외부·자작 도구 결합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5회차(예고)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Skill + Agent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서브에이전트 다단계 자동화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4160520"/>
            <a:ext cx="13716000" cy="777240"/>
          </a:xfrm>
          <a:prstGeom prst="roundRect">
            <a:avLst>
              <a:gd name="adj" fmla="val 9412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640080" y="4160520"/>
            <a:ext cx="1335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92400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2주 과제 — 3</a:t>
            </a:r>
            <a:r>
              <a:rPr lang="ko-KR" altLang="en-US" sz="1600" b="1" dirty="0">
                <a:solidFill>
                  <a:srgbClr val="92400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회차에서 개발한 </a:t>
            </a:r>
            <a:r>
              <a:rPr lang="en-US" altLang="ko-KR" sz="1600" b="1" dirty="0">
                <a:solidFill>
                  <a:srgbClr val="92400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Skill</a:t>
            </a:r>
            <a:r>
              <a:rPr lang="ko-KR" altLang="en-US" sz="1600" b="1" dirty="0">
                <a:solidFill>
                  <a:srgbClr val="92400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 </a:t>
            </a:r>
            <a:r>
              <a:rPr lang="en-US" altLang="ko-KR" sz="1600" b="1" dirty="0">
                <a:solidFill>
                  <a:srgbClr val="92400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MCP </a:t>
            </a:r>
            <a:r>
              <a:rPr lang="ko-KR" altLang="en-US" sz="1600" b="1" dirty="0">
                <a:solidFill>
                  <a:srgbClr val="92400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추가</a:t>
            </a:r>
            <a:r>
              <a:rPr lang="en-US" sz="1600" b="1" dirty="0">
                <a:solidFill>
                  <a:srgbClr val="92400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 ① MCP </a:t>
            </a:r>
            <a:r>
              <a:rPr lang="ko-KR" altLang="en-US" sz="1600" b="1" dirty="0">
                <a:solidFill>
                  <a:srgbClr val="92400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서버 개발</a:t>
            </a:r>
            <a:r>
              <a:rPr lang="en-US" sz="1600" b="1" dirty="0">
                <a:solidFill>
                  <a:srgbClr val="92400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→ ② Skill </a:t>
            </a:r>
            <a:r>
              <a:rPr lang="ko-KR" altLang="en-US" sz="1600" b="1" dirty="0">
                <a:solidFill>
                  <a:srgbClr val="92400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수정</a:t>
            </a:r>
            <a:r>
              <a:rPr lang="en-US" sz="1600" b="1" dirty="0">
                <a:solidFill>
                  <a:srgbClr val="92400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→ ③ 실사용·개선(= 5회차 다단계 워크플로우 재료)</a:t>
            </a:r>
            <a:endParaRPr lang="en-US" sz="1600" dirty="0"/>
          </a:p>
        </p:txBody>
      </p:sp>
      <p:sp>
        <p:nvSpPr>
          <p:cNvPr id="9" name="Shape 9"/>
          <p:cNvSpPr/>
          <p:nvPr/>
        </p:nvSpPr>
        <p:spPr>
          <a:xfrm>
            <a:off x="457200" y="5120640"/>
            <a:ext cx="13716000" cy="777240"/>
          </a:xfrm>
          <a:prstGeom prst="roundRect">
            <a:avLst>
              <a:gd name="adj" fmla="val 9412"/>
            </a:avLst>
          </a:prstGeom>
          <a:solidFill>
            <a:srgbClr val="CCFBF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640080" y="5120640"/>
            <a:ext cx="1335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5회차 예고 — Skill + Agent: 오늘 만든 도구 결합 Skill을 여러 역할(작성자·검토자)로 나눠 오케스트레이터가 호출하는 다단계 자동화로 발전시킵니다.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624560" y="78638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638</TotalTime>
  <Words>3424</Words>
  <Application>Microsoft Office PowerPoint</Application>
  <PresentationFormat>사용자 지정</PresentationFormat>
  <Paragraphs>448</Paragraphs>
  <Slides>15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0" baseType="lpstr">
      <vt:lpstr>Arial</vt:lpstr>
      <vt:lpstr>Calibri</vt:lpstr>
      <vt:lpstr>Consolas</vt:lpstr>
      <vt:lpstr>Pretendard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나만의 MCP 만들기 — MCP 개요</vt:lpstr>
      <vt:lpstr>나만의 MCP 만들기 — MCP 핵심 기능</vt:lpstr>
      <vt:lpstr>나만의 MCP 만들기 — MCP 핵심 기능 예제</vt:lpstr>
      <vt:lpstr>나만의 MCP 만들기 — MCP 고급 기능</vt:lpstr>
      <vt:lpstr>나만의 MCP 만들기 — MCP 인증/인가: OAuth 방식</vt:lpstr>
      <vt:lpstr>나만의 MCP 만들기 — MCP 인증/인가: JWT 방식</vt:lpstr>
      <vt:lpstr>PowerPoint 프레젠테이션</vt:lpstr>
      <vt:lpstr>PowerPoint 프레젠테이션</vt:lpstr>
      <vt:lpstr>PowerPoint 프레젠테이션</vt:lpstr>
    </vt:vector>
  </TitlesOfParts>
  <Company>ICTK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4회차 — Skill 심화 + 웹브라우저 MCP + MCP 개발</dc:title>
  <dc:subject>Claude Code 업무 자동화 부트캠프 4회차</dc:subject>
  <dc:creator>Unicorn / 이해경</dc:creator>
  <cp:lastModifiedBy>해경 이</cp:lastModifiedBy>
  <cp:revision>63</cp:revision>
  <dcterms:created xsi:type="dcterms:W3CDTF">2026-06-16T10:45:52Z</dcterms:created>
  <dcterms:modified xsi:type="dcterms:W3CDTF">2026-06-18T11:49:37Z</dcterms:modified>
</cp:coreProperties>
</file>