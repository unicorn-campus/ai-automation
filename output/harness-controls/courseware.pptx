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[강사 메모] 슬라이드 △ 항목은 압축본임. △는 '하네스가 막아준다'가 아니라 '호출 경계에서만 근사 통제'이며 생성 중 토큰 절단은 불가함을 반드시 구두로 못박을 것. 수강생이 △를 ✓로 오인하면 잘못된 안전감이 생김.
· 이력 요약: PreCompact로 압축 직전 핵심 이력 보존·아카이브는 가능하나 요약 품질 강제는 불가(soft) → 보완: 요약 프롬프트 품질 관리
· Budget 한도: 누적 토큰 적재 후 초과 시 후속 호출만 deny, 생성 중 토큰 절단 불가 → 보완: 예산 대시보드·알람
· Kill-switch: 폭주 플래그 시 고비용 도구 일괄 deny, 진행 중 토큰 절단 불가 → 보완: 운영자 수동 중단 절차
· 동시 실행 제한: flock in-flight 카운터로 동시성 상한 근사만, 완전 강제 불가 → 보완: 오케스트레이션 큐
· 깊이 제한: 서브에이전트 tools에서 Agent 제거로 추가 스폰 차단, 임의 숫자 깊이는 런타임 고정 → 보완: Agent 설계 시 깊이 명시
[제외] 단계별 타임아웃·컨텍스트 하드캡은 hook 범위 밖(wall-clock·런타임 자동 압축) → SDK 타임아웃·외부 워치독으로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[강사 메모] △는 경계 근사이며 한계를 명시할 것.
· 리소스 격리: 서브에이전트로 컨텍스트 격리는 가능하나 인프라(CPU·메모리) 격리는 불가 → 보완: 컨테이너 배포
· Graceful Degradation: PostToolUseFailure+additionalContext로 대체 응답 지침 주입은 가능하나 폴백 내용 강제는 soft → 보완: 폴백 응답 템플릿 표준화
· Grounding: 근거·출처 존재 검증은 가능하나 정확성 강제는 soft → 보완: 사람 사실검증·인용 검수
[제외] 계층적 타임아웃·스트리밍 응답·Backpressure는 wall-clock·전송·인프라 계층 → SDK maxTurns+외부 타임아웃·게이트웨이로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[강사 메모] △ 1건의 한계를 명확히 할 것.
· 네트워크 화이트리스트: WebFetch·Bash(curl) URL 화이트리스트 외 deny는 앱 레벨이며, 패킷 레벨·Bash 난독화 차단은 불가 → 보완: 모든 외부 전송을 단일 egress MCP로 경유시키면 도구 내부에서 도메인 화이트리스트를 강제해 ✓로 승격 가능(harness-checker 0-2장 승격 규칙).
[제외] OS 샌드박스는 deny가 접근 차단일 뿐 프로세스·리소스 격리가 아님 → 컨테이너·격리 VM 배포로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900416"/>
            <a:ext cx="1389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9187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AI 자동화 · 6회차 하네스 엔지니어링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0" y="79187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716000" y="79187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716000" y="79187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389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· Cost 하네스 적용 방안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389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무한 루프·토큰 누수·Agent 폭주를 호출 경계의 결정론적 통제로 예방한다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13898880" cy="749808"/>
          </a:xfrm>
          <a:prstGeom prst="roundRect">
            <a:avLst>
              <a:gd name="adj" fmla="val 9756"/>
            </a:avLst>
          </a:prstGeom>
          <a:solidFill>
            <a:srgbClr val="CCFB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42416"/>
            <a:ext cx="1353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관점  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Cost 리스크는 실행이 길어지거나, 컨텍스트가 비대해지거나, Agent 호출이 통제되지 않을 때 커짐. 하네스는 호출·완료 경계에서 결정론적으로 강제(✓)하되, 생성 도중 제어가 필요한 항목(△)은 보완 관행과 함께 설계함.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83664"/>
            <a:ext cx="448056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8366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3776A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304288"/>
            <a:ext cx="4480560" cy="146304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883664"/>
            <a:ext cx="4224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 무한 루프</a:t>
            </a:r>
            <a:endParaRPr lang="en-US" sz="1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실행이 끝나지 않아 과금 누적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" y="2523744"/>
            <a:ext cx="424281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해결책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최대 반복 횟수 (Stop 완료 게이트)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반복 패턴 감지 (PreToolUse deny)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부분 결과 반환 (Stop: 미완 시 block)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검색 Skill — 재시도 2회 제한, 같은 쿼리 반복 시 즉시 종료·마지막 성공 결과 반환.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53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Agent — 계획→검색→요약 루프 3회 제한, 반복 시 Stop 게이트가 중단·요약 보존.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일부 적용: 없음 — ✓로 전수 통제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1883664"/>
            <a:ext cx="448056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88366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A6E3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2304288"/>
            <a:ext cx="4480560" cy="146304"/>
          </a:xfrm>
          <a:prstGeom prst="rect">
            <a:avLst/>
          </a:prstGeom>
          <a:solidFill>
            <a:srgbClr val="1A6E36"/>
          </a:solidFill>
          <a:ln/>
        </p:spPr>
      </p:sp>
      <p:sp>
        <p:nvSpPr>
          <p:cNvPr id="14" name="Text 12"/>
          <p:cNvSpPr/>
          <p:nvPr/>
        </p:nvSpPr>
        <p:spPr>
          <a:xfrm>
            <a:off x="5202936" y="1883664"/>
            <a:ext cx="4224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 토큰 누수</a:t>
            </a:r>
            <a:endParaRPr lang="en-US" sz="1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비대화로 토큰 과금 증가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2523744"/>
            <a:ext cx="424281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해결책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입력 절삭 (PreToolUse updatedInput)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핸드오프 요약 전달 (최종 요약만 반환)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요청별 사용량 측정 (PostToolUse usage)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요약 Skill — 핵심 단락만 입력, 결과는 5줄 요약+핵심 키워드만 반환.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53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Agent — 요약 메모리만 다음 단계로 전달, 요청별 토큰 기록·모니터링.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일부 적용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이력 요약 (PreCompact 보존·아카이브, 품질 강제 불가) → 보완: 요약 프롬프트 품질관리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0" y="1883664"/>
            <a:ext cx="448056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0" y="188366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C0530A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2304288"/>
            <a:ext cx="4480560" cy="146304"/>
          </a:xfrm>
          <a:prstGeom prst="rect">
            <a:avLst/>
          </a:prstGeom>
          <a:solidFill>
            <a:srgbClr val="C0530A"/>
          </a:solidFill>
          <a:ln/>
        </p:spPr>
      </p:sp>
      <p:sp>
        <p:nvSpPr>
          <p:cNvPr id="19" name="Text 17"/>
          <p:cNvSpPr/>
          <p:nvPr/>
        </p:nvSpPr>
        <p:spPr>
          <a:xfrm>
            <a:off x="9912096" y="1883664"/>
            <a:ext cx="4224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 Agent 폭주</a:t>
            </a:r>
            <a:endParaRPr lang="en-US" sz="1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호출 미통제로 비용 급증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2952" y="2523744"/>
            <a:ext cx="424281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해결책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호출 수 제한 (카운터 + 상한 초과 시 PreToolUse deny)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 Skill — 외부 API 1회·병렬 2개 제한, 카운터 초과 시 PreToolUse deny.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53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여행 Agent — 하위 Agent 도구 미부여로 깊이 제한, 폭주 시 Kill-switch로 차단.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일부 적용 (호출 경계만 가능, 생성 중 절단 불가)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Budget 한도 → 보완: 예산 대시보드·알람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Kill-switch → 보완: 운영자 수동 중단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동시 실행 제한 → 보완: 오케스트레이션 큐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깊이 제한 → 보완: Agent 깊이 명시 설계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6309360"/>
            <a:ext cx="13898880" cy="877824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345936"/>
            <a:ext cx="1353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포인트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Skill 설계 = 입력·출력·토큰·재시도 한도를 명확히 정의 (PreToolUse/Stop 게이트)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Agent 설계 = 예산·호출 수·중단 조건·로그를 함께 설계 (PostToolUse 적재 + PreToolUse deny)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운영 원칙 = 비용은 사후 정산이 아니라 호출 경계의 결정론적 통제, 생성 중은 SDK·운영 보완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" y="7242048"/>
            <a:ext cx="1389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제외(구조적 불가)  </a:t>
            </a:r>
            <a:pPr algn="l" indent="0" marL="0"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타임아웃·컨텍스트 하드캡 (wall-clock 타임아웃·런타임 자동 압축 — SDK/워치독 영역)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7534656"/>
            <a:ext cx="1389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적용 가능(결정론적 강제)</a:t>
            </a:r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△ 일부 적용(경계 근사·보완 관행 병행)</a:t>
            </a:r>
            <a:pPr algn="ctr" indent="0" marL="0">
              <a:buNone/>
            </a:pPr>
            <a:r>
              <a:rPr lang="en-US" sz="1400" b="1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✕ 구조적 불가(런타임·인프라 — 제외)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716000" y="79187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389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· Performance 하네스 적용 방안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389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전파·품질 저하·지연을 도구·완료 경계의 차단으로 막는다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13898880" cy="749808"/>
          </a:xfrm>
          <a:prstGeom prst="roundRect">
            <a:avLst>
              <a:gd name="adj" fmla="val 9756"/>
            </a:avLst>
          </a:prstGeom>
          <a:solidFill>
            <a:srgbClr val="CCFB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42416"/>
            <a:ext cx="1353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관점  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리스크는 실패가 연쇄될 때, 검증 없는 출력이 흐를 때, 직렬·중복 실행으로 지연될 때 커짐. 하네스는 도구·완료 경계에서 실패와 품질을 차단(✓)하되, wall-clock·전송 계층은 SDK/인프라에 위임함.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83664"/>
            <a:ext cx="448056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8366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8B1A1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304288"/>
            <a:ext cx="4480560" cy="146304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883664"/>
            <a:ext cx="4224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 장애 전파</a:t>
            </a:r>
            <a:endParaRPr lang="en-US" sz="1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단계 실패가 전체로 번져 시스템 마비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" y="2523744"/>
            <a:ext cx="424281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해결책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Circuit Breaker (PostToolUseFailure 임계 초과 시 일정시간 deny)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API Skill — 연속 실패 임계 초과 시 일정시간 차단·캐시 결과로 대체 응답.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53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Agent — 고부하 작업을 서브에이전트로 격리, 실패 시 대체 경로 지침 주입.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일부 적용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리소스 격리 (컨텍스트 격리, 인프라 격리 불가) → 보완: 컨테이너 배포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Graceful Degradation (대체 지침 주입, 내용 강제 soft) → 보완: 폴백 템플릿 표준화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1883664"/>
            <a:ext cx="448056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88366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A5E7E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2304288"/>
            <a:ext cx="4480560" cy="146304"/>
          </a:xfrm>
          <a:prstGeom prst="rect">
            <a:avLst/>
          </a:prstGeom>
          <a:solidFill>
            <a:srgbClr val="1A5E7E"/>
          </a:solidFill>
          <a:ln/>
        </p:spPr>
      </p:sp>
      <p:sp>
        <p:nvSpPr>
          <p:cNvPr id="14" name="Text 12"/>
          <p:cNvSpPr/>
          <p:nvPr/>
        </p:nvSpPr>
        <p:spPr>
          <a:xfrm>
            <a:off x="5202936" y="1883664"/>
            <a:ext cx="4224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 품질 저하</a:t>
            </a:r>
            <a:endParaRPr lang="en-US" sz="1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없는 잘못된 출력이 다음 단계로 전파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2523744"/>
            <a:ext cx="424281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해결책 (검증 게이트 3종)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스키마 검증 (위반 시 PostToolUse/Stop block)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교차 검증 (다중 검증자 비교·불일치 차단)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검증 실패 차단 (근거·테스트 실패 시 block)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 Skill — 결과를 고정 JSON 스키마로 받고, 위반 시 Stop hook가 block.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53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Agent — 두 검증자 비교·불일치 차단, 미검증 출력은 다음 단계로 미전달.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일부 적용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Grounding (근거 존재 검증, 정확성 강제 soft) → 보완: 사람 사실검증·인용 검수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0" y="1883664"/>
            <a:ext cx="448056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0" y="188366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C0530A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2304288"/>
            <a:ext cx="4480560" cy="146304"/>
          </a:xfrm>
          <a:prstGeom prst="rect">
            <a:avLst/>
          </a:prstGeom>
          <a:solidFill>
            <a:srgbClr val="C0530A"/>
          </a:solidFill>
          <a:ln/>
        </p:spPr>
      </p:sp>
      <p:sp>
        <p:nvSpPr>
          <p:cNvPr id="19" name="Text 17"/>
          <p:cNvSpPr/>
          <p:nvPr/>
        </p:nvSpPr>
        <p:spPr>
          <a:xfrm>
            <a:off x="9912096" y="1883664"/>
            <a:ext cx="4224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 지연·낭비</a:t>
            </a:r>
            <a:endParaRPr lang="en-US" sz="1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직렬 실행·중복 조회로 응답 지연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2952" y="2523744"/>
            <a:ext cx="424281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해결책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병렬 실행 (독립 읽기전용 조회 readOnlyHint 병렬 호출)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멀티소스 Skill — 독립 읽기 작업 병렬 호출, 동일 질의는 MCP 캐시 재사용.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53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Agent — 독립 검색 병렬 수행으로 대기 단축, 잦은 조회는 캐시 우선.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일부 적용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캐싱 (결과 캐시·재사용, 프롬프트 캐시 자동제어 불가) → 보완: 캐시 TTL·무효화 정책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6309360"/>
            <a:ext cx="13898880" cy="877824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345936"/>
            <a:ext cx="1353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포인트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Skill 설계 = 출력 스키마·근거 검증 게이트를 명확히 정의 (PostToolUse/Stop block)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Agent 설계 = 실패 차단·교차 검증·리소스 격리를 함께 설계 (PostToolUseFailure + 서브에이전트)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운영 원칙 = 성능은 사후 튜닝이 아니라 실패·품질을 경계에서 즉시 차단, 타임아웃은 인프라 보완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" y="7242048"/>
            <a:ext cx="1389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제외(구조적 불가)  </a:t>
            </a:r>
            <a:pPr algn="l" indent="0" marL="0"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계층적 타임아웃·스트리밍 응답·Backpressure (wall-clock·전송·인프라 계층 — SDK/게이트웨이 영역)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7534656"/>
            <a:ext cx="1389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적용 가능(결정론적 강제)</a:t>
            </a:r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△ 일부 적용(경계 근사·보완 관행 병행)</a:t>
            </a:r>
            <a:pPr algn="ctr" indent="0" marL="0">
              <a:buNone/>
            </a:pPr>
            <a:r>
              <a:rPr lang="en-US" sz="1400" b="1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✕ 구조적 불가(런타임·인프라 — 제외)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716000" y="79187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389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· Security 하네스 적용 방안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389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인젝션·데이터 유출·권한 오남용을 입력·전송·도구 경계에서 차단한다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13898880" cy="749808"/>
          </a:xfrm>
          <a:prstGeom prst="roundRect">
            <a:avLst>
              <a:gd name="adj" fmla="val 9756"/>
            </a:avLst>
          </a:prstGeom>
          <a:solidFill>
            <a:srgbClr val="CCFB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42416"/>
            <a:ext cx="1353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관점  </a:t>
            </a:r>
            <a:pPr algn="l" indent="0" marL="0">
              <a:lnSpc>
                <a:spcPct val="96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리스크는 외부 입력이 에이전트를 조종할 때, 민감정보가 유출될 때, 고위험 도구가 무통제로 실행될 때 커짐. 하네스는 입력·전송·도구 경계에서 결정론적으로 차단(✓)하되, 프로세스 격리는 OS·인프라에 위임함.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83664"/>
            <a:ext cx="448056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8366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3776A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304288"/>
            <a:ext cx="4480560" cy="146304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883664"/>
            <a:ext cx="4224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 프롬프트 인젝션</a:t>
            </a:r>
            <a:endParaRPr lang="en-US" sz="1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입력·문서가 에이전트 행동을 조종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" y="2523744"/>
            <a:ext cx="424281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해결책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입력 필터링 (UserPromptSubmit 악성 패턴 block)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불신 데이터 표시 (외부 본문 신뢰/불신 분리·태그)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요약 Skill — 외부 텍스트를 불신 태그로 분리, 악성 패턴은 UserPromptSubmit 차단.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53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 Agent — 외부 본문을 불신 컨텍스트로 표시, 명령 미해석·신뢰 지시와 분리.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일부 적용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역할 분리 (신뢰/불신 분리·사실형 주입, 주입 저항 soft) → 보완: 시스템 프롬프트 가드·정기 레드팀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1883664"/>
            <a:ext cx="448056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88366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8B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2304288"/>
            <a:ext cx="4480560" cy="146304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202936" y="1883664"/>
            <a:ext cx="4224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 데이터 유출</a:t>
            </a:r>
            <a:endParaRPr lang="en-US" sz="1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민감정보가 외부로 전송·노출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2523744"/>
            <a:ext cx="424281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해결책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DLP 필터 (주민·카드번호 탐지 시 PreToolUse deny)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민감정보 마스킹 (전송 전·표시 전 치환)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감사 로그 (PostToolUse 전수 기록)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전송 Skill — 전송 직전 민감정보 탐지 시 deny, 통과분 마스킹·전 호출 감사 로그.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53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응대 Agent — 외부 전송 전 DLP 차단, 허용 도메인 외 호출은 화이트리스트로 차단.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일부 적용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네트워크 화이트리스트 (URL 외 deny, 패킷·난독화 불가) → 보완: 단일 egress MCP 경유 시 ✓ 승격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0" y="1883664"/>
            <a:ext cx="448056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0" y="188366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A6E36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2304288"/>
            <a:ext cx="4480560" cy="146304"/>
          </a:xfrm>
          <a:prstGeom prst="rect">
            <a:avLst/>
          </a:prstGeom>
          <a:solidFill>
            <a:srgbClr val="1A6E36"/>
          </a:solidFill>
          <a:ln/>
        </p:spPr>
      </p:sp>
      <p:sp>
        <p:nvSpPr>
          <p:cNvPr id="19" name="Text 17"/>
          <p:cNvSpPr/>
          <p:nvPr/>
        </p:nvSpPr>
        <p:spPr>
          <a:xfrm>
            <a:off x="9912096" y="1883664"/>
            <a:ext cx="4224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 권한 오남용</a:t>
            </a:r>
            <a:endParaRPr lang="en-US" sz="1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고위험 도구가 통제 없이 실행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2952" y="2523744"/>
            <a:ext cx="424281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해결책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최소 권한 (tools·disallowedTools로 필요 도구만)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도구 화이트리스트 (허용 외 도구·인자 deny)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HITL 승인 (고위험 작업 PreToolUse ask)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시간·작업 기반 권한 (분류 후 조건부 deny/ask)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Skill — 삭제·외부전송은 disallowedTools 제외, 위험 작업은 ask 승인.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53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예시  </a:t>
            </a:r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Agent — 시간 외·대량 삭제는 deny/ask, 최소 권한으로 필요 도구만 부여.</a:t>
            </a:r>
            <a:endParaRPr lang="en-US" sz="1400" dirty="0"/>
          </a:p>
          <a:p>
            <a:pPr algn="l" indent="0" marL="0">
              <a:lnSpc>
                <a:spcPct val="122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 일부 적용: 없음 — ✓로 전수 통제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6309360"/>
            <a:ext cx="13898880" cy="877824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345936"/>
            <a:ext cx="1353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포인트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Skill 설계 = 최소 권한·도구 화이트리스트·DLP를 명확히 정의 (PreToolUse deny/ask)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Agent 설계 = 불신 데이터 분리·감사 로그·HITL 승인을 함께 설계 (UserPromptSubmit + PostToolUse)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운영 원칙 = 보안은 사후 탐지가 아니라 입력·전송·도구 경계의 사전 차단, 격리는 인프라 보완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" y="7242048"/>
            <a:ext cx="1389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제외(구조적 불가)  </a:t>
            </a:r>
            <a:pPr algn="l" indent="0" marL="0">
              <a:buNone/>
            </a:pPr>
            <a:r>
              <a:rPr lang="en-US" sz="14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 샌드박스 (deny는 접근 차단일 뿐 프로세스·리소스 격리가 아님 — 컨테이너·격리 VM 영역)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7534656"/>
            <a:ext cx="1389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적용 가능(결정론적 강제)</a:t>
            </a:r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△ 일부 적용(경계 근사·보완 관행 병행)</a:t>
            </a:r>
            <a:pPr algn="ctr" indent="0" marL="0">
              <a:buNone/>
            </a:pPr>
            <a:r>
              <a:rPr lang="en-US" sz="1400" b="1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✕ 구조적 불가(런타임·인프라 — 제외)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716000" y="79187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2026-06-21T05:54:22Z</dcterms:created>
  <dcterms:modified xsi:type="dcterms:W3CDTF">2026-06-21T05:54:22Z</dcterms:modified>
</cp:coreProperties>
</file>